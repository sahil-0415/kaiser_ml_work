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76" r:id="rId29"/>
    <p:sldId id="264" r:id="rId17"/>
    <p:sldId id="265" r:id="rId18"/>
    <p:sldId id="266" r:id="rId19"/>
    <p:sldId id="267" r:id="rId20"/>
    <p:sldId id="268" r:id="rId21"/>
    <p:sldId id="269" r:id="rId22"/>
    <p:sldId id="270" r:id="rId23"/>
    <p:sldId id="271" r:id="rId24"/>
    <p:sldId id="272" r:id="rId25"/>
    <p:sldId id="273" r:id="rId26"/>
    <p:sldId id="274" r:id="rId27"/>
    <p:sldId id="263" r:id="rId9"/>
    <p:sldId id="275" r:id="rId28"/>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DE51A2-A2E0-40DF-969C-8F1501402514}" v="3" dt="2026-09-30T12:27:38.1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0" d="100"/>
          <a:sy n="70" d="100"/>
        </p:scale>
        <p:origin x="51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9" Type="http://schemas.openxmlformats.org/officeDocument/2006/relationships/slide" Target="slides/slide14.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6/11/relationships/changesInfo" Target="changesInfos/changesInfo1.xml"/><Relationship Id="rId16" Type="http://schemas.microsoft.com/office/2015/10/relationships/revisionInfo" Target="revisionInfo.xml"/><Relationship Id="rId17" Type="http://schemas.openxmlformats.org/officeDocument/2006/relationships/slide" Target="slides/slide3.xml"/><Relationship Id="rId18" Type="http://schemas.openxmlformats.org/officeDocument/2006/relationships/slide" Target="slides/slide4.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slide" Target="slides/slide7.xml"/><Relationship Id="rId22" Type="http://schemas.openxmlformats.org/officeDocument/2006/relationships/slide" Target="slides/slide8.xml"/><Relationship Id="rId23" Type="http://schemas.openxmlformats.org/officeDocument/2006/relationships/slide" Target="slides/slide9.xml"/><Relationship Id="rId24" Type="http://schemas.openxmlformats.org/officeDocument/2006/relationships/slide" Target="slides/slide10.xml"/><Relationship Id="rId25" Type="http://schemas.openxmlformats.org/officeDocument/2006/relationships/slide" Target="slides/slide11.xml"/><Relationship Id="rId26" Type="http://schemas.openxmlformats.org/officeDocument/2006/relationships/slide" Target="slides/slide12.xml"/><Relationship Id="rId27" Type="http://schemas.openxmlformats.org/officeDocument/2006/relationships/slide" Target="slides/slide13.xml"/><Relationship Id="rId28" Type="http://schemas.openxmlformats.org/officeDocument/2006/relationships/slide" Target="slides/slide15.xml"/><Relationship Id="rId29" Type="http://schemas.openxmlformats.org/officeDocument/2006/relationships/slide" Target="slides/slide1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mant Mishra" userId="1694ab1b-1517-43c5-9419-88e89761e8a6" providerId="ADAL" clId="{B60B23B5-4D61-402D-B23B-F65900289054}"/>
    <pc:docChg chg="custSel modSld modMainMaster">
      <pc:chgData name="Simant Mishra" userId="1694ab1b-1517-43c5-9419-88e89761e8a6" providerId="ADAL" clId="{B60B23B5-4D61-402D-B23B-F65900289054}" dt="2026-09-30T12:25:38.439" v="19" actId="478"/>
      <pc:docMkLst>
        <pc:docMk/>
      </pc:docMkLst>
      <pc:sldChg chg="delSp mod">
        <pc:chgData name="Simant Mishra" userId="1694ab1b-1517-43c5-9419-88e89761e8a6" providerId="ADAL" clId="{B60B23B5-4D61-402D-B23B-F65900289054}" dt="2026-09-30T12:25:38.439" v="19" actId="478"/>
        <pc:sldMkLst>
          <pc:docMk/>
          <pc:sldMk cId="0" sldId="256"/>
        </pc:sldMkLst>
        <pc:spChg chg="del">
          <ac:chgData name="Simant Mishra" userId="1694ab1b-1517-43c5-9419-88e89761e8a6" providerId="ADAL" clId="{B60B23B5-4D61-402D-B23B-F65900289054}" dt="2026-09-30T12:25:38.439" v="19" actId="478"/>
          <ac:spMkLst>
            <pc:docMk/>
            <pc:sldMk cId="0" sldId="256"/>
            <ac:spMk id="2" creationId="{00000000-0000-0000-0000-000000000000}"/>
          </ac:spMkLst>
        </pc:spChg>
        <pc:spChg chg="del">
          <ac:chgData name="Simant Mishra" userId="1694ab1b-1517-43c5-9419-88e89761e8a6" providerId="ADAL" clId="{B60B23B5-4D61-402D-B23B-F65900289054}" dt="2026-09-30T12:25:33.792" v="16" actId="478"/>
          <ac:spMkLst>
            <pc:docMk/>
            <pc:sldMk cId="0" sldId="256"/>
            <ac:spMk id="3" creationId="{00000000-0000-0000-0000-000000000000}"/>
          </ac:spMkLst>
        </pc:spChg>
        <pc:spChg chg="del">
          <ac:chgData name="Simant Mishra" userId="1694ab1b-1517-43c5-9419-88e89761e8a6" providerId="ADAL" clId="{B60B23B5-4D61-402D-B23B-F65900289054}" dt="2026-09-30T12:25:36.677" v="18" actId="478"/>
          <ac:spMkLst>
            <pc:docMk/>
            <pc:sldMk cId="0" sldId="256"/>
            <ac:spMk id="4" creationId="{00000000-0000-0000-0000-000000000000}"/>
          </ac:spMkLst>
        </pc:spChg>
        <pc:spChg chg="del">
          <ac:chgData name="Simant Mishra" userId="1694ab1b-1517-43c5-9419-88e89761e8a6" providerId="ADAL" clId="{B60B23B5-4D61-402D-B23B-F65900289054}" dt="2026-09-30T12:25:34.835" v="17" actId="478"/>
          <ac:spMkLst>
            <pc:docMk/>
            <pc:sldMk cId="0" sldId="256"/>
            <ac:spMk id="5" creationId="{00000000-0000-0000-0000-000000000000}"/>
          </ac:spMkLst>
        </pc:spChg>
      </pc:sldChg>
      <pc:sldMasterChg chg="modSldLayout">
        <pc:chgData name="Simant Mishra" userId="1694ab1b-1517-43c5-9419-88e89761e8a6" providerId="ADAL" clId="{B60B23B5-4D61-402D-B23B-F65900289054}" dt="2026-09-30T12:25:18.958" v="15" actId="1036"/>
        <pc:sldMasterMkLst>
          <pc:docMk/>
          <pc:sldMasterMk cId="0" sldId="2147483648"/>
        </pc:sldMasterMkLst>
        <pc:sldLayoutChg chg="addSp modSp mod">
          <pc:chgData name="Simant Mishra" userId="1694ab1b-1517-43c5-9419-88e89761e8a6" providerId="ADAL" clId="{B60B23B5-4D61-402D-B23B-F65900289054}" dt="2026-09-30T12:25:18.958" v="15" actId="1036"/>
          <pc:sldLayoutMkLst>
            <pc:docMk/>
            <pc:sldMasterMk cId="0" sldId="2147483648"/>
            <pc:sldLayoutMk cId="0" sldId="2147483649"/>
          </pc:sldLayoutMkLst>
          <pc:picChg chg="add mod">
            <ac:chgData name="Simant Mishra" userId="1694ab1b-1517-43c5-9419-88e89761e8a6" providerId="ADAL" clId="{B60B23B5-4D61-402D-B23B-F65900289054}" dt="2026-09-30T12:25:16.102" v="14" actId="1036"/>
            <ac:picMkLst>
              <pc:docMk/>
              <pc:sldMasterMk cId="0" sldId="2147483648"/>
              <pc:sldLayoutMk cId="0" sldId="2147483649"/>
              <ac:picMk id="2" creationId="{62125B99-BCAE-C84A-12C0-7BB0A2CCADB1}"/>
            </ac:picMkLst>
          </pc:picChg>
          <pc:picChg chg="add mod">
            <ac:chgData name="Simant Mishra" userId="1694ab1b-1517-43c5-9419-88e89761e8a6" providerId="ADAL" clId="{B60B23B5-4D61-402D-B23B-F65900289054}" dt="2026-09-30T12:25:18.958" v="15" actId="1036"/>
            <ac:picMkLst>
              <pc:docMk/>
              <pc:sldMasterMk cId="0" sldId="2147483648"/>
              <pc:sldLayoutMk cId="0" sldId="2147483649"/>
              <ac:picMk id="3" creationId="{DE4986C6-C383-2D95-BB20-55D146D0F2E3}"/>
            </ac:picMkLst>
          </pc:picChg>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c:v>
                </c:pt>
              </c:strCache>
            </c:strRef>
          </c:tx>
          <c:dPt>
            <c:idx val="0"/>
            <c:spPr>
              <a:solidFill>
                <a:srgbClr val="A38A6D"/>
              </a:solidFill>
            </c:spPr>
          </c:dPt>
          <c:dPt>
            <c:idx val="1"/>
            <c:spPr>
              <a:solidFill>
                <a:srgbClr val="E8871E"/>
              </a:solidFill>
            </c:spPr>
          </c:dPt>
          <c:cat>
            <c:strRef>
              <c:f>Sheet1!$A$2:$A$3</c:f>
              <c:strCache>
                <c:ptCount val="2"/>
                <c:pt idx="0">
                  <c:v>Non-escalated</c:v>
                </c:pt>
                <c:pt idx="1">
                  <c:v>Escalated</c:v>
                </c:pt>
              </c:strCache>
            </c:strRef>
          </c:cat>
          <c:val>
            <c:numRef>
              <c:f>Sheet1!$B$2:$B$3</c:f>
              <c:numCache>
                <c:formatCode>General</c:formatCode>
                <c:ptCount val="2"/>
                <c:pt idx="0">
                  <c:v>1.6</c:v>
                </c:pt>
                <c:pt idx="1">
                  <c:v>2.88</c:v>
                </c:pt>
              </c:numCache>
            </c:numRef>
          </c:val>
        </c:ser>
        <c:dLbls>
          <c:numFmt formatCode="0.00" sourceLinked="0"/>
          <c:txPr>
            <a:bodyPr/>
            <a:lstStyle/>
            <a:p>
              <a:pPr>
                <a:defRPr sz="1000" b="1">
                  <a:solidFill>
                    <a:srgbClr val="7A3E10"/>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A38A6D"/>
            </a:solidFill>
          </a:ln>
        </c:spPr>
        <c:txPr>
          <a:bodyPr/>
          <a:lstStyle/>
          <a:p>
            <a:pPr>
              <a:defRPr sz="1000"/>
            </a:pPr>
          </a:p>
        </c:txPr>
        <c:crossAx val="-2113994440"/>
        <c:crosses val="autoZero"/>
        <c:auto val="1"/>
        <c:lblAlgn val="ctr"/>
        <c:lblOffset val="100"/>
        <c:noMultiLvlLbl val="0"/>
      </c:catAx>
      <c:valAx>
        <c:axId val="-2113994440"/>
        <c:scaling>
          <c:min val="0.0"/>
        </c:scaling>
        <c:delete/>
        <c:axPos val="l"/>
        <c:majorTickMark val="out"/>
        <c:minorTickMark val="none"/>
        <c:tickLblPos val="nextTo"/>
        <c:crossAx val="-2068027336"/>
        <c:crosses val="autoZero"/>
      </c:valAx>
    </c:plotArea>
    <c:dispBlanksAs val="gap"/>
  </c:chart>
  <c:txPr>
    <a:bodyPr/>
    <a:lstStyle/>
    <a:p>
      <a:pPr>
        <a:defRPr sz="1000">
          <a:solidFill>
            <a:srgbClr val="5A4636"/>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c:v>
                </c:pt>
              </c:strCache>
            </c:strRef>
          </c:tx>
          <c:dPt>
            <c:idx val="0"/>
            <c:spPr>
              <a:solidFill>
                <a:srgbClr val="E8871E"/>
              </a:solidFill>
            </c:spPr>
          </c:dPt>
          <c:dPt>
            <c:idx val="1"/>
            <c:spPr>
              <a:solidFill>
                <a:srgbClr val="A38A6D"/>
              </a:solidFill>
            </c:spPr>
          </c:dPt>
          <c:cat>
            <c:strRef>
              <c:f>Sheet1!$A$2:$A$3</c:f>
              <c:strCache>
                <c:ptCount val="2"/>
                <c:pt idx="0">
                  <c:v>Phone</c:v>
                </c:pt>
                <c:pt idx="1">
                  <c:v>Chat + Mobile App</c:v>
                </c:pt>
              </c:strCache>
            </c:strRef>
          </c:cat>
          <c:val>
            <c:numRef>
              <c:f>Sheet1!$B$2:$B$3</c:f>
              <c:numCache>
                <c:formatCode>General</c:formatCode>
                <c:ptCount val="2"/>
                <c:pt idx="0">
                  <c:v>25.22</c:v>
                </c:pt>
                <c:pt idx="1">
                  <c:v>10.69</c:v>
                </c:pt>
              </c:numCache>
            </c:numRef>
          </c:val>
        </c:ser>
        <c:dLbls>
          <c:numFmt formatCode="0.0&quot;%&quot;" sourceLinked="0"/>
          <c:txPr>
            <a:bodyPr/>
            <a:lstStyle/>
            <a:p>
              <a:pPr>
                <a:defRPr sz="1000" b="1">
                  <a:solidFill>
                    <a:srgbClr val="7A3E10"/>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A38A6D"/>
            </a:solidFill>
          </a:ln>
        </c:spPr>
        <c:txPr>
          <a:bodyPr/>
          <a:lstStyle/>
          <a:p>
            <a:pPr>
              <a:defRPr sz="1000"/>
            </a:pPr>
          </a:p>
        </c:txPr>
        <c:crossAx val="-2113994440"/>
        <c:crosses val="autoZero"/>
        <c:auto val="1"/>
        <c:lblAlgn val="ctr"/>
        <c:lblOffset val="100"/>
        <c:noMultiLvlLbl val="0"/>
      </c:catAx>
      <c:valAx>
        <c:axId val="-2113994440"/>
        <c:scaling>
          <c:min val="0.0"/>
        </c:scaling>
        <c:delete/>
        <c:axPos val="l"/>
        <c:majorTickMark val="out"/>
        <c:minorTickMark val="none"/>
        <c:tickLblPos val="nextTo"/>
        <c:crossAx val="-2068027336"/>
        <c:crosses val="autoZero"/>
      </c:valAx>
    </c:plotArea>
    <c:dispBlanksAs val="gap"/>
  </c:chart>
  <c:txPr>
    <a:bodyPr/>
    <a:lstStyle/>
    <a:p>
      <a:pPr>
        <a:defRPr sz="1000">
          <a:solidFill>
            <a:srgbClr val="5A4636"/>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c:v>
                </c:pt>
              </c:strCache>
            </c:strRef>
          </c:tx>
          <c:dPt>
            <c:idx val="0"/>
            <c:spPr>
              <a:solidFill>
                <a:srgbClr val="E8871E"/>
              </a:solidFill>
            </c:spPr>
          </c:dPt>
          <c:dPt>
            <c:idx val="1"/>
            <c:spPr>
              <a:solidFill>
                <a:srgbClr val="A38A6D"/>
              </a:solidFill>
            </c:spPr>
          </c:dPt>
          <c:dPt>
            <c:idx val="2"/>
            <c:spPr>
              <a:solidFill>
                <a:srgbClr val="A38A6D"/>
              </a:solidFill>
            </c:spPr>
          </c:dPt>
          <c:dPt>
            <c:idx val="3"/>
            <c:spPr>
              <a:solidFill>
                <a:srgbClr val="A38A6D"/>
              </a:solidFill>
            </c:spPr>
          </c:dPt>
          <c:cat>
            <c:strRef>
              <c:f>Sheet1!$A$2:$A$5</c:f>
              <c:strCache>
                <c:ptCount val="4"/>
                <c:pt idx="0">
                  <c:v>High-friction</c:v>
                </c:pt>
                <c:pt idx="1">
                  <c:v>Digital-first</c:v>
                </c:pt>
                <c:pt idx="2">
                  <c:v>High-touch</c:v>
                </c:pt>
                <c:pt idx="3">
                  <c:v>Routine</c:v>
                </c:pt>
              </c:strCache>
            </c:strRef>
          </c:cat>
          <c:val>
            <c:numRef>
              <c:f>Sheet1!$B$2:$B$5</c:f>
              <c:numCache>
                <c:formatCode>General</c:formatCode>
                <c:ptCount val="4"/>
                <c:pt idx="0">
                  <c:v>35.8</c:v>
                </c:pt>
                <c:pt idx="1">
                  <c:v>6.6</c:v>
                </c:pt>
                <c:pt idx="2">
                  <c:v>17.2</c:v>
                </c:pt>
                <c:pt idx="3">
                  <c:v>9.5</c:v>
                </c:pt>
              </c:numCache>
            </c:numRef>
          </c:val>
        </c:ser>
        <c:dLbls>
          <c:numFmt formatCode="0.0&quot;%&quot;" sourceLinked="0"/>
          <c:txPr>
            <a:bodyPr/>
            <a:lstStyle/>
            <a:p>
              <a:pPr>
                <a:defRPr sz="900" b="1">
                  <a:solidFill>
                    <a:srgbClr val="7A3E10"/>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A38A6D"/>
            </a:solidFill>
          </a:ln>
        </c:spPr>
        <c:txPr>
          <a:bodyPr/>
          <a:lstStyle/>
          <a:p>
            <a:pPr>
              <a:defRPr sz="900"/>
            </a:pPr>
          </a:p>
        </c:txPr>
        <c:crossAx val="-2113994440"/>
        <c:crosses val="autoZero"/>
        <c:auto val="1"/>
        <c:lblAlgn val="ctr"/>
        <c:lblOffset val="100"/>
        <c:noMultiLvlLbl val="0"/>
      </c:catAx>
      <c:valAx>
        <c:axId val="-2113994440"/>
        <c:scaling>
          <c:min val="0.0"/>
        </c:scaling>
        <c:delete/>
        <c:axPos val="l"/>
        <c:majorTickMark val="out"/>
        <c:minorTickMark val="none"/>
        <c:tickLblPos val="nextTo"/>
        <c:crossAx val="-2068027336"/>
        <c:crosses val="autoZero"/>
      </c:valAx>
    </c:plotArea>
    <c:dispBlanksAs val="gap"/>
  </c:chart>
  <c:txPr>
    <a:bodyPr/>
    <a:lstStyle/>
    <a:p>
      <a:pPr>
        <a:defRPr sz="900">
          <a:solidFill>
            <a:srgbClr val="5A4636"/>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7A3E10"/>
                </a:solidFill>
              </a:rPr>
              <a:t>Share of transcripts by LDA theme</a:t>
            </a:r>
          </a:p>
        </c:rich>
      </c:tx>
      <c:layout/>
      <c:overlay val="0"/>
    </c:title>
    <c:autoTitleDeleted val="0"/>
    <c:plotArea>
      <c:barChart>
        <c:barDir val="bar"/>
        <c:grouping val="clustered"/>
        <c:ser>
          <c:idx val="0"/>
          <c:order val="0"/>
          <c:tx>
            <c:strRef>
              <c:f>Sheet1!$B$1</c:f>
              <c:strCache>
                <c:ptCount val="1"/>
                <c:pt idx="0">
                  <c:v>S</c:v>
                </c:pt>
              </c:strCache>
            </c:strRef>
          </c:tx>
          <c:dPt>
            <c:idx val="0"/>
            <c:spPr>
              <a:solidFill>
                <a:srgbClr val="E8871E"/>
              </a:solidFill>
            </c:spPr>
          </c:dPt>
          <c:dPt>
            <c:idx val="1"/>
            <c:spPr>
              <a:solidFill>
                <a:srgbClr val="E8871E"/>
              </a:solidFill>
            </c:spPr>
          </c:dPt>
          <c:dPt>
            <c:idx val="2"/>
            <c:spPr>
              <a:solidFill>
                <a:srgbClr val="E8871E"/>
              </a:solidFill>
            </c:spPr>
          </c:dPt>
          <c:dPt>
            <c:idx val="3"/>
            <c:spPr>
              <a:solidFill>
                <a:srgbClr val="A38A6D"/>
              </a:solidFill>
            </c:spPr>
          </c:dPt>
          <c:dPt>
            <c:idx val="4"/>
            <c:spPr>
              <a:solidFill>
                <a:srgbClr val="A38A6D"/>
              </a:solidFill>
            </c:spPr>
          </c:dPt>
          <c:cat>
            <c:strRef>
              <c:f>Sheet1!$A$2:$A$6</c:f>
              <c:strCache>
                <c:ptCount val="5"/>
                <c:pt idx="0">
                  <c:v>Pharmacy</c:v>
                </c:pt>
                <c:pt idx="1">
                  <c:v>Provider Access</c:v>
                </c:pt>
                <c:pt idx="2">
                  <c:v>Appointments</c:v>
                </c:pt>
                <c:pt idx="3">
                  <c:v>Billing</c:v>
                </c:pt>
                <c:pt idx="4">
                  <c:v>Claims</c:v>
                </c:pt>
              </c:strCache>
            </c:strRef>
          </c:cat>
          <c:val>
            <c:numRef>
              <c:f>Sheet1!$B$2:$B$6</c:f>
              <c:numCache>
                <c:formatCode>General</c:formatCode>
                <c:ptCount val="5"/>
                <c:pt idx="0">
                  <c:v>23.8</c:v>
                </c:pt>
                <c:pt idx="1">
                  <c:v>22.3</c:v>
                </c:pt>
                <c:pt idx="2">
                  <c:v>22.1</c:v>
                </c:pt>
                <c:pt idx="3">
                  <c:v>18.6</c:v>
                </c:pt>
                <c:pt idx="4">
                  <c:v>13.2</c:v>
                </c:pt>
              </c:numCache>
            </c:numRef>
          </c:val>
        </c:ser>
        <c:dLbls>
          <c:numFmt formatCode="0.0&quot;%&quot;" sourceLinked="0"/>
          <c:txPr>
            <a:bodyPr/>
            <a:lstStyle/>
            <a:p>
              <a:pPr>
                <a:defRPr sz="1200" b="1">
                  <a:solidFill>
                    <a:srgbClr val="7A3E10"/>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A38A6D"/>
            </a:solidFill>
          </a:ln>
        </c:spPr>
        <c:txPr>
          <a:bodyPr/>
          <a:lstStyle/>
          <a:p>
            <a:pPr>
              <a:defRPr sz="1200"/>
            </a:pPr>
          </a:p>
        </c:txPr>
        <c:crossAx val="-2113994440"/>
        <c:crosses val="autoZero"/>
        <c:auto val="1"/>
        <c:lblAlgn val="ctr"/>
        <c:lblOffset val="100"/>
        <c:noMultiLvlLbl val="0"/>
      </c:catAx>
      <c:valAx>
        <c:axId val="-2113994440"/>
        <c:scaling>
          <c:min val="0.0"/>
        </c:scaling>
        <c:delete/>
        <c:axPos val="b"/>
        <c:majorTickMark val="out"/>
        <c:minorTickMark val="none"/>
        <c:tickLblPos val="nextTo"/>
        <c:crossAx val="-2068027336"/>
        <c:crosses val="autoZero"/>
      </c:valAx>
    </c:plotArea>
    <c:dispBlanksAs val="gap"/>
  </c:chart>
  <c:txPr>
    <a:bodyPr/>
    <a:lstStyle/>
    <a:p>
      <a:pPr>
        <a:defRPr sz="1200">
          <a:solidFill>
            <a:srgbClr val="5A4636"/>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02372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84713-6924-60FD-604B-30E5A11342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3F9E2A-A8A4-07D0-D791-A980E68A7F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6EA65EB-674B-2EC7-C33F-C5F80A6CEBF6}"/>
              </a:ext>
            </a:extLst>
          </p:cNvPr>
          <p:cNvSpPr>
            <a:spLocks noGrp="1"/>
          </p:cNvSpPr>
          <p:nvPr>
            <p:ph type="dt" sz="half" idx="10"/>
          </p:nvPr>
        </p:nvSpPr>
        <p:spPr/>
        <p:txBody>
          <a:bodyPr/>
          <a:lstStyle/>
          <a:p>
            <a:fld id="{7FA43F5B-065E-43CE-B3FD-98C48A6F94D7}" type="datetime1">
              <a:rPr lang="en-US" smtClean="0"/>
              <a:pPr/>
              <a:t>9/30/2026</a:t>
            </a:fld>
            <a:endParaRPr lang="en-US"/>
          </a:p>
        </p:txBody>
      </p:sp>
      <p:sp>
        <p:nvSpPr>
          <p:cNvPr id="5" name="Footer Placeholder 4">
            <a:extLst>
              <a:ext uri="{FF2B5EF4-FFF2-40B4-BE49-F238E27FC236}">
                <a16:creationId xmlns:a16="http://schemas.microsoft.com/office/drawing/2014/main" id="{973558EE-91E7-3089-6C4A-E2367C420FCC}"/>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557FC11C-CBB7-89E6-BE30-F3D33BA29AC0}"/>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3737969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E8780-509E-D827-3B99-383840AA57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C4B5C35-0D05-1AC8-2254-8D86CD30110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851CC7-23B2-B0D8-C071-DC38807B5961}"/>
              </a:ext>
            </a:extLst>
          </p:cNvPr>
          <p:cNvSpPr>
            <a:spLocks noGrp="1"/>
          </p:cNvSpPr>
          <p:nvPr>
            <p:ph type="dt" sz="half" idx="10"/>
          </p:nvPr>
        </p:nvSpPr>
        <p:spPr/>
        <p:txBody>
          <a:bodyPr/>
          <a:lstStyle/>
          <a:p>
            <a:fld id="{7FA43F5B-065E-43CE-B3FD-98C48A6F94D7}" type="datetime1">
              <a:rPr lang="en-US" smtClean="0"/>
              <a:pPr/>
              <a:t>9/30/2026</a:t>
            </a:fld>
            <a:endParaRPr lang="en-US"/>
          </a:p>
        </p:txBody>
      </p:sp>
      <p:sp>
        <p:nvSpPr>
          <p:cNvPr id="5" name="Footer Placeholder 4">
            <a:extLst>
              <a:ext uri="{FF2B5EF4-FFF2-40B4-BE49-F238E27FC236}">
                <a16:creationId xmlns:a16="http://schemas.microsoft.com/office/drawing/2014/main" id="{4903B880-3305-E2E9-1A89-7AE5B58D0B12}"/>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06F30527-2866-BC42-5401-8B1FA53B04C7}"/>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160831583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4B9EF-F9BB-2417-A7FF-D51F7EAB78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BE8AF1D-35DA-F62A-CFF5-9608A56E0EF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48CB22-095E-1AEC-C81B-16669EF27494}"/>
              </a:ext>
            </a:extLst>
          </p:cNvPr>
          <p:cNvSpPr>
            <a:spLocks noGrp="1"/>
          </p:cNvSpPr>
          <p:nvPr>
            <p:ph type="dt" sz="half" idx="10"/>
          </p:nvPr>
        </p:nvSpPr>
        <p:spPr/>
        <p:txBody>
          <a:bodyPr/>
          <a:lstStyle/>
          <a:p>
            <a:fld id="{7FA43F5B-065E-43CE-B3FD-98C48A6F94D7}" type="datetime1">
              <a:rPr lang="en-US" smtClean="0"/>
              <a:pPr/>
              <a:t>9/30/2026</a:t>
            </a:fld>
            <a:endParaRPr lang="en-US"/>
          </a:p>
        </p:txBody>
      </p:sp>
      <p:sp>
        <p:nvSpPr>
          <p:cNvPr id="5" name="Footer Placeholder 4">
            <a:extLst>
              <a:ext uri="{FF2B5EF4-FFF2-40B4-BE49-F238E27FC236}">
                <a16:creationId xmlns:a16="http://schemas.microsoft.com/office/drawing/2014/main" id="{B341B462-DE0B-B8AA-B025-2CFF3B130C9B}"/>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0B37A15-CBC1-06A9-4DA3-0EA9DF954CC6}"/>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105175977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6D00E-3584-E331-DF7D-23A997961CC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B85611A-0D7E-2A62-6B02-A18149BDD8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203DF70-3D9F-27B9-DE28-20E2CF85828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EE87F29-DA39-3A6D-EE10-6CE49720556A}"/>
              </a:ext>
            </a:extLst>
          </p:cNvPr>
          <p:cNvSpPr>
            <a:spLocks noGrp="1"/>
          </p:cNvSpPr>
          <p:nvPr>
            <p:ph type="dt" sz="half" idx="10"/>
          </p:nvPr>
        </p:nvSpPr>
        <p:spPr/>
        <p:txBody>
          <a:bodyPr/>
          <a:lstStyle/>
          <a:p>
            <a:fld id="{7FA43F5B-065E-43CE-B3FD-98C48A6F94D7}" type="datetime1">
              <a:rPr lang="en-US" smtClean="0"/>
              <a:pPr/>
              <a:t>9/30/2026</a:t>
            </a:fld>
            <a:endParaRPr lang="en-US"/>
          </a:p>
        </p:txBody>
      </p:sp>
      <p:sp>
        <p:nvSpPr>
          <p:cNvPr id="6" name="Footer Placeholder 5">
            <a:extLst>
              <a:ext uri="{FF2B5EF4-FFF2-40B4-BE49-F238E27FC236}">
                <a16:creationId xmlns:a16="http://schemas.microsoft.com/office/drawing/2014/main" id="{7B7E8548-4B9F-A480-3C82-F006EF8AB972}"/>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461BCAD0-ACBC-372E-A117-2988A0C77B33}"/>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254606494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BA080-3A4D-B7A5-FF7F-BDE4DD42119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C1D8BBC-1041-5A45-4A20-CBBF5DA041D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56F8175-6B13-4E82-0499-6F171B74D70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F697FD2-C5FC-A984-B76B-CFE9F789E1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51DD73-4A8E-7DDC-53CB-CD87A04F65D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B6914F5-A439-0185-A837-E5A4243379BC}"/>
              </a:ext>
            </a:extLst>
          </p:cNvPr>
          <p:cNvSpPr>
            <a:spLocks noGrp="1"/>
          </p:cNvSpPr>
          <p:nvPr>
            <p:ph type="dt" sz="half" idx="10"/>
          </p:nvPr>
        </p:nvSpPr>
        <p:spPr/>
        <p:txBody>
          <a:bodyPr/>
          <a:lstStyle/>
          <a:p>
            <a:fld id="{7FA43F5B-065E-43CE-B3FD-98C48A6F94D7}" type="datetime1">
              <a:rPr lang="en-US" smtClean="0"/>
              <a:pPr/>
              <a:t>9/30/2026</a:t>
            </a:fld>
            <a:endParaRPr lang="en-US"/>
          </a:p>
        </p:txBody>
      </p:sp>
      <p:sp>
        <p:nvSpPr>
          <p:cNvPr id="8" name="Footer Placeholder 7">
            <a:extLst>
              <a:ext uri="{FF2B5EF4-FFF2-40B4-BE49-F238E27FC236}">
                <a16:creationId xmlns:a16="http://schemas.microsoft.com/office/drawing/2014/main" id="{131AB7E0-7BC0-7237-1AC3-9201E7061D1E}"/>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C9A6563C-7065-B18F-7F28-AF5D2B65DD79}"/>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379667156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AA604-D5DE-DBA6-519C-14E39AFD5AA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7790E54-70BC-2899-307C-065391943BA6}"/>
              </a:ext>
            </a:extLst>
          </p:cNvPr>
          <p:cNvSpPr>
            <a:spLocks noGrp="1"/>
          </p:cNvSpPr>
          <p:nvPr>
            <p:ph type="dt" sz="half" idx="10"/>
          </p:nvPr>
        </p:nvSpPr>
        <p:spPr/>
        <p:txBody>
          <a:bodyPr/>
          <a:lstStyle/>
          <a:p>
            <a:fld id="{7FA43F5B-065E-43CE-B3FD-98C48A6F94D7}" type="datetime1">
              <a:rPr lang="en-US" smtClean="0"/>
              <a:pPr/>
              <a:t>9/30/2026</a:t>
            </a:fld>
            <a:endParaRPr lang="en-US"/>
          </a:p>
        </p:txBody>
      </p:sp>
      <p:sp>
        <p:nvSpPr>
          <p:cNvPr id="4" name="Footer Placeholder 3">
            <a:extLst>
              <a:ext uri="{FF2B5EF4-FFF2-40B4-BE49-F238E27FC236}">
                <a16:creationId xmlns:a16="http://schemas.microsoft.com/office/drawing/2014/main" id="{FB193B1E-3D2A-4F7A-BE36-721BAEFDF1C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929D28B-0A7C-57F1-93DF-8B55D3049DB9}"/>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272762689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2B425A-EF5E-7D0D-DD46-FA9B8CE4A074}"/>
              </a:ext>
            </a:extLst>
          </p:cNvPr>
          <p:cNvSpPr>
            <a:spLocks noGrp="1"/>
          </p:cNvSpPr>
          <p:nvPr>
            <p:ph type="dt" sz="half" idx="10"/>
          </p:nvPr>
        </p:nvSpPr>
        <p:spPr/>
        <p:txBody>
          <a:bodyPr/>
          <a:lstStyle/>
          <a:p>
            <a:fld id="{7FA43F5B-065E-43CE-B3FD-98C48A6F94D7}" type="datetime1">
              <a:rPr lang="en-US" smtClean="0"/>
              <a:pPr/>
              <a:t>9/30/2026</a:t>
            </a:fld>
            <a:endParaRPr lang="en-US"/>
          </a:p>
        </p:txBody>
      </p:sp>
      <p:sp>
        <p:nvSpPr>
          <p:cNvPr id="3" name="Footer Placeholder 2">
            <a:extLst>
              <a:ext uri="{FF2B5EF4-FFF2-40B4-BE49-F238E27FC236}">
                <a16:creationId xmlns:a16="http://schemas.microsoft.com/office/drawing/2014/main" id="{221E1791-7FBA-6609-9AFE-4B04E6967851}"/>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A8F66D8A-14E0-AC0D-11A6-7CB9FB2ACDB5}"/>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375595331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7EFD3-1D30-2A83-2FB4-B83917F82D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0556F6C-E362-65A5-DADF-76F923C992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A9EEEDE-5E31-5133-0F37-9F392CD2FC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296495-4E63-3948-C382-4942503A6A5E}"/>
              </a:ext>
            </a:extLst>
          </p:cNvPr>
          <p:cNvSpPr>
            <a:spLocks noGrp="1"/>
          </p:cNvSpPr>
          <p:nvPr>
            <p:ph type="dt" sz="half" idx="10"/>
          </p:nvPr>
        </p:nvSpPr>
        <p:spPr/>
        <p:txBody>
          <a:bodyPr/>
          <a:lstStyle/>
          <a:p>
            <a:fld id="{7FA43F5B-065E-43CE-B3FD-98C48A6F94D7}" type="datetime1">
              <a:rPr lang="en-US" smtClean="0"/>
              <a:pPr/>
              <a:t>9/30/2026</a:t>
            </a:fld>
            <a:endParaRPr lang="en-US"/>
          </a:p>
        </p:txBody>
      </p:sp>
      <p:sp>
        <p:nvSpPr>
          <p:cNvPr id="6" name="Footer Placeholder 5">
            <a:extLst>
              <a:ext uri="{FF2B5EF4-FFF2-40B4-BE49-F238E27FC236}">
                <a16:creationId xmlns:a16="http://schemas.microsoft.com/office/drawing/2014/main" id="{731D4F65-BA72-FF88-AAC2-FDAA54F88323}"/>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6A871145-A475-B8EA-C264-B0F323041878}"/>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320568870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83FC3-F81F-CB12-53EE-8265BC88E1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6375CEB-D89B-039C-CD9C-5660291178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6AAD0B5-FA0D-70E1-9DB7-A1484BE6F7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C709A0-1541-C155-42B9-1F7C91A9AD48}"/>
              </a:ext>
            </a:extLst>
          </p:cNvPr>
          <p:cNvSpPr>
            <a:spLocks noGrp="1"/>
          </p:cNvSpPr>
          <p:nvPr>
            <p:ph type="dt" sz="half" idx="10"/>
          </p:nvPr>
        </p:nvSpPr>
        <p:spPr/>
        <p:txBody>
          <a:bodyPr/>
          <a:lstStyle/>
          <a:p>
            <a:fld id="{7FA43F5B-065E-43CE-B3FD-98C48A6F94D7}" type="datetime1">
              <a:rPr lang="en-US" smtClean="0"/>
              <a:pPr/>
              <a:t>9/30/2026</a:t>
            </a:fld>
            <a:endParaRPr lang="en-US"/>
          </a:p>
        </p:txBody>
      </p:sp>
      <p:sp>
        <p:nvSpPr>
          <p:cNvPr id="6" name="Footer Placeholder 5">
            <a:extLst>
              <a:ext uri="{FF2B5EF4-FFF2-40B4-BE49-F238E27FC236}">
                <a16:creationId xmlns:a16="http://schemas.microsoft.com/office/drawing/2014/main" id="{27A93B93-F5C2-26AC-0F2B-FFBE2E03F635}"/>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AC8F413C-CDC1-1D18-DC68-66C6C4870293}"/>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153323349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6F8F2-0048-5C4A-51D1-7FE9CEE4D68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2EB9C6D-3169-FC7F-E2DD-73D0485FFF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274014-181E-0205-537A-DE248A1204CE}"/>
              </a:ext>
            </a:extLst>
          </p:cNvPr>
          <p:cNvSpPr>
            <a:spLocks noGrp="1"/>
          </p:cNvSpPr>
          <p:nvPr>
            <p:ph type="dt" sz="half" idx="10"/>
          </p:nvPr>
        </p:nvSpPr>
        <p:spPr/>
        <p:txBody>
          <a:bodyPr/>
          <a:lstStyle/>
          <a:p>
            <a:fld id="{7FA43F5B-065E-43CE-B3FD-98C48A6F94D7}" type="datetime1">
              <a:rPr lang="en-US" smtClean="0"/>
              <a:pPr/>
              <a:t>9/30/2026</a:t>
            </a:fld>
            <a:endParaRPr lang="en-US"/>
          </a:p>
        </p:txBody>
      </p:sp>
      <p:sp>
        <p:nvSpPr>
          <p:cNvPr id="5" name="Footer Placeholder 4">
            <a:extLst>
              <a:ext uri="{FF2B5EF4-FFF2-40B4-BE49-F238E27FC236}">
                <a16:creationId xmlns:a16="http://schemas.microsoft.com/office/drawing/2014/main" id="{C44D23DE-75B5-AB4D-67CF-993BA3DDBD6B}"/>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B8521961-54FD-A49B-9957-33C8E5F4E56D}"/>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67472682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C3B75B-5BA7-F64B-6A7E-F1908F1F819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3E16443-5972-2135-F5D8-9A25A6074C4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7C5DC8-3226-EC03-0405-0687B8AA4C3B}"/>
              </a:ext>
            </a:extLst>
          </p:cNvPr>
          <p:cNvSpPr>
            <a:spLocks noGrp="1"/>
          </p:cNvSpPr>
          <p:nvPr>
            <p:ph type="dt" sz="half" idx="10"/>
          </p:nvPr>
        </p:nvSpPr>
        <p:spPr/>
        <p:txBody>
          <a:bodyPr/>
          <a:lstStyle/>
          <a:p>
            <a:fld id="{7FA43F5B-065E-43CE-B3FD-98C48A6F94D7}" type="datetime1">
              <a:rPr lang="en-US" smtClean="0"/>
              <a:pPr/>
              <a:t>9/30/2026</a:t>
            </a:fld>
            <a:endParaRPr lang="en-US"/>
          </a:p>
        </p:txBody>
      </p:sp>
      <p:sp>
        <p:nvSpPr>
          <p:cNvPr id="5" name="Footer Placeholder 4">
            <a:extLst>
              <a:ext uri="{FF2B5EF4-FFF2-40B4-BE49-F238E27FC236}">
                <a16:creationId xmlns:a16="http://schemas.microsoft.com/office/drawing/2014/main" id="{AC3DCDC2-1736-AF52-8918-3660FAF07088}"/>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FB65CE39-CB89-9CFA-675B-5450356C6FE4}"/>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287734188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202462-D306-4BB7-A3D0-BE06503100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A0F99AC-CE32-FA7B-A5D7-21802BF756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C8AB2F-6260-1B5A-CBE3-0F7244A278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FA43F5B-065E-43CE-B3FD-98C48A6F94D7}" type="datetime1">
              <a:rPr lang="en-US" smtClean="0"/>
              <a:pPr/>
              <a:t>9/30/2026</a:t>
            </a:fld>
            <a:endParaRPr lang="en-US"/>
          </a:p>
        </p:txBody>
      </p:sp>
      <p:sp>
        <p:nvSpPr>
          <p:cNvPr id="5" name="Footer Placeholder 4">
            <a:extLst>
              <a:ext uri="{FF2B5EF4-FFF2-40B4-BE49-F238E27FC236}">
                <a16:creationId xmlns:a16="http://schemas.microsoft.com/office/drawing/2014/main" id="{69B33782-B750-343E-4B3F-ACA5B2F714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151BAC94-D7A4-0F4C-884F-1DC32DB1CC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DE90F28-AFBB-4AB2-AA79-6D3F72ED131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649"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3"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3"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chart" Target="../charts/chart2.xml"/><Relationship Id="rId6" Type="http://schemas.openxmlformats.org/officeDocument/2006/relationships/chart" Target="../charts/char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3" Type="http://schemas.openxmlformats.org/officeDocument/2006/relationships/image" Target="../media/image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3" Type="http://schemas.openxmlformats.org/officeDocument/2006/relationships/image" Target="../media/image1.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3" Type="http://schemas.openxmlformats.org/officeDocument/2006/relationships/image" Target="../media/image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4.xml"/><Relationship Id="rId3" Type="http://schemas.openxmlformats.org/officeDocument/2006/relationships/image" Target="../media/image1.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3" Type="http://schemas.openxmlformats.org/officeDocument/2006/relationships/image" Target="../media/image1.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3" Type="http://schemas.openxmlformats.org/officeDocument/2006/relationships/image" Target="../media/image1.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3" Type="http://schemas.openxmlformats.org/officeDocument/2006/relationships/image" Target="../media/image1.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3" Type="http://schemas.openxmlformats.org/officeDocument/2006/relationships/image" Target="../media/image1.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BE3C2"/>
          </a:solidFill>
          <a:ln/>
        </p:spPr>
      </p:sp>
      <p:sp>
        <p:nvSpPr>
          <p:cNvPr id="3" name="Shape 1"/>
          <p:cNvSpPr/>
          <p:nvPr/>
        </p:nvSpPr>
        <p:spPr>
          <a:xfrm>
            <a:off x="0" y="6775704"/>
            <a:ext cx="12188952" cy="82296"/>
          </a:xfrm>
          <a:prstGeom prst="rect">
            <a:avLst/>
          </a:prstGeom>
          <a:solidFill>
            <a:srgbClr val="E8871E"/>
          </a:solidFill>
          <a:ln/>
        </p:spPr>
      </p:sp>
      <p:pic>
        <p:nvPicPr>
          <p:cNvPr id="4" name="Image 0" descr="/home/claude/capstone_template/eta_logo.png"/>
          <p:cNvPicPr>
            <a:picLocks noChangeAspect="1"/>
          </p:cNvPicPr>
          <p:nvPr/>
        </p:nvPicPr>
        <p:blipFill>
          <a:blip r:embed="rId3"/>
          <a:stretch>
            <a:fillRect/>
          </a:stretch>
        </p:blipFill>
        <p:spPr>
          <a:xfrm>
            <a:off x="777240" y="667512"/>
            <a:ext cx="1554480" cy="186423"/>
          </a:xfrm>
          <a:prstGeom prst="rect">
            <a:avLst/>
          </a:prstGeom>
        </p:spPr>
      </p:pic>
      <p:pic>
        <p:nvPicPr>
          <p:cNvPr id="5" name="Image 1" descr="/home/claude/capstone_template/wingspan_logo.png"/>
          <p:cNvPicPr>
            <a:picLocks noChangeAspect="1"/>
          </p:cNvPicPr>
          <p:nvPr/>
        </p:nvPicPr>
        <p:blipFill>
          <a:blip r:embed="rId4"/>
          <a:stretch>
            <a:fillRect/>
          </a:stretch>
        </p:blipFill>
        <p:spPr>
          <a:xfrm>
            <a:off x="10888218" y="568699"/>
            <a:ext cx="432054" cy="384048"/>
          </a:xfrm>
          <a:prstGeom prst="rect">
            <a:avLst/>
          </a:prstGeom>
        </p:spPr>
      </p:pic>
      <p:sp>
        <p:nvSpPr>
          <p:cNvPr id="6" name="Text 2"/>
          <p:cNvSpPr txBox="1"/>
          <p:nvPr/>
        </p:nvSpPr>
        <p:spPr>
          <a:xfrm>
            <a:off x="822960" y="2697480"/>
            <a:ext cx="10515600" cy="365760"/>
          </a:xfrm>
          <a:prstGeom prst="rect">
            <a:avLst/>
          </a:prstGeom>
          <a:noFill/>
          <a:ln/>
        </p:spPr>
        <p:txBody>
          <a:bodyPr wrap="square" lIns="0" tIns="0" rIns="0" bIns="0" rtlCol="0" anchor="ctr"/>
          <a:lstStyle/>
          <a:p>
            <a:pPr marL="0" indent="0" algn="l">
              <a:buNone/>
            </a:pPr>
            <a:r>
              <a:rPr lang="en-US" sz="1400" b="1" kern="0" spc="300" dirty="0">
                <a:solidFill>
                  <a:srgbClr val="E8871E"/>
                </a:solidFill>
                <a:latin typeface="Calibri" pitchFamily="34" charset="0"/>
                <a:ea typeface="Calibri" pitchFamily="34" charset="-122"/>
                <a:cs typeface="Calibri" pitchFamily="34" charset="-120"/>
              </a:rPr>
              <a:t>CAPSTONE SUBMISSION</a:t>
            </a:r>
            <a:endParaRPr lang="en-US" sz="1400" dirty="0"/>
          </a:p>
        </p:txBody>
      </p:sp>
      <p:sp>
        <p:nvSpPr>
          <p:cNvPr id="7" name="Text 3"/>
          <p:cNvSpPr txBox="1"/>
          <p:nvPr/>
        </p:nvSpPr>
        <p:spPr>
          <a:xfrm>
            <a:off x="822960" y="3108960"/>
            <a:ext cx="10515600" cy="914400"/>
          </a:xfrm>
          <a:prstGeom prst="rect">
            <a:avLst/>
          </a:prstGeom>
          <a:noFill/>
          <a:ln/>
        </p:spPr>
        <p:txBody>
          <a:bodyPr wrap="square" lIns="0" tIns="0" rIns="0" bIns="0" rtlCol="0" anchor="ctr"/>
          <a:lstStyle/>
          <a:p>
            <a:pPr marL="0" indent="0" algn="l">
              <a:buNone/>
            </a:pPr>
            <a:r>
              <a:rPr lang="en-US" sz="3200" b="1" dirty="0">
                <a:solidFill>
                  <a:srgbClr val="7A3E10"/>
                </a:solidFill>
                <a:latin typeface="Calibri" pitchFamily="34" charset="0"/>
                <a:ea typeface="Calibri" pitchFamily="34" charset="-122"/>
                <a:cs typeface="Calibri" pitchFamily="34" charset="-120"/>
              </a:rPr>
              <a:t>Member Experience, Contact Center &amp; Care Navigation Intelligence</a:t>
            </a:r>
            <a:endParaRPr lang="en-US" sz="3200" dirty="0"/>
          </a:p>
        </p:txBody>
      </p:sp>
      <p:sp>
        <p:nvSpPr>
          <p:cNvPr id="8" name="Text 4"/>
          <p:cNvSpPr txBox="1"/>
          <p:nvPr/>
        </p:nvSpPr>
        <p:spPr>
          <a:xfrm>
            <a:off x="822960" y="3977640"/>
            <a:ext cx="10515600" cy="457200"/>
          </a:xfrm>
          <a:prstGeom prst="rect">
            <a:avLst/>
          </a:prstGeom>
          <a:noFill/>
          <a:ln/>
        </p:spPr>
        <p:txBody>
          <a:bodyPr wrap="square" lIns="0" tIns="0" rIns="0" bIns="0" rtlCol="0" anchor="ctr"/>
          <a:lstStyle/>
          <a:p>
            <a:pPr marL="0" indent="0" algn="l">
              <a:buNone/>
            </a:pPr>
            <a:r>
              <a:rPr lang="en-US" sz="1600" dirty="0">
                <a:solidFill>
                  <a:srgbClr val="9C7A4E"/>
                </a:solidFill>
                <a:latin typeface="Calibri" pitchFamily="34" charset="0"/>
                <a:ea typeface="Calibri" pitchFamily="34" charset="-122"/>
                <a:cs typeface="Calibri" pitchFamily="34" charset="-120"/>
              </a:rPr>
              <a:t>Data Science Training Program  |  Capstone Project 3</a:t>
            </a:r>
            <a:endParaRPr lang="en-US" sz="1600" dirty="0"/>
          </a:p>
        </p:txBody>
      </p:sp>
      <p:sp>
        <p:nvSpPr>
          <p:cNvPr id="9" name="Text 5"/>
          <p:cNvSpPr txBox="1"/>
          <p:nvPr/>
        </p:nvSpPr>
        <p:spPr>
          <a:xfrm>
            <a:off x="822960" y="4709160"/>
            <a:ext cx="2743200" cy="365760"/>
          </a:xfrm>
          <a:prstGeom prst="rect">
            <a:avLst/>
          </a:prstGeom>
          <a:noFill/>
          <a:ln/>
        </p:spPr>
        <p:txBody>
          <a:bodyPr wrap="square" lIns="0" tIns="0" rIns="0" bIns="0" rtlCol="0" anchor="ctr"/>
          <a:lstStyle/>
          <a:p>
            <a:pPr marL="0" indent="0" algn="l">
              <a:buNone/>
            </a:pPr>
            <a:r>
              <a:rPr lang="en-US" sz="1200" dirty="0">
                <a:solidFill>
                  <a:srgbClr val="9C7A4E"/>
                </a:solidFill>
                <a:latin typeface="Calibri" pitchFamily="34" charset="0"/>
                <a:ea typeface="Calibri" pitchFamily="34" charset="-122"/>
                <a:cs typeface="Calibri" pitchFamily="34" charset="-120"/>
              </a:rPr>
              <a:t>Team / Participant Name</a:t>
            </a:r>
            <a:endParaRPr lang="en-US" sz="1200" dirty="0"/>
          </a:p>
        </p:txBody>
      </p:sp>
      <p:sp>
        <p:nvSpPr>
          <p:cNvPr id="10" name="Text 6"/>
          <p:cNvSpPr txBox="1"/>
          <p:nvPr/>
        </p:nvSpPr>
        <p:spPr>
          <a:xfrm>
            <a:off x="3566160" y="4709160"/>
            <a:ext cx="4572000" cy="365760"/>
          </a:xfrm>
          <a:prstGeom prst="rect">
            <a:avLst/>
          </a:prstGeom>
          <a:noFill/>
          <a:ln/>
        </p:spPr>
        <p:txBody>
          <a:bodyPr wrap="square" lIns="0" tIns="0" rIns="0" bIns="0" rtlCol="0" anchor="ctr"/>
          <a:lstStyle/>
          <a:p>
            <a:pPr marL="0" indent="0" algn="l">
              <a:buNone/>
            </a:pPr>
            <a:r>
              <a:rPr lang="en-US" sz="1200" b="1" dirty="0">
                <a:solidFill>
                  <a:srgbClr val="7A3E10"/>
                </a:solidFill>
                <a:latin typeface="Calibri" pitchFamily="34" charset="0"/>
                <a:ea typeface="Calibri" pitchFamily="34" charset="-122"/>
                <a:cs typeface="Calibri" pitchFamily="34" charset="-120"/>
              </a:rPr>
              <a:t>Ritesh, Sahil, Aditi</a:t>
            </a:r>
            <a:endParaRPr lang="en-US" sz="1200" dirty="0"/>
          </a:p>
        </p:txBody>
      </p:sp>
      <p:sp>
        <p:nvSpPr>
          <p:cNvPr id="11" name="Text 7"/>
          <p:cNvSpPr txBox="1"/>
          <p:nvPr/>
        </p:nvSpPr>
        <p:spPr>
          <a:xfrm>
            <a:off x="822960" y="5093208"/>
            <a:ext cx="2743200" cy="365760"/>
          </a:xfrm>
          <a:prstGeom prst="rect">
            <a:avLst/>
          </a:prstGeom>
          <a:noFill/>
          <a:ln/>
        </p:spPr>
        <p:txBody>
          <a:bodyPr wrap="square" lIns="0" tIns="0" rIns="0" bIns="0" rtlCol="0" anchor="ctr"/>
          <a:lstStyle/>
          <a:p>
            <a:pPr marL="0" indent="0" algn="l">
              <a:buNone/>
            </a:pPr>
            <a:r>
              <a:rPr lang="en-US" sz="1200" dirty="0">
                <a:solidFill>
                  <a:srgbClr val="9C7A4E"/>
                </a:solidFill>
                <a:latin typeface="Calibri" pitchFamily="34" charset="0"/>
                <a:ea typeface="Calibri" pitchFamily="34" charset="-122"/>
                <a:cs typeface="Calibri" pitchFamily="34" charset="-120"/>
              </a:rPr>
              <a:t>Batch</a:t>
            </a:r>
            <a:endParaRPr lang="en-US" sz="1200" dirty="0"/>
          </a:p>
        </p:txBody>
      </p:sp>
      <p:sp>
        <p:nvSpPr>
          <p:cNvPr id="12" name="Text 8"/>
          <p:cNvSpPr txBox="1"/>
          <p:nvPr/>
        </p:nvSpPr>
        <p:spPr>
          <a:xfrm>
            <a:off x="3566160" y="5093208"/>
            <a:ext cx="4572000" cy="365760"/>
          </a:xfrm>
          <a:prstGeom prst="rect">
            <a:avLst/>
          </a:prstGeom>
          <a:noFill/>
          <a:ln/>
        </p:spPr>
        <p:txBody>
          <a:bodyPr wrap="square" lIns="0" tIns="0" rIns="0" bIns="0" rtlCol="0" anchor="ctr"/>
          <a:lstStyle/>
          <a:p>
            <a:pPr marL="0" indent="0" algn="l">
              <a:buNone/>
            </a:pPr>
            <a:r>
              <a:rPr lang="en-US" sz="1200" b="0" dirty="0">
                <a:solidFill>
                  <a:srgbClr val="5A4636"/>
                </a:solidFill>
                <a:latin typeface="Calibri" pitchFamily="34" charset="0"/>
                <a:ea typeface="Calibri" pitchFamily="34" charset="-122"/>
                <a:cs typeface="Calibri" pitchFamily="34" charset="-120"/>
              </a:rPr>
              <a:t>—</a:t>
            </a:r>
            <a:endParaRPr lang="en-US" sz="1200" dirty="0"/>
          </a:p>
        </p:txBody>
      </p:sp>
      <p:sp>
        <p:nvSpPr>
          <p:cNvPr id="13" name="Text 9"/>
          <p:cNvSpPr txBox="1"/>
          <p:nvPr/>
        </p:nvSpPr>
        <p:spPr>
          <a:xfrm>
            <a:off x="822960" y="5477256"/>
            <a:ext cx="2743200" cy="365760"/>
          </a:xfrm>
          <a:prstGeom prst="rect">
            <a:avLst/>
          </a:prstGeom>
          <a:noFill/>
          <a:ln/>
        </p:spPr>
        <p:txBody>
          <a:bodyPr wrap="square" lIns="0" tIns="0" rIns="0" bIns="0" rtlCol="0" anchor="ctr"/>
          <a:lstStyle/>
          <a:p>
            <a:pPr marL="0" indent="0" algn="l">
              <a:buNone/>
            </a:pPr>
            <a:r>
              <a:rPr lang="en-US" sz="1200" dirty="0">
                <a:solidFill>
                  <a:srgbClr val="9C7A4E"/>
                </a:solidFill>
                <a:latin typeface="Calibri" pitchFamily="34" charset="0"/>
                <a:ea typeface="Calibri" pitchFamily="34" charset="-122"/>
                <a:cs typeface="Calibri" pitchFamily="34" charset="-120"/>
              </a:rPr>
              <a:t>Delivery Date</a:t>
            </a:r>
            <a:endParaRPr lang="en-US" sz="1200" dirty="0"/>
          </a:p>
        </p:txBody>
      </p:sp>
      <p:sp>
        <p:nvSpPr>
          <p:cNvPr id="14" name="Text 10"/>
          <p:cNvSpPr txBox="1"/>
          <p:nvPr/>
        </p:nvSpPr>
        <p:spPr>
          <a:xfrm>
            <a:off x="3566160" y="5477256"/>
            <a:ext cx="4572000" cy="365760"/>
          </a:xfrm>
          <a:prstGeom prst="rect">
            <a:avLst/>
          </a:prstGeom>
          <a:noFill/>
          <a:ln/>
        </p:spPr>
        <p:txBody>
          <a:bodyPr wrap="square" lIns="0" tIns="0" rIns="0" bIns="0" rtlCol="0" anchor="ctr"/>
          <a:lstStyle/>
          <a:p>
            <a:pPr marL="0" indent="0" algn="l">
              <a:buNone/>
            </a:pPr>
            <a:r>
              <a:rPr lang="en-US" sz="1200" b="1" dirty="0">
                <a:solidFill>
                  <a:srgbClr val="7A3E10"/>
                </a:solidFill>
                <a:latin typeface="Calibri" pitchFamily="34" charset="0"/>
                <a:ea typeface="Calibri" pitchFamily="34" charset="-122"/>
                <a:cs typeface="Calibri" pitchFamily="34" charset="-120"/>
              </a:rPr>
              <a:t>28 Oct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691640"/>
          </a:xfrm>
          <a:prstGeom prst="rect">
            <a:avLst/>
          </a:prstGeom>
          <a:solidFill>
            <a:srgbClr val="FBE3C2"/>
          </a:solidFill>
          <a:ln/>
        </p:spPr>
        <p:txBody>
          <a:bodyPr/>
          <a:lstStyle/>
          <a:p>
            <a:endParaRPr lang="en-US"/>
          </a:p>
        </p:txBody>
      </p:sp>
      <p:sp>
        <p:nvSpPr>
          <p:cNvPr id="3" name="Shape 1"/>
          <p:cNvSpPr>
            <a:spLocks/>
          </p:cNvSpPr>
          <p:nvPr/>
        </p:nvSpPr>
        <p:spPr>
          <a:xfrm>
            <a:off x="0" y="1691640"/>
            <a:ext cx="12188952" cy="64008"/>
          </a:xfrm>
          <a:prstGeom prst="rect">
            <a:avLst/>
          </a:prstGeom>
          <a:solidFill>
            <a:srgbClr val="E8871E"/>
          </a:solidFill>
          <a:ln/>
        </p:spPr>
        <p:txBody>
          <a:bodyPr/>
          <a:lstStyle/>
          <a:p>
            <a:endParaRPr lang="en-US"/>
          </a:p>
        </p:txBody>
      </p:sp>
      <p:pic>
        <p:nvPicPr>
          <p:cNvPr id="4" name="Image 0" descr="/home/claude/capstone_template/eta_logo.png"/>
          <p:cNvPicPr>
            <a:picLocks noChangeAspect="1"/>
          </p:cNvPicPr>
          <p:nvPr/>
        </p:nvPicPr>
        <p:blipFill>
          <a:blip r:embed="rId3"/>
          <a:stretch>
            <a:fillRect/>
          </a:stretch>
        </p:blipFill>
        <p:spPr>
          <a:xfrm>
            <a:off x="548640" y="448056"/>
            <a:ext cx="1554480" cy="186423"/>
          </a:xfrm>
          <a:prstGeom prst="rect">
            <a:avLst/>
          </a:prstGeom>
        </p:spPr>
      </p:pic>
      <p:pic>
        <p:nvPicPr>
          <p:cNvPr id="5" name="Image 1" descr="/home/claude/capstone_template/wingspan_logo.png"/>
          <p:cNvPicPr>
            <a:picLocks noChangeAspect="1"/>
          </p:cNvPicPr>
          <p:nvPr/>
        </p:nvPicPr>
        <p:blipFill>
          <a:blip r:embed="rId4"/>
          <a:stretch>
            <a:fillRect/>
          </a:stretch>
        </p:blipFill>
        <p:spPr>
          <a:xfrm>
            <a:off x="11116818" y="349243"/>
            <a:ext cx="432054" cy="384048"/>
          </a:xfrm>
          <a:prstGeom prst="rect">
            <a:avLst/>
          </a:prstGeom>
        </p:spPr>
      </p:pic>
      <p:sp>
        <p:nvSpPr>
          <p:cNvPr id="6" name="Text 2"/>
          <p:cNvSpPr txBox="1"/>
          <p:nvPr/>
        </p:nvSpPr>
        <p:spPr>
          <a:xfrm>
            <a:off x="2606040" y="384048"/>
            <a:ext cx="7916418" cy="274320"/>
          </a:xfrm>
          <a:prstGeom prst="rect">
            <a:avLst/>
          </a:prstGeom>
          <a:noFill/>
          <a:ln/>
        </p:spPr>
        <p:txBody>
          <a:bodyPr wrap="square" lIns="0" tIns="0" rIns="0" bIns="0" rtlCol="0" anchor="ctr"/>
          <a:lstStyle/>
          <a:p>
            <a:pPr marL="0" indent="0" algn="l">
              <a:buNone/>
            </a:pPr>
            <a:r>
              <a:rPr lang="en-US" sz="1100" b="1" kern="0" spc="200" dirty="0">
                <a:solidFill>
                  <a:srgbClr val="E8871E"/>
                </a:solidFill>
                <a:latin typeface="Calibri" pitchFamily="34" charset="0"/>
                <a:ea typeface="Calibri" pitchFamily="34" charset="-122"/>
                <a:cs typeface="Calibri" pitchFamily="34" charset="-120"/>
              </a:rPr>
              <a:t>SECTION 01</a:t>
            </a:r>
            <a:endParaRPr lang="en-US" sz="1100" dirty="0"/>
          </a:p>
        </p:txBody>
      </p:sp>
      <p:sp>
        <p:nvSpPr>
          <p:cNvPr id="7" name="Text 3"/>
          <p:cNvSpPr txBox="1"/>
          <p:nvPr/>
        </p:nvSpPr>
        <p:spPr>
          <a:xfrm>
            <a:off x="2606040" y="685800"/>
            <a:ext cx="7916418" cy="914400"/>
          </a:xfrm>
          <a:prstGeom prst="rect">
            <a:avLst/>
          </a:prstGeom>
          <a:noFill/>
          <a:ln/>
        </p:spPr>
        <p:txBody>
          <a:bodyPr wrap="square" lIns="0" tIns="0" rIns="0" bIns="0" rtlCol="0" anchor="t"/>
          <a:lstStyle/>
          <a:p>
            <a:pPr marL="0" indent="0" algn="l">
              <a:buNone/>
            </a:pPr>
            <a:r>
              <a:rPr lang="en-US" sz="2600" b="1" dirty="0">
                <a:solidFill>
                  <a:srgbClr val="7A3E10"/>
                </a:solidFill>
                <a:latin typeface="Calibri" pitchFamily="34" charset="0"/>
                <a:ea typeface="Calibri" pitchFamily="34" charset="-122"/>
                <a:cs typeface="Calibri" pitchFamily="34" charset="-120"/>
              </a:rPr>
              <a:t>Business Problem</a:t>
            </a:r>
            <a:endParaRPr lang="en-US" sz="2600" dirty="0"/>
          </a:p>
        </p:txBody>
      </p:sp>
      <p:sp>
        <p:nvSpPr>
          <p:cNvPr id="8" name="Text 4"/>
          <p:cNvSpPr txBox="1"/>
          <p:nvPr/>
        </p:nvSpPr>
        <p:spPr>
          <a:xfrm>
            <a:off x="11274552" y="1307592"/>
            <a:ext cx="548640" cy="320040"/>
          </a:xfrm>
          <a:prstGeom prst="rect">
            <a:avLst/>
          </a:prstGeom>
          <a:noFill/>
          <a:ln/>
        </p:spPr>
        <p:txBody>
          <a:bodyPr wrap="square" lIns="0" tIns="0" rIns="0" bIns="0" rtlCol="0" anchor="ctr"/>
          <a:lstStyle/>
          <a:p>
            <a:pPr marL="0" indent="0" algn="r">
              <a:buNone/>
            </a:pPr>
            <a:r>
              <a:rPr lang="en-US" sz="1100" b="1" dirty="0">
                <a:solidFill>
                  <a:srgbClr val="9C7A4E"/>
                </a:solidFill>
                <a:latin typeface="Calibri" pitchFamily="34" charset="0"/>
                <a:ea typeface="Calibri" pitchFamily="34" charset="-122"/>
                <a:cs typeface="Calibri" pitchFamily="34" charset="-120"/>
              </a:rPr>
              <a:t>02</a:t>
            </a:r>
            <a:endParaRPr lang="en-US" sz="1100" dirty="0"/>
          </a:p>
        </p:txBody>
      </p:sp>
      <p:sp>
        <p:nvSpPr>
          <p:cNvPr id="9" name="Shape 9"/>
          <p:cNvSpPr/>
          <p:nvPr/>
        </p:nvSpPr>
        <p:spPr>
          <a:xfrm>
            <a:off x="640080" y="2103120"/>
            <a:ext cx="5440680" cy="2697480"/>
          </a:xfrm>
          <a:prstGeom prst="roundRect">
            <a:avLst>
              <a:gd name="adj" fmla="val 2273"/>
            </a:avLst>
          </a:prstGeom>
          <a:solidFill>
            <a:srgbClr val="FFF6EA"/>
          </a:solidFill>
          <a:ln/>
        </p:spPr>
        <p:txBody>
          <a:bodyPr/>
          <a:lstStyle/>
          <a:p>
            <a:endParaRPr lang="en-US"/>
          </a:p>
        </p:txBody>
      </p:sp>
      <p:sp>
        <p:nvSpPr>
          <p:cNvPr id="10" name="Label 10"/>
          <p:cNvSpPr txBox="1"/>
          <p:nvPr/>
        </p:nvSpPr>
        <p:spPr>
          <a:xfrm>
            <a:off x="914400" y="2286000"/>
            <a:ext cx="4846320" cy="228600"/>
          </a:xfrm>
          <a:prstGeom prst="rect">
            <a:avLst/>
          </a:prstGeom>
          <a:noFill/>
          <a:ln/>
        </p:spPr>
        <p:txBody>
          <a:bodyPr wrap="square" lIns="0" tIns="0" rIns="0" bIns="0" rtlCol="0" anchor="ctr"/>
          <a:lstStyle/>
          <a:p>
            <a:pPr marL="0" indent="0" algn="l">
              <a:spcAft>
                <a:spcPts val="0"/>
              </a:spcAft>
              <a:buNone/>
            </a:pPr>
            <a:r>
              <a:rPr lang="en-US" sz="1100" b="1" dirty="0">
                <a:solidFill>
                  <a:srgbClr val="E8871E"/>
                </a:solidFill>
                <a:latin typeface="Calibri" pitchFamily="34" charset="0"/>
              </a:rPr>
              <a:t>THE BUSINESS PROBLEM</a:t>
            </a:r>
          </a:p>
        </p:txBody>
      </p:sp>
      <p:sp>
        <p:nvSpPr>
          <p:cNvPr id="11" name="Text 11"/>
          <p:cNvSpPr txBox="1"/>
          <p:nvPr/>
        </p:nvSpPr>
        <p:spPr>
          <a:xfrm>
            <a:off x="914400" y="2651760"/>
            <a:ext cx="4937760" cy="2011680"/>
          </a:xfrm>
          <a:prstGeom prst="rect">
            <a:avLst/>
          </a:prstGeom>
          <a:noFill/>
          <a:ln/>
        </p:spPr>
        <p:txBody>
          <a:bodyPr wrap="square" lIns="0" tIns="0" rIns="0" bIns="0" rtlCol="0" anchor="t"/>
          <a:lstStyle/>
          <a:p>
            <a:pPr marL="0" indent="0" algn="l">
              <a:spcAft>
                <a:spcPts val="700"/>
              </a:spcAft>
              <a:buNone/>
            </a:pPr>
            <a:r>
              <a:rPr lang="en-US" sz="1500" dirty="0" b="1">
                <a:solidFill>
                  <a:srgbClr val="7A3E10"/>
                </a:solidFill>
                <a:latin typeface="Calibri" pitchFamily="34" charset="0"/>
              </a:rPr>
              <a:t>Thousands of daily interactions </a:t>
            </a:r>
            <a:r>
              <a:rPr lang="en-US" sz="1500" dirty="0" b="0">
                <a:solidFill>
                  <a:srgbClr val="5A4636"/>
                </a:solidFill>
                <a:latin typeface="Calibri" pitchFamily="34" charset="0"/>
              </a:rPr>
              <a:t>across contact center, chat, email, mobile app and self-service portals.</a:t>
            </a:r>
          </a:p>
          <a:p>
            <a:pPr marL="0" indent="0" algn="l">
              <a:spcAft>
                <a:spcPts val="700"/>
              </a:spcAft>
              <a:buNone/>
            </a:pPr>
            <a:r>
              <a:rPr lang="en-US" sz="1500" dirty="0" b="1">
                <a:solidFill>
                  <a:srgbClr val="7A3E10"/>
                </a:solidFill>
                <a:latin typeface="Calibri" pitchFamily="34" charset="0"/>
              </a:rPr>
              <a:t>Rising service costs </a:t>
            </a:r>
            <a:r>
              <a:rPr lang="en-US" sz="1500" dirty="0" b="0">
                <a:solidFill>
                  <a:srgbClr val="5A4636"/>
                </a:solidFill>
                <a:latin typeface="Calibri" pitchFamily="34" charset="0"/>
              </a:rPr>
              <a:t>and a growing number of escalations.</a:t>
            </a:r>
          </a:p>
          <a:p>
            <a:pPr marL="0" indent="0" algn="l">
              <a:spcAft>
                <a:spcPts val="700"/>
              </a:spcAft>
              <a:buNone/>
            </a:pPr>
            <a:r>
              <a:rPr lang="en-US" sz="1500" dirty="0" b="1">
                <a:solidFill>
                  <a:srgbClr val="7A3E10"/>
                </a:solidFill>
                <a:latin typeface="Calibri" pitchFamily="34" charset="0"/>
              </a:rPr>
              <a:t>Inconsistent member experience </a:t>
            </a:r>
            <a:r>
              <a:rPr lang="en-US" sz="1500" dirty="0" b="0">
                <a:solidFill>
                  <a:srgbClr val="5A4636"/>
                </a:solidFill>
                <a:latin typeface="Calibri" pitchFamily="34" charset="0"/>
              </a:rPr>
              <a:t>from one channel to the next.</a:t>
            </a:r>
          </a:p>
          <a:p>
            <a:pPr marL="0" indent="0" algn="l">
              <a:spcAft>
                <a:spcPts val="700"/>
              </a:spcAft>
              <a:buNone/>
            </a:pPr>
            <a:r>
              <a:rPr lang="en-US" sz="1500" dirty="0" b="1">
                <a:solidFill>
                  <a:srgbClr val="7A3E10"/>
                </a:solidFill>
                <a:latin typeface="Calibri" pitchFamily="34" charset="0"/>
              </a:rPr>
              <a:t>Growing demand </a:t>
            </a:r>
            <a:r>
              <a:rPr lang="en-US" sz="1500" dirty="0" b="0">
                <a:solidFill>
                  <a:srgbClr val="5A4636"/>
                </a:solidFill>
                <a:latin typeface="Calibri" pitchFamily="34" charset="0"/>
              </a:rPr>
              <a:t>for digital self-service.</a:t>
            </a:r>
          </a:p>
        </p:txBody>
      </p:sp>
      <p:sp>
        <p:nvSpPr>
          <p:cNvPr id="12" name="Shape 12"/>
          <p:cNvSpPr/>
          <p:nvPr/>
        </p:nvSpPr>
        <p:spPr>
          <a:xfrm>
            <a:off x="640080" y="5029200"/>
            <a:ext cx="10908792" cy="1280160"/>
          </a:xfrm>
          <a:prstGeom prst="roundRect">
            <a:avLst>
              <a:gd name="adj" fmla="val 2273"/>
            </a:avLst>
          </a:prstGeom>
          <a:solidFill>
            <a:srgbClr val="FBE3C2"/>
          </a:solidFill>
          <a:ln/>
        </p:spPr>
        <p:txBody>
          <a:bodyPr/>
          <a:lstStyle/>
          <a:p>
            <a:endParaRPr lang="en-US"/>
          </a:p>
        </p:txBody>
      </p:sp>
      <p:sp>
        <p:nvSpPr>
          <p:cNvPr id="13" name="Label 13"/>
          <p:cNvSpPr txBox="1"/>
          <p:nvPr/>
        </p:nvSpPr>
        <p:spPr>
          <a:xfrm>
            <a:off x="1005840" y="5166360"/>
            <a:ext cx="6000000" cy="228600"/>
          </a:xfrm>
          <a:prstGeom prst="rect">
            <a:avLst/>
          </a:prstGeom>
          <a:noFill/>
          <a:ln/>
        </p:spPr>
        <p:txBody>
          <a:bodyPr wrap="square" lIns="0" tIns="0" rIns="0" bIns="0" rtlCol="0" anchor="ctr"/>
          <a:lstStyle/>
          <a:p>
            <a:pPr marL="0" indent="0" algn="l">
              <a:spcAft>
                <a:spcPts val="0"/>
              </a:spcAft>
              <a:buNone/>
            </a:pPr>
            <a:r>
              <a:rPr lang="en-US" sz="1100" b="1" dirty="0">
                <a:solidFill>
                  <a:srgbClr val="7A3E10"/>
                </a:solidFill>
                <a:latin typeface="Calibri" pitchFamily="34" charset="0"/>
              </a:rPr>
              <a:t>THE LEADERSHIP QUESTION</a:t>
            </a:r>
          </a:p>
        </p:txBody>
      </p:sp>
      <p:sp>
        <p:nvSpPr>
          <p:cNvPr id="14" name="Text 14"/>
          <p:cNvSpPr txBox="1"/>
          <p:nvPr/>
        </p:nvSpPr>
        <p:spPr>
          <a:xfrm>
            <a:off x="1005840" y="5486400"/>
            <a:ext cx="10177272" cy="731520"/>
          </a:xfrm>
          <a:prstGeom prst="rect">
            <a:avLst/>
          </a:prstGeom>
          <a:noFill/>
          <a:ln/>
        </p:spPr>
        <p:txBody>
          <a:bodyPr wrap="square" lIns="0" tIns="0" rIns="0" bIns="0" rtlCol="0" anchor="t"/>
          <a:lstStyle/>
          <a:p>
            <a:pPr marL="0" indent="0" algn="l">
              <a:spcAft>
                <a:spcPts val="0"/>
              </a:spcAft>
              <a:buNone/>
            </a:pPr>
            <a:r>
              <a:rPr lang="en-US" sz="1900" b="1" dirty="0">
                <a:solidFill>
                  <a:srgbClr val="7A3E10"/>
                </a:solidFill>
                <a:latin typeface="Calibri" pitchFamily="34" charset="0"/>
              </a:rPr>
              <a:t>Which operational improvements and AI-enabled capabilities will most improve member satisfaction while reducing service costs and escalations?</a:t>
            </a:r>
          </a:p>
        </p:txBody>
      </p:sp>
      <p:sp>
        <p:nvSpPr>
          <p:cNvPr id="15" name="Shape 9b"/>
          <p:cNvSpPr/>
          <p:nvPr/>
        </p:nvSpPr>
        <p:spPr>
          <a:xfrm>
            <a:off x="6263640" y="2103120"/>
            <a:ext cx="5285232" cy="2697480"/>
          </a:xfrm>
          <a:prstGeom prst="roundRect">
            <a:avLst>
              <a:gd name="adj" fmla="val 2273"/>
            </a:avLst>
          </a:prstGeom>
          <a:solidFill>
            <a:srgbClr val="FFF6EA"/>
          </a:solidFill>
          <a:ln/>
        </p:spPr>
        <p:txBody>
          <a:bodyPr/>
          <a:lstStyle/>
          <a:p>
            <a:endParaRPr lang="en-US"/>
          </a:p>
        </p:txBody>
      </p:sp>
      <p:sp>
        <p:nvSpPr>
          <p:cNvPr id="16" name="Label 10b"/>
          <p:cNvSpPr txBox="1"/>
          <p:nvPr/>
        </p:nvSpPr>
        <p:spPr>
          <a:xfrm>
            <a:off x="6537960" y="2286000"/>
            <a:ext cx="4754880" cy="228600"/>
          </a:xfrm>
          <a:prstGeom prst="rect">
            <a:avLst/>
          </a:prstGeom>
          <a:noFill/>
          <a:ln/>
        </p:spPr>
        <p:txBody>
          <a:bodyPr wrap="square" lIns="0" tIns="0" rIns="0" bIns="0" rtlCol="0" anchor="ctr"/>
          <a:lstStyle/>
          <a:p>
            <a:pPr marL="0" indent="0" algn="l">
              <a:spcAft>
                <a:spcPts val="0"/>
              </a:spcAft>
              <a:buNone/>
            </a:pPr>
            <a:r>
              <a:rPr lang="en-US" sz="1100" b="1" dirty="0">
                <a:solidFill>
                  <a:srgbClr val="E8871E"/>
                </a:solidFill>
                <a:latin typeface="Calibri" pitchFamily="34" charset="0"/>
              </a:rPr>
              <a:t>HOW WE ARE SOLVING IT</a:t>
            </a:r>
          </a:p>
        </p:txBody>
      </p:sp>
      <p:sp>
        <p:nvSpPr>
          <p:cNvPr id="17" name="Text 11b"/>
          <p:cNvSpPr txBox="1"/>
          <p:nvPr/>
        </p:nvSpPr>
        <p:spPr>
          <a:xfrm>
            <a:off x="6537960" y="2651760"/>
            <a:ext cx="4754880" cy="2011680"/>
          </a:xfrm>
          <a:prstGeom prst="rect">
            <a:avLst/>
          </a:prstGeom>
          <a:noFill/>
          <a:ln/>
        </p:spPr>
        <p:txBody>
          <a:bodyPr wrap="square" lIns="0" tIns="0" rIns="0" bIns="0" rtlCol="0" anchor="t"/>
          <a:lstStyle/>
          <a:p>
            <a:pPr marL="0" indent="0" algn="l">
              <a:spcAft>
                <a:spcPts val="700"/>
              </a:spcAft>
              <a:buNone/>
            </a:pPr>
            <a:r>
              <a:rPr lang="en-US" sz="1500" dirty="0" b="1">
                <a:solidFill>
                  <a:srgbClr val="7A3E10"/>
                </a:solidFill>
                <a:latin typeface="Calibri" pitchFamily="34" charset="0"/>
              </a:rPr>
              <a:t>One unified analytics platform that:</a:t>
            </a:r>
          </a:p>
          <a:p>
            <a:pPr marL="0" indent="0" algn="l">
              <a:spcAft>
                <a:spcPts val="700"/>
              </a:spcAft>
              <a:buNone/>
            </a:pPr>
            <a:r>
              <a:rPr lang="en-US" sz="1500" dirty="0" b="0">
                <a:solidFill>
                  <a:srgbClr val="5A4636"/>
                </a:solidFill>
                <a:latin typeface="Calibri" pitchFamily="34" charset="0"/>
              </a:rPr>
              <a:t>Predicts which interactions will escalate</a:t>
            </a:r>
          </a:p>
          <a:p>
            <a:pPr marL="0" indent="0" algn="l">
              <a:spcAft>
                <a:spcPts val="700"/>
              </a:spcAft>
              <a:buNone/>
            </a:pPr>
            <a:r>
              <a:rPr lang="en-US" sz="1500" dirty="0" b="0">
                <a:solidFill>
                  <a:srgbClr val="5A4636"/>
                </a:solidFill>
                <a:latin typeface="Calibri" pitchFamily="34" charset="0"/>
              </a:rPr>
              <a:t>Explains what drives dissatisfaction</a:t>
            </a:r>
          </a:p>
          <a:p>
            <a:pPr marL="0" indent="0" algn="l">
              <a:spcAft>
                <a:spcPts val="700"/>
              </a:spcAft>
              <a:buNone/>
            </a:pPr>
            <a:r>
              <a:rPr lang="en-US" sz="1500" dirty="0" b="0">
                <a:solidFill>
                  <a:srgbClr val="5A4636"/>
                </a:solidFill>
                <a:latin typeface="Calibri" pitchFamily="34" charset="0"/>
              </a:rPr>
              <a:t>Groups members by behaviour</a:t>
            </a:r>
          </a:p>
          <a:p>
            <a:pPr marL="0" indent="0" algn="l">
              <a:spcAft>
                <a:spcPts val="700"/>
              </a:spcAft>
              <a:buNone/>
            </a:pPr>
            <a:r>
              <a:rPr lang="en-US" sz="1500" dirty="0" b="0">
                <a:solidFill>
                  <a:srgbClr val="5A4636"/>
                </a:solidFill>
                <a:latin typeface="Calibri" pitchFamily="34" charset="0"/>
              </a:rPr>
              <a:t>Reads transcripts and feedback at scale</a:t>
            </a:r>
          </a:p>
          <a:p>
            <a:pPr marL="0" indent="0" algn="l">
              <a:spcAft>
                <a:spcPts val="700"/>
              </a:spcAft>
              <a:buNone/>
            </a:pPr>
            <a:r>
              <a:rPr lang="en-US" sz="1500" dirty="0" b="0">
                <a:solidFill>
                  <a:srgbClr val="5A4636"/>
                </a:solidFill>
                <a:latin typeface="Calibri" pitchFamily="34" charset="0"/>
              </a:rPr>
              <a:t>Adds an AI Care Navigation Assistant and executive dashboards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691640"/>
          </a:xfrm>
          <a:prstGeom prst="rect">
            <a:avLst/>
          </a:prstGeom>
          <a:solidFill>
            <a:srgbClr val="FBE3C2"/>
          </a:solidFill>
          <a:ln/>
        </p:spPr>
        <p:txBody>
          <a:bodyPr/>
          <a:lstStyle/>
          <a:p>
            <a:endParaRPr lang="en-US"/>
          </a:p>
        </p:txBody>
      </p:sp>
      <p:sp>
        <p:nvSpPr>
          <p:cNvPr id="3" name="Shape 1"/>
          <p:cNvSpPr>
            <a:spLocks/>
          </p:cNvSpPr>
          <p:nvPr/>
        </p:nvSpPr>
        <p:spPr>
          <a:xfrm>
            <a:off x="0" y="1691640"/>
            <a:ext cx="12188952" cy="64008"/>
          </a:xfrm>
          <a:prstGeom prst="rect">
            <a:avLst/>
          </a:prstGeom>
          <a:solidFill>
            <a:srgbClr val="E8871E"/>
          </a:solidFill>
          <a:ln/>
        </p:spPr>
        <p:txBody>
          <a:bodyPr/>
          <a:lstStyle/>
          <a:p>
            <a:endParaRPr lang="en-US"/>
          </a:p>
        </p:txBody>
      </p:sp>
      <p:pic>
        <p:nvPicPr>
          <p:cNvPr id="4" name="Image 0" descr="/home/claude/capstone_template/eta_logo.png"/>
          <p:cNvPicPr>
            <a:picLocks noChangeAspect="1"/>
          </p:cNvPicPr>
          <p:nvPr/>
        </p:nvPicPr>
        <p:blipFill>
          <a:blip r:embed="rId3"/>
          <a:stretch>
            <a:fillRect/>
          </a:stretch>
        </p:blipFill>
        <p:spPr>
          <a:xfrm>
            <a:off x="548640" y="448056"/>
            <a:ext cx="1554480" cy="186423"/>
          </a:xfrm>
          <a:prstGeom prst="rect">
            <a:avLst/>
          </a:prstGeom>
        </p:spPr>
      </p:pic>
      <p:pic>
        <p:nvPicPr>
          <p:cNvPr id="5" name="Image 1" descr="/home/claude/capstone_template/wingspan_logo.png"/>
          <p:cNvPicPr>
            <a:picLocks noChangeAspect="1"/>
          </p:cNvPicPr>
          <p:nvPr/>
        </p:nvPicPr>
        <p:blipFill>
          <a:blip r:embed="rId4"/>
          <a:stretch>
            <a:fillRect/>
          </a:stretch>
        </p:blipFill>
        <p:spPr>
          <a:xfrm>
            <a:off x="11116818" y="349243"/>
            <a:ext cx="432054" cy="384048"/>
          </a:xfrm>
          <a:prstGeom prst="rect">
            <a:avLst/>
          </a:prstGeom>
        </p:spPr>
      </p:pic>
      <p:sp>
        <p:nvSpPr>
          <p:cNvPr id="6" name="Text 2"/>
          <p:cNvSpPr txBox="1"/>
          <p:nvPr/>
        </p:nvSpPr>
        <p:spPr>
          <a:xfrm>
            <a:off x="2606040" y="384048"/>
            <a:ext cx="7916418" cy="274320"/>
          </a:xfrm>
          <a:prstGeom prst="rect">
            <a:avLst/>
          </a:prstGeom>
          <a:noFill/>
          <a:ln/>
        </p:spPr>
        <p:txBody>
          <a:bodyPr wrap="square" lIns="0" tIns="0" rIns="0" bIns="0" rtlCol="0" anchor="ctr"/>
          <a:lstStyle/>
          <a:p>
            <a:pPr marL="0" indent="0" algn="l">
              <a:buNone/>
            </a:pPr>
            <a:r>
              <a:rPr lang="en-US" sz="1100" b="1" kern="0" spc="200" dirty="0">
                <a:solidFill>
                  <a:srgbClr val="E8871E"/>
                </a:solidFill>
                <a:latin typeface="Calibri" pitchFamily="34" charset="0"/>
                <a:ea typeface="Calibri" pitchFamily="34" charset="-122"/>
                <a:cs typeface="Calibri" pitchFamily="34" charset="-120"/>
              </a:rPr>
              <a:t>SECTION 03</a:t>
            </a:r>
            <a:endParaRPr lang="en-US" sz="1100" dirty="0"/>
          </a:p>
        </p:txBody>
      </p:sp>
      <p:sp>
        <p:nvSpPr>
          <p:cNvPr id="7" name="Text 3"/>
          <p:cNvSpPr txBox="1"/>
          <p:nvPr/>
        </p:nvSpPr>
        <p:spPr>
          <a:xfrm>
            <a:off x="2606040" y="685800"/>
            <a:ext cx="7916418" cy="914400"/>
          </a:xfrm>
          <a:prstGeom prst="rect">
            <a:avLst/>
          </a:prstGeom>
          <a:noFill/>
          <a:ln/>
        </p:spPr>
        <p:txBody>
          <a:bodyPr wrap="square" lIns="0" tIns="0" rIns="0" bIns="0" rtlCol="0" anchor="t"/>
          <a:lstStyle/>
          <a:p>
            <a:pPr marL="0" indent="0" algn="l">
              <a:buNone/>
            </a:pPr>
            <a:r>
              <a:rPr lang="en-US" sz="2600" b="1" dirty="0">
                <a:solidFill>
                  <a:srgbClr val="7A3E10"/>
                </a:solidFill>
                <a:latin typeface="Calibri" pitchFamily="34" charset="0"/>
                <a:ea typeface="Calibri" pitchFamily="34" charset="-122"/>
                <a:cs typeface="Calibri" pitchFamily="34" charset="-120"/>
              </a:rPr>
              <a:t>Data Sources &amp; Architecture</a:t>
            </a:r>
            <a:endParaRPr lang="en-US" sz="2600" dirty="0"/>
          </a:p>
        </p:txBody>
      </p:sp>
      <p:sp>
        <p:nvSpPr>
          <p:cNvPr id="8" name="Text 4"/>
          <p:cNvSpPr txBox="1"/>
          <p:nvPr/>
        </p:nvSpPr>
        <p:spPr>
          <a:xfrm>
            <a:off x="11274552" y="1307592"/>
            <a:ext cx="548640" cy="320040"/>
          </a:xfrm>
          <a:prstGeom prst="rect">
            <a:avLst/>
          </a:prstGeom>
          <a:noFill/>
          <a:ln/>
        </p:spPr>
        <p:txBody>
          <a:bodyPr wrap="square" lIns="0" tIns="0" rIns="0" bIns="0" rtlCol="0" anchor="ctr"/>
          <a:lstStyle/>
          <a:p>
            <a:pPr marL="0" indent="0" algn="r">
              <a:buNone/>
            </a:pPr>
            <a:r>
              <a:rPr lang="en-US" sz="1100" b="1" dirty="0">
                <a:solidFill>
                  <a:srgbClr val="9C7A4E"/>
                </a:solidFill>
                <a:latin typeface="Calibri" pitchFamily="34" charset="0"/>
                <a:ea typeface="Calibri" pitchFamily="34" charset="-122"/>
                <a:cs typeface="Calibri" pitchFamily="34" charset="-120"/>
              </a:rPr>
              <a:t>04</a:t>
            </a:r>
            <a:endParaRPr lang="en-US" sz="1100" dirty="0"/>
          </a:p>
        </p:txBody>
      </p:sp>
      <p:sp>
        <p:nvSpPr>
          <p:cNvPr id="9" name="Shape 9"/>
          <p:cNvSpPr/>
          <p:nvPr/>
        </p:nvSpPr>
        <p:spPr>
          <a:xfrm>
            <a:off x="640080" y="2194560"/>
            <a:ext cx="5029200" cy="4023360"/>
          </a:xfrm>
          <a:prstGeom prst="roundRect">
            <a:avLst>
              <a:gd name="adj" fmla="val 2273"/>
            </a:avLst>
          </a:prstGeom>
          <a:solidFill>
            <a:srgbClr val="FFF6EA"/>
          </a:solidFill>
          <a:ln/>
        </p:spPr>
        <p:txBody>
          <a:bodyPr/>
          <a:lstStyle/>
          <a:p>
            <a:endParaRPr lang="en-US"/>
          </a:p>
        </p:txBody>
      </p:sp>
      <p:sp>
        <p:nvSpPr>
          <p:cNvPr id="10" name="Label 10"/>
          <p:cNvSpPr txBox="1"/>
          <p:nvPr/>
        </p:nvSpPr>
        <p:spPr>
          <a:xfrm>
            <a:off x="960120" y="2331720"/>
            <a:ext cx="4300000" cy="228600"/>
          </a:xfrm>
          <a:prstGeom prst="rect">
            <a:avLst/>
          </a:prstGeom>
          <a:noFill/>
          <a:ln/>
        </p:spPr>
        <p:txBody>
          <a:bodyPr wrap="square" lIns="0" tIns="0" rIns="0" bIns="0" rtlCol="0" anchor="ctr"/>
          <a:lstStyle/>
          <a:p>
            <a:pPr marL="0" indent="0" algn="l">
              <a:spcAft>
                <a:spcPts val="0"/>
              </a:spcAft>
              <a:buNone/>
            </a:pPr>
            <a:r>
              <a:rPr lang="en-US" sz="1100" b="1" dirty="0">
                <a:solidFill>
                  <a:srgbClr val="E8871E"/>
                </a:solidFill>
                <a:latin typeface="Calibri" pitchFamily="34" charset="0"/>
              </a:rPr>
              <a:t>DATA SOURCES (5 DATASETS)</a:t>
            </a:r>
          </a:p>
        </p:txBody>
      </p:sp>
      <p:sp>
        <p:nvSpPr>
          <p:cNvPr id="11" name="Shape 11"/>
          <p:cNvSpPr/>
          <p:nvPr/>
        </p:nvSpPr>
        <p:spPr>
          <a:xfrm>
            <a:off x="960120" y="2752344"/>
            <a:ext cx="128016" cy="128016"/>
          </a:xfrm>
          <a:prstGeom prst="ellipse">
            <a:avLst/>
          </a:prstGeom>
          <a:solidFill>
            <a:srgbClr val="E8871E"/>
          </a:solidFill>
          <a:ln/>
        </p:spPr>
      </p:sp>
      <p:sp>
        <p:nvSpPr>
          <p:cNvPr id="12" name="Text 12"/>
          <p:cNvSpPr txBox="1"/>
          <p:nvPr/>
        </p:nvSpPr>
        <p:spPr>
          <a:xfrm>
            <a:off x="1234440" y="2697480"/>
            <a:ext cx="4297680" cy="640080"/>
          </a:xfrm>
          <a:prstGeom prst="rect">
            <a:avLst/>
          </a:prstGeom>
          <a:noFill/>
          <a:ln/>
        </p:spPr>
        <p:txBody>
          <a:bodyPr wrap="square" lIns="0" tIns="0" rIns="0" bIns="0" rtlCol="0" anchor="t"/>
          <a:lstStyle/>
          <a:p>
            <a:pPr marL="0" indent="0" algn="l">
              <a:spcAft>
                <a:spcPts val="0"/>
              </a:spcAft>
              <a:buNone/>
            </a:pPr>
            <a:r>
              <a:rPr lang="en-US" sz="1400" b="1" dirty="0">
                <a:solidFill>
                  <a:srgbClr val="7A3E10"/>
                </a:solidFill>
                <a:latin typeface="Calibri" pitchFamily="34" charset="0"/>
              </a:rPr>
              <a:t>Member Profile</a:t>
            </a:r>
          </a:p>
          <a:p>
            <a:pPr marL="0" indent="0" algn="l">
              <a:spcAft>
                <a:spcPts val="0"/>
              </a:spcAft>
              <a:buNone/>
            </a:pPr>
            <a:r>
              <a:rPr lang="en-US" sz="1200" dirty="0">
                <a:solidFill>
                  <a:srgbClr val="5A4636"/>
                </a:solidFill>
                <a:latin typeface="Calibri" pitchFamily="34" charset="0"/>
              </a:rPr>
              <a:t>Age, plan type, region</a:t>
            </a:r>
          </a:p>
        </p:txBody>
      </p:sp>
      <p:sp>
        <p:nvSpPr>
          <p:cNvPr id="13" name="Shape 13"/>
          <p:cNvSpPr/>
          <p:nvPr/>
        </p:nvSpPr>
        <p:spPr>
          <a:xfrm>
            <a:off x="960120" y="3410712"/>
            <a:ext cx="128016" cy="128016"/>
          </a:xfrm>
          <a:prstGeom prst="ellipse">
            <a:avLst/>
          </a:prstGeom>
          <a:solidFill>
            <a:srgbClr val="E8871E"/>
          </a:solidFill>
          <a:ln/>
        </p:spPr>
      </p:sp>
      <p:sp>
        <p:nvSpPr>
          <p:cNvPr id="14" name="Text 14"/>
          <p:cNvSpPr txBox="1"/>
          <p:nvPr/>
        </p:nvSpPr>
        <p:spPr>
          <a:xfrm>
            <a:off x="1234440" y="3355848"/>
            <a:ext cx="4297680" cy="640080"/>
          </a:xfrm>
          <a:prstGeom prst="rect">
            <a:avLst/>
          </a:prstGeom>
          <a:noFill/>
          <a:ln/>
        </p:spPr>
        <p:txBody>
          <a:bodyPr wrap="square" lIns="0" tIns="0" rIns="0" bIns="0" rtlCol="0" anchor="t"/>
          <a:lstStyle/>
          <a:p>
            <a:pPr marL="0" indent="0" algn="l">
              <a:spcAft>
                <a:spcPts val="0"/>
              </a:spcAft>
              <a:buNone/>
            </a:pPr>
            <a:r>
              <a:rPr lang="en-US" sz="1400" b="1" dirty="0">
                <a:solidFill>
                  <a:srgbClr val="7A3E10"/>
                </a:solidFill>
                <a:latin typeface="Calibri" pitchFamily="34" charset="0"/>
              </a:rPr>
              <a:t>Interaction History</a:t>
            </a:r>
          </a:p>
          <a:p>
            <a:pPr marL="0" indent="0" algn="l">
              <a:spcAft>
                <a:spcPts val="0"/>
              </a:spcAft>
              <a:buNone/>
            </a:pPr>
            <a:r>
              <a:rPr lang="en-US" sz="1200" dirty="0">
                <a:solidFill>
                  <a:srgbClr val="5A4636"/>
                </a:solidFill>
                <a:latin typeface="Calibri" pitchFamily="34" charset="0"/>
              </a:rPr>
              <a:t>Channel, date, reason, total contacts</a:t>
            </a:r>
          </a:p>
        </p:txBody>
      </p:sp>
      <p:sp>
        <p:nvSpPr>
          <p:cNvPr id="15" name="Shape 15"/>
          <p:cNvSpPr/>
          <p:nvPr/>
        </p:nvSpPr>
        <p:spPr>
          <a:xfrm>
            <a:off x="960120" y="4069080"/>
            <a:ext cx="128016" cy="128016"/>
          </a:xfrm>
          <a:prstGeom prst="ellipse">
            <a:avLst/>
          </a:prstGeom>
          <a:solidFill>
            <a:srgbClr val="E8871E"/>
          </a:solidFill>
          <a:ln/>
        </p:spPr>
      </p:sp>
      <p:sp>
        <p:nvSpPr>
          <p:cNvPr id="16" name="Text 16"/>
          <p:cNvSpPr txBox="1"/>
          <p:nvPr/>
        </p:nvSpPr>
        <p:spPr>
          <a:xfrm>
            <a:off x="1234440" y="4014216"/>
            <a:ext cx="4297680" cy="640080"/>
          </a:xfrm>
          <a:prstGeom prst="rect">
            <a:avLst/>
          </a:prstGeom>
          <a:noFill/>
          <a:ln/>
        </p:spPr>
        <p:txBody>
          <a:bodyPr wrap="square" lIns="0" tIns="0" rIns="0" bIns="0" rtlCol="0" anchor="t"/>
          <a:lstStyle/>
          <a:p>
            <a:pPr marL="0" indent="0" algn="l">
              <a:spcAft>
                <a:spcPts val="0"/>
              </a:spcAft>
              <a:buNone/>
            </a:pPr>
            <a:r>
              <a:rPr lang="en-US" sz="1400" b="1" dirty="0">
                <a:solidFill>
                  <a:srgbClr val="7A3E10"/>
                </a:solidFill>
                <a:latin typeface="Calibri" pitchFamily="34" charset="0"/>
              </a:rPr>
              <a:t>Service Performance</a:t>
            </a:r>
          </a:p>
          <a:p>
            <a:pPr marL="0" indent="0" algn="l">
              <a:spcAft>
                <a:spcPts val="0"/>
              </a:spcAft>
              <a:buNone/>
            </a:pPr>
            <a:r>
              <a:rPr lang="en-US" sz="1200" dirty="0">
                <a:solidFill>
                  <a:srgbClr val="5A4636"/>
                </a:solidFill>
                <a:latin typeface="Calibri" pitchFamily="34" charset="0"/>
              </a:rPr>
              <a:t>Resolution time, escalation, satisfaction, FCR</a:t>
            </a:r>
          </a:p>
        </p:txBody>
      </p:sp>
      <p:sp>
        <p:nvSpPr>
          <p:cNvPr id="17" name="Shape 17"/>
          <p:cNvSpPr/>
          <p:nvPr/>
        </p:nvSpPr>
        <p:spPr>
          <a:xfrm>
            <a:off x="960120" y="4727448"/>
            <a:ext cx="128016" cy="128016"/>
          </a:xfrm>
          <a:prstGeom prst="ellipse">
            <a:avLst/>
          </a:prstGeom>
          <a:solidFill>
            <a:srgbClr val="E8871E"/>
          </a:solidFill>
          <a:ln/>
        </p:spPr>
      </p:sp>
      <p:sp>
        <p:nvSpPr>
          <p:cNvPr id="18" name="Text 18"/>
          <p:cNvSpPr txBox="1"/>
          <p:nvPr/>
        </p:nvSpPr>
        <p:spPr>
          <a:xfrm>
            <a:off x="1234440" y="4672584"/>
            <a:ext cx="4297680" cy="640080"/>
          </a:xfrm>
          <a:prstGeom prst="rect">
            <a:avLst/>
          </a:prstGeom>
          <a:noFill/>
          <a:ln/>
        </p:spPr>
        <p:txBody>
          <a:bodyPr wrap="square" lIns="0" tIns="0" rIns="0" bIns="0" rtlCol="0" anchor="t"/>
          <a:lstStyle/>
          <a:p>
            <a:pPr marL="0" indent="0" algn="l">
              <a:spcAft>
                <a:spcPts val="0"/>
              </a:spcAft>
              <a:buNone/>
            </a:pPr>
            <a:r>
              <a:rPr lang="en-US" sz="1400" b="1" dirty="0">
                <a:solidFill>
                  <a:srgbClr val="7A3E10"/>
                </a:solidFill>
                <a:latin typeface="Calibri" pitchFamily="34" charset="0"/>
              </a:rPr>
              <a:t>Operations Data</a:t>
            </a:r>
          </a:p>
          <a:p>
            <a:pPr marL="0" indent="0" algn="l">
              <a:spcAft>
                <a:spcPts val="0"/>
              </a:spcAft>
              <a:buNone/>
            </a:pPr>
            <a:r>
              <a:rPr lang="en-US" sz="1200" dirty="0">
                <a:solidFill>
                  <a:srgbClr val="5A4636"/>
                </a:solidFill>
                <a:latin typeface="Calibri" pitchFamily="34" charset="0"/>
              </a:rPr>
              <a:t>Agent, queue, department, shift</a:t>
            </a:r>
          </a:p>
        </p:txBody>
      </p:sp>
      <p:sp>
        <p:nvSpPr>
          <p:cNvPr id="19" name="Shape 19"/>
          <p:cNvSpPr/>
          <p:nvPr/>
        </p:nvSpPr>
        <p:spPr>
          <a:xfrm>
            <a:off x="960120" y="5385816"/>
            <a:ext cx="128016" cy="128016"/>
          </a:xfrm>
          <a:prstGeom prst="ellipse">
            <a:avLst/>
          </a:prstGeom>
          <a:solidFill>
            <a:srgbClr val="E8871E"/>
          </a:solidFill>
          <a:ln/>
        </p:spPr>
      </p:sp>
      <p:sp>
        <p:nvSpPr>
          <p:cNvPr id="20" name="Text 20"/>
          <p:cNvSpPr txBox="1"/>
          <p:nvPr/>
        </p:nvSpPr>
        <p:spPr>
          <a:xfrm>
            <a:off x="1234440" y="5330952"/>
            <a:ext cx="4297680" cy="640080"/>
          </a:xfrm>
          <a:prstGeom prst="rect">
            <a:avLst/>
          </a:prstGeom>
          <a:noFill/>
          <a:ln/>
        </p:spPr>
        <p:txBody>
          <a:bodyPr wrap="square" lIns="0" tIns="0" rIns="0" bIns="0" rtlCol="0" anchor="t"/>
          <a:lstStyle/>
          <a:p>
            <a:pPr marL="0" indent="0" algn="l">
              <a:spcAft>
                <a:spcPts val="0"/>
              </a:spcAft>
              <a:buNone/>
            </a:pPr>
            <a:r>
              <a:rPr lang="en-US" sz="1400" b="1" dirty="0">
                <a:solidFill>
                  <a:srgbClr val="7A3E10"/>
                </a:solidFill>
                <a:latin typeface="Calibri" pitchFamily="34" charset="0"/>
              </a:rPr>
              <a:t>Transcript Data</a:t>
            </a:r>
          </a:p>
          <a:p>
            <a:pPr marL="0" indent="0" algn="l">
              <a:spcAft>
                <a:spcPts val="0"/>
              </a:spcAft>
              <a:buNone/>
            </a:pPr>
            <a:r>
              <a:rPr lang="en-US" sz="1200" dirty="0">
                <a:solidFill>
                  <a:srgbClr val="5A4636"/>
                </a:solidFill>
                <a:latin typeface="Calibri" pitchFamily="34" charset="0"/>
              </a:rPr>
              <a:t>Call and chat transcripts, feedback comments</a:t>
            </a:r>
          </a:p>
        </p:txBody>
      </p:sp>
      <p:sp>
        <p:nvSpPr>
          <p:cNvPr id="21" name="Shape 21"/>
          <p:cNvSpPr/>
          <p:nvPr/>
        </p:nvSpPr>
        <p:spPr>
          <a:xfrm>
            <a:off x="5852160" y="2194560"/>
            <a:ext cx="5696712" cy="4023360"/>
          </a:xfrm>
          <a:prstGeom prst="roundRect">
            <a:avLst>
              <a:gd name="adj" fmla="val 2273"/>
            </a:avLst>
          </a:prstGeom>
          <a:solidFill>
            <a:srgbClr val="FFF6EA"/>
          </a:solidFill>
          <a:ln w="15875">
            <a:solidFill>
              <a:srgbClr val="F0DCC0"/>
            </a:solidFill>
            <a:prstDash val="dash"/>
          </a:ln>
        </p:spPr>
        <p:txBody>
          <a:bodyPr/>
          <a:lstStyle/>
          <a:p>
            <a:endParaRPr lang="en-US"/>
          </a:p>
        </p:txBody>
      </p:sp>
      <p:sp>
        <p:nvSpPr>
          <p:cNvPr id="22" name="Arch label"/>
          <p:cNvSpPr txBox="1"/>
          <p:nvPr/>
        </p:nvSpPr>
        <p:spPr>
          <a:xfrm>
            <a:off x="6080760" y="2286000"/>
            <a:ext cx="5303520" cy="228600"/>
          </a:xfrm>
          <a:prstGeom prst="rect">
            <a:avLst/>
          </a:prstGeom>
          <a:noFill/>
        </p:spPr>
        <p:txBody>
          <a:bodyPr wrap="square" lIns="0" rIns="0" tIns="0" bIns="0" anchor="t">
            <a:spAutoFit/>
          </a:bodyPr>
          <a:lstStyle/>
          <a:p>
            <a:pPr algn="l"/>
            <a:r>
              <a:rPr sz="1100" b="1">
                <a:solidFill>
                  <a:srgbClr val="E8871E"/>
                </a:solidFill>
                <a:latin typeface="Calibri"/>
              </a:rPr>
              <a:t>END-TO-END ARCHITECTURE</a:t>
            </a:r>
          </a:p>
        </p:txBody>
      </p:sp>
      <p:sp>
        <p:nvSpPr>
          <p:cNvPr id="23" name="Arch box 1"/>
          <p:cNvSpPr/>
          <p:nvPr/>
        </p:nvSpPr>
        <p:spPr>
          <a:xfrm>
            <a:off x="6217920" y="2606040"/>
            <a:ext cx="5422392" cy="457200"/>
          </a:xfrm>
          <a:prstGeom prst="roundRect">
            <a:avLst>
              <a:gd name="adj" fmla="val 12000"/>
            </a:avLst>
          </a:prstGeom>
          <a:solidFill>
            <a:srgbClr val="FFFFFF"/>
          </a:solidFill>
          <a:ln w="15875">
            <a:solidFill>
              <a:srgbClr val="E8871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7A3E10"/>
                </a:solidFill>
                <a:latin typeface="Calibri"/>
              </a:rPr>
              <a:t>Raw sources: 5 CSVs</a:t>
            </a:r>
          </a:p>
          <a:p>
            <a:pPr algn="ctr"/>
            <a:r>
              <a:rPr sz="1100" b="0">
                <a:solidFill>
                  <a:srgbClr val="7A3E10"/>
                </a:solidFill>
                <a:latin typeface="Calibri"/>
              </a:rPr>
              <a:t>10,000 interactions · 2,621 members · 250 agents</a:t>
            </a:r>
          </a:p>
        </p:txBody>
      </p:sp>
      <p:sp>
        <p:nvSpPr>
          <p:cNvPr id="24" name="Down Arrow 23"/>
          <p:cNvSpPr/>
          <p:nvPr/>
        </p:nvSpPr>
        <p:spPr>
          <a:xfrm>
            <a:off x="8823960" y="3090672"/>
            <a:ext cx="201168" cy="128016"/>
          </a:xfrm>
          <a:prstGeom prst="downArrow">
            <a:avLst/>
          </a:prstGeom>
          <a:solidFill>
            <a:srgbClr val="A38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rch box 2"/>
          <p:cNvSpPr/>
          <p:nvPr/>
        </p:nvSpPr>
        <p:spPr>
          <a:xfrm>
            <a:off x="6217920" y="3218688"/>
            <a:ext cx="5422392" cy="457200"/>
          </a:xfrm>
          <a:prstGeom prst="roundRect">
            <a:avLst>
              <a:gd name="adj" fmla="val 12000"/>
            </a:avLst>
          </a:prstGeom>
          <a:solidFill>
            <a:srgbClr val="FFFFFF"/>
          </a:solidFill>
          <a:ln w="15875">
            <a:solidFill>
              <a:srgbClr val="E8871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7A3E10"/>
                </a:solidFill>
                <a:latin typeface="Calibri"/>
              </a:rPr>
              <a:t>Data integration</a:t>
            </a:r>
          </a:p>
          <a:p>
            <a:pPr algn="ctr"/>
            <a:r>
              <a:rPr sz="1100" b="0">
                <a:solidFill>
                  <a:srgbClr val="7A3E10"/>
                </a:solidFill>
                <a:latin typeface="Calibri"/>
              </a:rPr>
              <a:t>Key integrity validated 100% · channels standardised</a:t>
            </a:r>
          </a:p>
        </p:txBody>
      </p:sp>
      <p:sp>
        <p:nvSpPr>
          <p:cNvPr id="26" name="Down Arrow 25"/>
          <p:cNvSpPr/>
          <p:nvPr/>
        </p:nvSpPr>
        <p:spPr>
          <a:xfrm>
            <a:off x="8823960" y="3703320"/>
            <a:ext cx="201168" cy="128016"/>
          </a:xfrm>
          <a:prstGeom prst="downArrow">
            <a:avLst/>
          </a:prstGeom>
          <a:solidFill>
            <a:srgbClr val="A38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rch box 3"/>
          <p:cNvSpPr/>
          <p:nvPr/>
        </p:nvSpPr>
        <p:spPr>
          <a:xfrm>
            <a:off x="6217920" y="3831336"/>
            <a:ext cx="5422392" cy="457200"/>
          </a:xfrm>
          <a:prstGeom prst="roundRect">
            <a:avLst>
              <a:gd name="adj" fmla="val 12000"/>
            </a:avLst>
          </a:prstGeom>
          <a:solidFill>
            <a:srgbClr val="FFFFFF"/>
          </a:solidFill>
          <a:ln w="15875">
            <a:solidFill>
              <a:srgbClr val="E8871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7A3E10"/>
                </a:solidFill>
                <a:latin typeface="Calibri"/>
              </a:rPr>
              <a:t>Features, ML and NLP</a:t>
            </a:r>
          </a:p>
          <a:p>
            <a:pPr algn="ctr"/>
            <a:r>
              <a:rPr sz="1100" b="0">
                <a:solidFill>
                  <a:srgbClr val="7A3E10"/>
                </a:solidFill>
                <a:latin typeface="Calibri"/>
              </a:rPr>
              <a:t>Friction index · Logistic Reg · K-Means · 1D-CNN · LDA</a:t>
            </a:r>
          </a:p>
        </p:txBody>
      </p:sp>
      <p:sp>
        <p:nvSpPr>
          <p:cNvPr id="28" name="Down Arrow 27"/>
          <p:cNvSpPr/>
          <p:nvPr/>
        </p:nvSpPr>
        <p:spPr>
          <a:xfrm>
            <a:off x="8823960" y="4315968"/>
            <a:ext cx="201168" cy="128016"/>
          </a:xfrm>
          <a:prstGeom prst="downArrow">
            <a:avLst/>
          </a:prstGeom>
          <a:solidFill>
            <a:srgbClr val="A38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Arch box 4"/>
          <p:cNvSpPr/>
          <p:nvPr/>
        </p:nvSpPr>
        <p:spPr>
          <a:xfrm>
            <a:off x="6217920" y="4443984"/>
            <a:ext cx="5422392" cy="457200"/>
          </a:xfrm>
          <a:prstGeom prst="roundRect">
            <a:avLst>
              <a:gd name="adj" fmla="val 12000"/>
            </a:avLst>
          </a:prstGeom>
          <a:solidFill>
            <a:srgbClr val="E8871E"/>
          </a:solidFill>
          <a:ln w="15875">
            <a:solidFill>
              <a:srgbClr val="E8871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FFFFFF"/>
                </a:solidFill>
                <a:latin typeface="Calibri"/>
              </a:rPr>
              <a:t>Star schema</a:t>
            </a:r>
          </a:p>
          <a:p>
            <a:pPr algn="ctr"/>
            <a:r>
              <a:rPr sz="1100" b="0">
                <a:solidFill>
                  <a:srgbClr val="FFFFFF"/>
                </a:solidFill>
                <a:latin typeface="Calibri"/>
              </a:rPr>
              <a:t>Fact table + 3 dimensions + RAG corpus</a:t>
            </a:r>
          </a:p>
        </p:txBody>
      </p:sp>
      <p:sp>
        <p:nvSpPr>
          <p:cNvPr id="30" name="Down Arrow 29"/>
          <p:cNvSpPr/>
          <p:nvPr/>
        </p:nvSpPr>
        <p:spPr>
          <a:xfrm>
            <a:off x="8823960" y="4928616"/>
            <a:ext cx="201168" cy="128016"/>
          </a:xfrm>
          <a:prstGeom prst="downArrow">
            <a:avLst/>
          </a:prstGeom>
          <a:solidFill>
            <a:srgbClr val="A38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Arch box 5"/>
          <p:cNvSpPr/>
          <p:nvPr/>
        </p:nvSpPr>
        <p:spPr>
          <a:xfrm>
            <a:off x="6217920" y="5056632"/>
            <a:ext cx="5422392" cy="457200"/>
          </a:xfrm>
          <a:prstGeom prst="roundRect">
            <a:avLst>
              <a:gd name="adj" fmla="val 12000"/>
            </a:avLst>
          </a:prstGeom>
          <a:solidFill>
            <a:srgbClr val="FFFFFF"/>
          </a:solidFill>
          <a:ln w="15875">
            <a:solidFill>
              <a:srgbClr val="E8871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7A3E10"/>
                </a:solidFill>
                <a:latin typeface="Calibri"/>
              </a:rPr>
              <a:t>Persistence</a:t>
            </a:r>
          </a:p>
          <a:p>
            <a:pPr algn="ctr"/>
            <a:r>
              <a:rPr sz="1100" b="0">
                <a:solidFill>
                  <a:srgbClr val="7A3E10"/>
                </a:solidFill>
                <a:latin typeface="Calibri"/>
              </a:rPr>
              <a:t>SQLite (local) · Neon PostgreSQL (cloud)</a:t>
            </a:r>
          </a:p>
        </p:txBody>
      </p:sp>
      <p:sp>
        <p:nvSpPr>
          <p:cNvPr id="32" name="Down Arrow 31"/>
          <p:cNvSpPr/>
          <p:nvPr/>
        </p:nvSpPr>
        <p:spPr>
          <a:xfrm>
            <a:off x="8823960" y="5541264"/>
            <a:ext cx="201168" cy="128016"/>
          </a:xfrm>
          <a:prstGeom prst="downArrow">
            <a:avLst/>
          </a:prstGeom>
          <a:solidFill>
            <a:srgbClr val="A38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rch box 6"/>
          <p:cNvSpPr/>
          <p:nvPr/>
        </p:nvSpPr>
        <p:spPr>
          <a:xfrm>
            <a:off x="6217920" y="5669280"/>
            <a:ext cx="5422392" cy="457200"/>
          </a:xfrm>
          <a:prstGeom prst="roundRect">
            <a:avLst>
              <a:gd name="adj" fmla="val 12000"/>
            </a:avLst>
          </a:prstGeom>
          <a:solidFill>
            <a:srgbClr val="FFFFFF"/>
          </a:solidFill>
          <a:ln w="15875">
            <a:solidFill>
              <a:srgbClr val="E8871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7A3E10"/>
                </a:solidFill>
                <a:latin typeface="Calibri"/>
              </a:rPr>
              <a:t>Consumption</a:t>
            </a:r>
          </a:p>
          <a:p>
            <a:pPr algn="ctr"/>
            <a:r>
              <a:rPr sz="1100" b="0">
                <a:solidFill>
                  <a:srgbClr val="7A3E10"/>
                </a:solidFill>
                <a:latin typeface="Calibri"/>
              </a:rPr>
              <a:t>Power BI (6 pages) · Streamlit portal · MediRAG assistant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691640"/>
          </a:xfrm>
          <a:prstGeom prst="rect">
            <a:avLst/>
          </a:prstGeom>
          <a:solidFill>
            <a:srgbClr val="FBE3C2"/>
          </a:solidFill>
          <a:ln/>
        </p:spPr>
        <p:txBody>
          <a:bodyPr/>
          <a:lstStyle/>
          <a:p>
            <a:endParaRPr lang="en-US"/>
          </a:p>
        </p:txBody>
      </p:sp>
      <p:sp>
        <p:nvSpPr>
          <p:cNvPr id="3" name="Shape 1"/>
          <p:cNvSpPr>
            <a:spLocks/>
          </p:cNvSpPr>
          <p:nvPr/>
        </p:nvSpPr>
        <p:spPr>
          <a:xfrm>
            <a:off x="0" y="1691640"/>
            <a:ext cx="12188952" cy="64008"/>
          </a:xfrm>
          <a:prstGeom prst="rect">
            <a:avLst/>
          </a:prstGeom>
          <a:solidFill>
            <a:srgbClr val="E8871E"/>
          </a:solidFill>
          <a:ln/>
        </p:spPr>
        <p:txBody>
          <a:bodyPr/>
          <a:lstStyle/>
          <a:p>
            <a:endParaRPr lang="en-US"/>
          </a:p>
        </p:txBody>
      </p:sp>
      <p:pic>
        <p:nvPicPr>
          <p:cNvPr id="4" name="Image 0" descr="/home/claude/capstone_template/eta_logo.png"/>
          <p:cNvPicPr>
            <a:picLocks noChangeAspect="1"/>
          </p:cNvPicPr>
          <p:nvPr/>
        </p:nvPicPr>
        <p:blipFill>
          <a:blip r:embed="rId3"/>
          <a:stretch>
            <a:fillRect/>
          </a:stretch>
        </p:blipFill>
        <p:spPr>
          <a:xfrm>
            <a:off x="548640" y="448056"/>
            <a:ext cx="1554480" cy="186423"/>
          </a:xfrm>
          <a:prstGeom prst="rect">
            <a:avLst/>
          </a:prstGeom>
        </p:spPr>
      </p:pic>
      <p:pic>
        <p:nvPicPr>
          <p:cNvPr id="5" name="Image 1" descr="/home/claude/capstone_template/wingspan_logo.png"/>
          <p:cNvPicPr>
            <a:picLocks noChangeAspect="1"/>
          </p:cNvPicPr>
          <p:nvPr/>
        </p:nvPicPr>
        <p:blipFill>
          <a:blip r:embed="rId4"/>
          <a:stretch>
            <a:fillRect/>
          </a:stretch>
        </p:blipFill>
        <p:spPr>
          <a:xfrm>
            <a:off x="11116818" y="349243"/>
            <a:ext cx="432054" cy="384048"/>
          </a:xfrm>
          <a:prstGeom prst="rect">
            <a:avLst/>
          </a:prstGeom>
        </p:spPr>
      </p:pic>
      <p:sp>
        <p:nvSpPr>
          <p:cNvPr id="6" name="Text 2"/>
          <p:cNvSpPr txBox="1"/>
          <p:nvPr/>
        </p:nvSpPr>
        <p:spPr>
          <a:xfrm>
            <a:off x="2606040" y="384048"/>
            <a:ext cx="7916418" cy="274320"/>
          </a:xfrm>
          <a:prstGeom prst="rect">
            <a:avLst/>
          </a:prstGeom>
          <a:noFill/>
          <a:ln/>
        </p:spPr>
        <p:txBody>
          <a:bodyPr wrap="square" lIns="0" tIns="0" rIns="0" bIns="0" rtlCol="0" anchor="ctr"/>
          <a:lstStyle/>
          <a:p>
            <a:pPr marL="0" indent="0" algn="l">
              <a:buNone/>
            </a:pPr>
            <a:r>
              <a:rPr lang="en-US" sz="1100" b="1" kern="0" spc="200" dirty="0">
                <a:solidFill>
                  <a:srgbClr val="E8871E"/>
                </a:solidFill>
                <a:latin typeface="Calibri" pitchFamily="34" charset="0"/>
                <a:ea typeface="Calibri" pitchFamily="34" charset="-122"/>
                <a:cs typeface="Calibri" pitchFamily="34" charset="-120"/>
              </a:rPr>
              <a:t>SECTION 04</a:t>
            </a:r>
            <a:endParaRPr lang="en-US" sz="1100" dirty="0"/>
          </a:p>
        </p:txBody>
      </p:sp>
      <p:sp>
        <p:nvSpPr>
          <p:cNvPr id="7" name="Text 3"/>
          <p:cNvSpPr txBox="1"/>
          <p:nvPr/>
        </p:nvSpPr>
        <p:spPr>
          <a:xfrm>
            <a:off x="2606040" y="685800"/>
            <a:ext cx="7916418" cy="914400"/>
          </a:xfrm>
          <a:prstGeom prst="rect">
            <a:avLst/>
          </a:prstGeom>
          <a:noFill/>
          <a:ln/>
        </p:spPr>
        <p:txBody>
          <a:bodyPr wrap="square" lIns="0" tIns="0" rIns="0" bIns="0" rtlCol="0" anchor="t"/>
          <a:lstStyle/>
          <a:p>
            <a:pPr marL="0" indent="0" algn="l">
              <a:buNone/>
            </a:pPr>
            <a:r>
              <a:rPr lang="en-US" sz="2600" b="1" dirty="0">
                <a:solidFill>
                  <a:srgbClr val="7A3E10"/>
                </a:solidFill>
                <a:latin typeface="Calibri" pitchFamily="34" charset="0"/>
                <a:ea typeface="Calibri" pitchFamily="34" charset="-122"/>
                <a:cs typeface="Calibri" pitchFamily="34" charset="-120"/>
              </a:rPr>
              <a:t>SQL &amp; Data Preparation</a:t>
            </a:r>
            <a:endParaRPr lang="en-US" sz="2600" dirty="0"/>
          </a:p>
        </p:txBody>
      </p:sp>
      <p:sp>
        <p:nvSpPr>
          <p:cNvPr id="8" name="Text 4"/>
          <p:cNvSpPr txBox="1"/>
          <p:nvPr/>
        </p:nvSpPr>
        <p:spPr>
          <a:xfrm>
            <a:off x="11274552" y="1307592"/>
            <a:ext cx="548640" cy="320040"/>
          </a:xfrm>
          <a:prstGeom prst="rect">
            <a:avLst/>
          </a:prstGeom>
          <a:noFill/>
          <a:ln/>
        </p:spPr>
        <p:txBody>
          <a:bodyPr wrap="square" lIns="0" tIns="0" rIns="0" bIns="0" rtlCol="0" anchor="ctr"/>
          <a:lstStyle/>
          <a:p>
            <a:pPr marL="0" indent="0" algn="r">
              <a:buNone/>
            </a:pPr>
            <a:r>
              <a:rPr lang="en-US" sz="1100" b="1" dirty="0">
                <a:solidFill>
                  <a:srgbClr val="9C7A4E"/>
                </a:solidFill>
                <a:latin typeface="Calibri" pitchFamily="34" charset="0"/>
                <a:ea typeface="Calibri" pitchFamily="34" charset="-122"/>
                <a:cs typeface="Calibri" pitchFamily="34" charset="-120"/>
              </a:rPr>
              <a:t>05</a:t>
            </a:r>
            <a:endParaRPr lang="en-US" sz="1100" dirty="0"/>
          </a:p>
        </p:txBody>
      </p:sp>
      <p:sp>
        <p:nvSpPr>
          <p:cNvPr id="9" name="Shape 9"/>
          <p:cNvSpPr/>
          <p:nvPr/>
        </p:nvSpPr>
        <p:spPr>
          <a:xfrm>
            <a:off x="640080" y="2380488"/>
            <a:ext cx="128016" cy="128016"/>
          </a:xfrm>
          <a:prstGeom prst="ellipse">
            <a:avLst/>
          </a:prstGeom>
          <a:solidFill>
            <a:srgbClr val="E8871E"/>
          </a:solidFill>
          <a:ln/>
        </p:spPr>
        <p:txBody>
          <a:bodyPr/>
          <a:p/>
        </p:txBody>
      </p:sp>
      <p:sp>
        <p:nvSpPr>
          <p:cNvPr id="10" name="Text 10"/>
          <p:cNvSpPr txBox="1"/>
          <p:nvPr/>
        </p:nvSpPr>
        <p:spPr>
          <a:xfrm>
            <a:off x="960120" y="2304288"/>
            <a:ext cx="10588752" cy="640080"/>
          </a:xfrm>
          <a:prstGeom prst="rect">
            <a:avLst/>
          </a:prstGeom>
          <a:noFill/>
          <a:ln/>
        </p:spPr>
        <p:txBody>
          <a:bodyPr wrap="square" lIns="0" tIns="0" rIns="0" bIns="0" rtlCol="0" anchor="t"/>
          <a:lstStyle/>
          <a:p>
            <a:pPr marL="0" indent="0" algn="l">
              <a:spcAft>
                <a:spcPts val="0"/>
              </a:spcAft>
              <a:buNone/>
            </a:pPr>
            <a:r>
              <a:rPr lang="en-US" sz="1500" b="1" dirty="0">
                <a:solidFill>
                  <a:srgbClr val="7A3E10"/>
                </a:solidFill>
                <a:latin typeface="Calibri" pitchFamily="34" charset="0"/>
              </a:rPr>
              <a:t>Data quality - </a:t>
            </a:r>
            <a:r>
              <a:rPr lang="en-US" sz="1500" b="0" dirty="0">
                <a:solidFill>
                  <a:srgbClr val="5A4636"/>
                </a:solidFill>
                <a:latin typeface="Calibri" pitchFamily="34" charset="0"/>
              </a:rPr>
              <a:t>5 sources profiled; 100% primary/foreign-key integrity confirmed (every Member_ID and Interaction_ID matches 1-to-1). Baseline: 10,000 interactions, 2,621 members, 250 agents.</a:t>
            </a:r>
          </a:p>
        </p:txBody>
      </p:sp>
      <p:sp>
        <p:nvSpPr>
          <p:cNvPr id="11" name="Shape 11"/>
          <p:cNvSpPr/>
          <p:nvPr/>
        </p:nvSpPr>
        <p:spPr>
          <a:xfrm>
            <a:off x="640080" y="3120488"/>
            <a:ext cx="128016" cy="128016"/>
          </a:xfrm>
          <a:prstGeom prst="ellipse">
            <a:avLst/>
          </a:prstGeom>
          <a:solidFill>
            <a:srgbClr val="E8871E"/>
          </a:solidFill>
          <a:ln/>
        </p:spPr>
        <p:txBody>
          <a:bodyPr/>
          <a:p/>
        </p:txBody>
      </p:sp>
      <p:sp>
        <p:nvSpPr>
          <p:cNvPr id="12" name="Text 12"/>
          <p:cNvSpPr txBox="1"/>
          <p:nvPr/>
        </p:nvSpPr>
        <p:spPr>
          <a:xfrm>
            <a:off x="960120" y="3044288"/>
            <a:ext cx="10588752" cy="640080"/>
          </a:xfrm>
          <a:prstGeom prst="rect">
            <a:avLst/>
          </a:prstGeom>
          <a:noFill/>
          <a:ln/>
        </p:spPr>
        <p:txBody>
          <a:bodyPr wrap="square" lIns="0" tIns="0" rIns="0" bIns="0" rtlCol="0" anchor="t"/>
          <a:lstStyle/>
          <a:p>
            <a:pPr marL="0" indent="0" algn="l">
              <a:spcAft>
                <a:spcPts val="0"/>
              </a:spcAft>
              <a:buNone/>
            </a:pPr>
            <a:r>
              <a:rPr lang="en-US" sz="1500" b="1" dirty="0">
                <a:solidFill>
                  <a:srgbClr val="7A3E10"/>
                </a:solidFill>
                <a:latin typeface="Calibri" pitchFamily="34" charset="0"/>
              </a:rPr>
              <a:t>Integration - </a:t>
            </a:r>
            <a:r>
              <a:rPr lang="en-US" sz="1500" b="0" dirty="0">
                <a:solidFill>
                  <a:srgbClr val="5A4636"/>
                </a:solidFill>
                <a:latin typeface="Calibri" pitchFamily="34" charset="0"/>
              </a:rPr>
              <a:t>Member, interaction, service, operations and transcript files joined on Member_ID / Interaction_ID into one validated staging table; channels standardised to Phone, Chat and Mobile App.</a:t>
            </a:r>
          </a:p>
        </p:txBody>
      </p:sp>
      <p:sp>
        <p:nvSpPr>
          <p:cNvPr id="13" name="Shape 13"/>
          <p:cNvSpPr/>
          <p:nvPr/>
        </p:nvSpPr>
        <p:spPr>
          <a:xfrm>
            <a:off x="640080" y="3860488"/>
            <a:ext cx="128016" cy="128016"/>
          </a:xfrm>
          <a:prstGeom prst="ellipse">
            <a:avLst/>
          </a:prstGeom>
          <a:solidFill>
            <a:srgbClr val="E8871E"/>
          </a:solidFill>
          <a:ln/>
        </p:spPr>
        <p:txBody>
          <a:bodyPr/>
          <a:p/>
        </p:txBody>
      </p:sp>
      <p:sp>
        <p:nvSpPr>
          <p:cNvPr id="14" name="Text 14"/>
          <p:cNvSpPr txBox="1"/>
          <p:nvPr/>
        </p:nvSpPr>
        <p:spPr>
          <a:xfrm>
            <a:off x="960120" y="3784288"/>
            <a:ext cx="10588752" cy="640080"/>
          </a:xfrm>
          <a:prstGeom prst="rect">
            <a:avLst/>
          </a:prstGeom>
          <a:noFill/>
          <a:ln/>
        </p:spPr>
        <p:txBody>
          <a:bodyPr wrap="square" lIns="0" tIns="0" rIns="0" bIns="0" rtlCol="0" anchor="t"/>
          <a:lstStyle/>
          <a:p>
            <a:pPr marL="0" indent="0" algn="l">
              <a:spcAft>
                <a:spcPts val="0"/>
              </a:spcAft>
              <a:buNone/>
            </a:pPr>
            <a:r>
              <a:rPr lang="en-US" sz="1500" b="1" dirty="0">
                <a:solidFill>
                  <a:srgbClr val="7A3E10"/>
                </a:solidFill>
                <a:latin typeface="Calibri" pitchFamily="34" charset="0"/>
              </a:rPr>
              <a:t>SQL analyses - </a:t>
            </a:r>
            <a:r>
              <a:rPr lang="en-US" sz="1500" b="0" dirty="0">
                <a:solidFill>
                  <a:srgbClr val="5A4636"/>
                </a:solidFill>
                <a:latin typeface="Calibri" pitchFamily="34" charset="0"/>
              </a:rPr>
              <a:t>Volume, escalation (17.38%) and FCR (63.47%) by channel, department and agent; repeat contacts (2.88 average for escalated cases vs 1.60).</a:t>
            </a:r>
          </a:p>
        </p:txBody>
      </p:sp>
      <p:sp>
        <p:nvSpPr>
          <p:cNvPr id="15" name="Shape 15"/>
          <p:cNvSpPr/>
          <p:nvPr/>
        </p:nvSpPr>
        <p:spPr>
          <a:xfrm>
            <a:off x="640080" y="4600488"/>
            <a:ext cx="128016" cy="128016"/>
          </a:xfrm>
          <a:prstGeom prst="ellipse">
            <a:avLst/>
          </a:prstGeom>
          <a:solidFill>
            <a:srgbClr val="E8871E"/>
          </a:solidFill>
          <a:ln/>
        </p:spPr>
        <p:txBody>
          <a:bodyPr/>
          <a:p/>
        </p:txBody>
      </p:sp>
      <p:sp>
        <p:nvSpPr>
          <p:cNvPr id="16" name="Text 16"/>
          <p:cNvSpPr txBox="1"/>
          <p:nvPr/>
        </p:nvSpPr>
        <p:spPr>
          <a:xfrm>
            <a:off x="960120" y="4524288"/>
            <a:ext cx="10588752" cy="640080"/>
          </a:xfrm>
          <a:prstGeom prst="rect">
            <a:avLst/>
          </a:prstGeom>
          <a:noFill/>
          <a:ln/>
        </p:spPr>
        <p:txBody>
          <a:bodyPr wrap="square" lIns="0" tIns="0" rIns="0" bIns="0" rtlCol="0" anchor="t"/>
          <a:lstStyle/>
          <a:p>
            <a:pPr marL="0" indent="0" algn="l">
              <a:spcAft>
                <a:spcPts val="0"/>
              </a:spcAft>
              <a:buNone/>
            </a:pPr>
            <a:r>
              <a:rPr lang="en-US" sz="1500" b="1" dirty="0">
                <a:solidFill>
                  <a:srgbClr val="7A3E10"/>
                </a:solidFill>
                <a:latin typeface="Calibri" pitchFamily="34" charset="0"/>
              </a:rPr>
              <a:t>SQL concepts - </a:t>
            </a:r>
            <a:r>
              <a:rPr lang="en-US" sz="1500" b="0" dirty="0">
                <a:solidFill>
                  <a:srgbClr val="5A4636"/>
                </a:solidFill>
                <a:latin typeface="Calibri" pitchFamily="34" charset="0"/>
              </a:rPr>
              <a:t>Star-schema joins (fact to three dimensions), GROUP BY aggregations and CASE-based flags, persisted with SQLAlchemy to SQLite and Neon PostgreSQL.</a:t>
            </a:r>
          </a:p>
        </p:txBody>
      </p:sp>
      <p:sp>
        <p:nvSpPr>
          <p:cNvPr id="17" name="Shape 17"/>
          <p:cNvSpPr/>
          <p:nvPr/>
        </p:nvSpPr>
        <p:spPr>
          <a:xfrm>
            <a:off x="640080" y="5340488"/>
            <a:ext cx="128016" cy="128016"/>
          </a:xfrm>
          <a:prstGeom prst="ellipse">
            <a:avLst/>
          </a:prstGeom>
          <a:solidFill>
            <a:srgbClr val="E8871E"/>
          </a:solidFill>
          <a:ln/>
        </p:spPr>
        <p:txBody>
          <a:bodyPr/>
          <a:p/>
        </p:txBody>
      </p:sp>
      <p:sp>
        <p:nvSpPr>
          <p:cNvPr id="18" name="Text 18"/>
          <p:cNvSpPr txBox="1"/>
          <p:nvPr/>
        </p:nvSpPr>
        <p:spPr>
          <a:xfrm>
            <a:off x="960120" y="5264288"/>
            <a:ext cx="10588752" cy="640080"/>
          </a:xfrm>
          <a:prstGeom prst="rect">
            <a:avLst/>
          </a:prstGeom>
          <a:noFill/>
          <a:ln/>
        </p:spPr>
        <p:txBody>
          <a:bodyPr wrap="square" lIns="0" tIns="0" rIns="0" bIns="0" rtlCol="0" anchor="t"/>
          <a:lstStyle/>
          <a:p>
            <a:pPr marL="0" indent="0" algn="l">
              <a:spcAft>
                <a:spcPts val="0"/>
              </a:spcAft>
              <a:buNone/>
            </a:pPr>
            <a:r>
              <a:rPr lang="en-US" sz="1500" b="1" dirty="0">
                <a:solidFill>
                  <a:srgbClr val="7A3E10"/>
                </a:solidFill>
                <a:latin typeface="Calibri" pitchFamily="34" charset="0"/>
              </a:rPr>
              <a:t>Key insight - </a:t>
            </a:r>
            <a:r>
              <a:rPr lang="en-US" sz="1500" b="0" dirty="0">
                <a:solidFill>
                  <a:srgbClr val="5A4636"/>
                </a:solidFill>
                <a:latin typeface="Calibri" pitchFamily="34" charset="0"/>
              </a:rPr>
              <a:t>Validating joins before modelling gives 100% data integrity, and phone calls escalate at more than twice the rate of digital channels.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691640"/>
          </a:xfrm>
          <a:prstGeom prst="rect">
            <a:avLst/>
          </a:prstGeom>
          <a:solidFill>
            <a:srgbClr val="FBE3C2"/>
          </a:solidFill>
          <a:ln/>
        </p:spPr>
        <p:txBody>
          <a:bodyPr/>
          <a:lstStyle/>
          <a:p>
            <a:endParaRPr lang="en-US"/>
          </a:p>
        </p:txBody>
      </p:sp>
      <p:sp>
        <p:nvSpPr>
          <p:cNvPr id="3" name="Shape 1"/>
          <p:cNvSpPr>
            <a:spLocks/>
          </p:cNvSpPr>
          <p:nvPr/>
        </p:nvSpPr>
        <p:spPr>
          <a:xfrm>
            <a:off x="0" y="1691640"/>
            <a:ext cx="12188952" cy="64008"/>
          </a:xfrm>
          <a:prstGeom prst="rect">
            <a:avLst/>
          </a:prstGeom>
          <a:solidFill>
            <a:srgbClr val="E8871E"/>
          </a:solidFill>
          <a:ln/>
        </p:spPr>
        <p:txBody>
          <a:bodyPr/>
          <a:lstStyle/>
          <a:p>
            <a:endParaRPr lang="en-US"/>
          </a:p>
        </p:txBody>
      </p:sp>
      <p:pic>
        <p:nvPicPr>
          <p:cNvPr id="4" name="Image 0" descr="/home/claude/capstone_template/eta_logo.png"/>
          <p:cNvPicPr>
            <a:picLocks noChangeAspect="1"/>
          </p:cNvPicPr>
          <p:nvPr/>
        </p:nvPicPr>
        <p:blipFill>
          <a:blip r:embed="rId3"/>
          <a:stretch>
            <a:fillRect/>
          </a:stretch>
        </p:blipFill>
        <p:spPr>
          <a:xfrm>
            <a:off x="548640" y="448056"/>
            <a:ext cx="1554480" cy="186423"/>
          </a:xfrm>
          <a:prstGeom prst="rect">
            <a:avLst/>
          </a:prstGeom>
        </p:spPr>
      </p:pic>
      <p:pic>
        <p:nvPicPr>
          <p:cNvPr id="5" name="Image 1" descr="/home/claude/capstone_template/wingspan_logo.png"/>
          <p:cNvPicPr>
            <a:picLocks noChangeAspect="1"/>
          </p:cNvPicPr>
          <p:nvPr/>
        </p:nvPicPr>
        <p:blipFill>
          <a:blip r:embed="rId4"/>
          <a:stretch>
            <a:fillRect/>
          </a:stretch>
        </p:blipFill>
        <p:spPr>
          <a:xfrm>
            <a:off x="11116818" y="349243"/>
            <a:ext cx="432054" cy="384048"/>
          </a:xfrm>
          <a:prstGeom prst="rect">
            <a:avLst/>
          </a:prstGeom>
        </p:spPr>
      </p:pic>
      <p:sp>
        <p:nvSpPr>
          <p:cNvPr id="6" name="Text 2"/>
          <p:cNvSpPr txBox="1"/>
          <p:nvPr/>
        </p:nvSpPr>
        <p:spPr>
          <a:xfrm>
            <a:off x="2606040" y="384048"/>
            <a:ext cx="7916418" cy="274320"/>
          </a:xfrm>
          <a:prstGeom prst="rect">
            <a:avLst/>
          </a:prstGeom>
          <a:noFill/>
          <a:ln/>
        </p:spPr>
        <p:txBody>
          <a:bodyPr wrap="square" lIns="0" tIns="0" rIns="0" bIns="0" rtlCol="0" anchor="ctr"/>
          <a:lstStyle/>
          <a:p>
            <a:pPr marL="0" indent="0" algn="l">
              <a:buNone/>
            </a:pPr>
            <a:r>
              <a:rPr lang="en-US" sz="1100" b="1" kern="0" spc="200" dirty="0">
                <a:solidFill>
                  <a:srgbClr val="E8871E"/>
                </a:solidFill>
                <a:latin typeface="Calibri" pitchFamily="34" charset="0"/>
                <a:ea typeface="Calibri" pitchFamily="34" charset="-122"/>
                <a:cs typeface="Calibri" pitchFamily="34" charset="-120"/>
              </a:rPr>
              <a:t>SECTION 05</a:t>
            </a:r>
            <a:endParaRPr lang="en-US" sz="1100" dirty="0"/>
          </a:p>
        </p:txBody>
      </p:sp>
      <p:sp>
        <p:nvSpPr>
          <p:cNvPr id="7" name="Text 3"/>
          <p:cNvSpPr txBox="1"/>
          <p:nvPr/>
        </p:nvSpPr>
        <p:spPr>
          <a:xfrm>
            <a:off x="2606040" y="685800"/>
            <a:ext cx="7916418" cy="914400"/>
          </a:xfrm>
          <a:prstGeom prst="rect">
            <a:avLst/>
          </a:prstGeom>
          <a:noFill/>
          <a:ln/>
        </p:spPr>
        <p:txBody>
          <a:bodyPr wrap="square" lIns="0" tIns="0" rIns="0" bIns="0" rtlCol="0" anchor="t"/>
          <a:lstStyle/>
          <a:p>
            <a:pPr marL="0" indent="0" algn="l">
              <a:buNone/>
            </a:pPr>
            <a:r>
              <a:rPr lang="en-US" sz="2600" b="1" dirty="0">
                <a:solidFill>
                  <a:srgbClr val="7A3E10"/>
                </a:solidFill>
                <a:latin typeface="Calibri" pitchFamily="34" charset="0"/>
                <a:ea typeface="Calibri" pitchFamily="34" charset="-122"/>
                <a:cs typeface="Calibri" pitchFamily="34" charset="-120"/>
              </a:rPr>
              <a:t>Statistical Analysis</a:t>
            </a:r>
            <a:endParaRPr lang="en-US" sz="2600" dirty="0"/>
          </a:p>
        </p:txBody>
      </p:sp>
      <p:sp>
        <p:nvSpPr>
          <p:cNvPr id="8" name="Text 4"/>
          <p:cNvSpPr txBox="1"/>
          <p:nvPr/>
        </p:nvSpPr>
        <p:spPr>
          <a:xfrm>
            <a:off x="11274552" y="1307592"/>
            <a:ext cx="548640" cy="320040"/>
          </a:xfrm>
          <a:prstGeom prst="rect">
            <a:avLst/>
          </a:prstGeom>
          <a:noFill/>
          <a:ln/>
        </p:spPr>
        <p:txBody>
          <a:bodyPr wrap="square" lIns="0" tIns="0" rIns="0" bIns="0" rtlCol="0" anchor="ctr"/>
          <a:lstStyle/>
          <a:p>
            <a:pPr marL="0" indent="0" algn="r">
              <a:buNone/>
            </a:pPr>
            <a:r>
              <a:rPr lang="en-US" sz="1100" b="1" dirty="0">
                <a:solidFill>
                  <a:srgbClr val="9C7A4E"/>
                </a:solidFill>
                <a:latin typeface="Calibri" pitchFamily="34" charset="0"/>
                <a:ea typeface="Calibri" pitchFamily="34" charset="-122"/>
                <a:cs typeface="Calibri" pitchFamily="34" charset="-120"/>
              </a:rPr>
              <a:t>06</a:t>
            </a:r>
            <a:endParaRPr lang="en-US" sz="1100" dirty="0"/>
          </a:p>
        </p:txBody>
      </p:sp>
      <p:sp>
        <p:nvSpPr>
          <p:cNvPr id="9" name="Shape 9"/>
          <p:cNvSpPr/>
          <p:nvPr/>
        </p:nvSpPr>
        <p:spPr>
          <a:xfrm>
            <a:off x="640080" y="2194560"/>
            <a:ext cx="5330952" cy="1920240"/>
          </a:xfrm>
          <a:prstGeom prst="roundRect">
            <a:avLst>
              <a:gd name="adj" fmla="val 2273"/>
            </a:avLst>
          </a:prstGeom>
          <a:solidFill>
            <a:srgbClr val="FFF6EA"/>
          </a:solidFill>
          <a:ln/>
        </p:spPr>
        <p:txBody>
          <a:bodyPr/>
          <a:lstStyle/>
          <a:p>
            <a:endParaRPr lang="en-US"/>
          </a:p>
        </p:txBody>
      </p:sp>
      <p:sp>
        <p:nvSpPr>
          <p:cNvPr id="10" name="Text 10"/>
          <p:cNvSpPr txBox="1"/>
          <p:nvPr/>
        </p:nvSpPr>
        <p:spPr>
          <a:xfrm>
            <a:off x="868680" y="2377440"/>
            <a:ext cx="4873752" cy="320040"/>
          </a:xfrm>
          <a:prstGeom prst="rect">
            <a:avLst/>
          </a:prstGeom>
          <a:noFill/>
          <a:ln/>
        </p:spPr>
        <p:txBody>
          <a:bodyPr wrap="square" lIns="0" tIns="0" rIns="0" bIns="0" rtlCol="0" anchor="ctr"/>
          <a:lstStyle/>
          <a:p>
            <a:pPr marL="0" indent="0" algn="l">
              <a:spcAft>
                <a:spcPts val="0"/>
              </a:spcAft>
              <a:buNone/>
            </a:pPr>
            <a:r>
              <a:rPr lang="en-US" sz="1600" b="1" dirty="0">
                <a:solidFill>
                  <a:srgbClr val="7A3E10"/>
                </a:solidFill>
                <a:latin typeface="Calibri" pitchFamily="34" charset="0"/>
              </a:rPr>
              <a:t>Descriptive statistics</a:t>
            </a:r>
          </a:p>
        </p:txBody>
      </p:sp>
      <p:sp>
        <p:nvSpPr>
          <p:cNvPr id="11" name="Text 11"/>
          <p:cNvSpPr txBox="1"/>
          <p:nvPr/>
        </p:nvSpPr>
        <p:spPr>
          <a:xfrm>
            <a:off x="868680" y="2743200"/>
            <a:ext cx="4873752" cy="640080"/>
          </a:xfrm>
          <a:prstGeom prst="rect">
            <a:avLst/>
          </a:prstGeom>
          <a:noFill/>
          <a:ln/>
        </p:spPr>
        <p:txBody>
          <a:bodyPr wrap="square" lIns="0" tIns="0" rIns="0" bIns="0" rtlCol="0" anchor="t"/>
          <a:lstStyle/>
          <a:p>
            <a:pPr marL="0" indent="0" algn="l">
              <a:spcAft>
                <a:spcPts val="0"/>
              </a:spcAft>
              <a:buNone/>
            </a:pPr>
            <a:r>
              <a:rPr lang="en-US" sz="1200" dirty="0">
                <a:solidFill>
                  <a:srgbClr val="5A4636"/>
                </a:solidFill>
                <a:latin typeface="Calibri" pitchFamily="34" charset="0"/>
              </a:rPr>
              <a:t>Mean and median resolution time, mean satisfaction and spread</a:t>
            </a:r>
          </a:p>
        </p:txBody>
      </p:sp>
      <p:sp>
        <p:nvSpPr>
          <p:cNvPr id="12" name="Text 12"/>
          <p:cNvSpPr txBox="1"/>
          <p:nvPr/>
        </p:nvSpPr>
        <p:spPr>
          <a:xfrm>
            <a:off x="868680" y="3474720"/>
            <a:ext cx="4873752" cy="594360"/>
          </a:xfrm>
          <a:prstGeom prst="rect">
            <a:avLst/>
          </a:prstGeom>
          <a:noFill/>
          <a:ln/>
        </p:spPr>
        <p:txBody>
          <a:bodyPr wrap="square" lIns="0" tIns="0" rIns="0" bIns="0" rtlCol="0" anchor="ctr"/>
          <a:lstStyle/>
          <a:p>
            <a:pPr marL="0" indent="0" algn="l">
              <a:spcAft>
                <a:spcPts val="0"/>
              </a:spcAft>
              <a:buNone/>
            </a:pPr>
            <a:r>
              <a:rPr lang="en-US" sz="1400" dirty="0" b="1">
                <a:solidFill>
                  <a:srgbClr val="7A3E10"/>
                </a:solidFill>
                <a:latin typeface="Calibri" pitchFamily="34" charset="0"/>
              </a:rPr>
              <a:t>Typical call is about 15 minutes; satisfaction averages 3.5 of 5; 63% are resolved at first contact.</a:t>
            </a:r>
          </a:p>
        </p:txBody>
      </p:sp>
      <p:sp>
        <p:nvSpPr>
          <p:cNvPr id="13" name="Shape 13"/>
          <p:cNvSpPr/>
          <p:nvPr/>
        </p:nvSpPr>
        <p:spPr>
          <a:xfrm>
            <a:off x="6217920" y="2194560"/>
            <a:ext cx="5330952" cy="1920240"/>
          </a:xfrm>
          <a:prstGeom prst="roundRect">
            <a:avLst>
              <a:gd name="adj" fmla="val 2273"/>
            </a:avLst>
          </a:prstGeom>
          <a:solidFill>
            <a:srgbClr val="FFF6EA"/>
          </a:solidFill>
          <a:ln/>
        </p:spPr>
        <p:txBody>
          <a:bodyPr/>
          <a:lstStyle/>
          <a:p>
            <a:endParaRPr lang="en-US"/>
          </a:p>
        </p:txBody>
      </p:sp>
      <p:sp>
        <p:nvSpPr>
          <p:cNvPr id="14" name="Text 14"/>
          <p:cNvSpPr txBox="1"/>
          <p:nvPr/>
        </p:nvSpPr>
        <p:spPr>
          <a:xfrm>
            <a:off x="6446520" y="2377440"/>
            <a:ext cx="4873752" cy="320040"/>
          </a:xfrm>
          <a:prstGeom prst="rect">
            <a:avLst/>
          </a:prstGeom>
          <a:noFill/>
          <a:ln/>
        </p:spPr>
        <p:txBody>
          <a:bodyPr wrap="square" lIns="0" tIns="0" rIns="0" bIns="0" rtlCol="0" anchor="ctr"/>
          <a:lstStyle/>
          <a:p>
            <a:pPr marL="0" indent="0" algn="l">
              <a:spcAft>
                <a:spcPts val="0"/>
              </a:spcAft>
              <a:buNone/>
            </a:pPr>
            <a:r>
              <a:rPr lang="en-US" sz="1600" b="1" dirty="0">
                <a:solidFill>
                  <a:srgbClr val="7A3E10"/>
                </a:solidFill>
                <a:latin typeface="Calibri" pitchFamily="34" charset="0"/>
              </a:rPr>
              <a:t>Distributions &amp; outliers</a:t>
            </a:r>
          </a:p>
        </p:txBody>
      </p:sp>
      <p:sp>
        <p:nvSpPr>
          <p:cNvPr id="15" name="Text 15"/>
          <p:cNvSpPr txBox="1"/>
          <p:nvPr/>
        </p:nvSpPr>
        <p:spPr>
          <a:xfrm>
            <a:off x="6446520" y="2743200"/>
            <a:ext cx="4873752" cy="640080"/>
          </a:xfrm>
          <a:prstGeom prst="rect">
            <a:avLst/>
          </a:prstGeom>
          <a:noFill/>
          <a:ln/>
        </p:spPr>
        <p:txBody>
          <a:bodyPr wrap="square" lIns="0" tIns="0" rIns="0" bIns="0" rtlCol="0" anchor="t"/>
          <a:lstStyle/>
          <a:p>
            <a:pPr marL="0" indent="0" algn="l">
              <a:spcAft>
                <a:spcPts val="0"/>
              </a:spcAft>
              <a:buNone/>
            </a:pPr>
            <a:r>
              <a:rPr lang="en-US" sz="1200" dirty="0">
                <a:solidFill>
                  <a:srgbClr val="5A4636"/>
                </a:solidFill>
                <a:latin typeface="Calibri" pitchFamily="34" charset="0"/>
              </a:rPr>
              <a:t>Resolution time, satisfaction, contacts per member; longest cases and extreme contact volumes</a:t>
            </a:r>
          </a:p>
        </p:txBody>
      </p:sp>
      <p:sp>
        <p:nvSpPr>
          <p:cNvPr id="16" name="Text 16"/>
          <p:cNvSpPr txBox="1"/>
          <p:nvPr/>
        </p:nvSpPr>
        <p:spPr>
          <a:xfrm>
            <a:off x="6446520" y="3474720"/>
            <a:ext cx="4873752" cy="594360"/>
          </a:xfrm>
          <a:prstGeom prst="rect">
            <a:avLst/>
          </a:prstGeom>
          <a:noFill/>
          <a:ln/>
        </p:spPr>
        <p:txBody>
          <a:bodyPr wrap="square" lIns="0" tIns="0" rIns="0" bIns="0" rtlCol="0" anchor="ctr"/>
          <a:lstStyle/>
          <a:p>
            <a:pPr marL="0" indent="0" algn="l">
              <a:spcAft>
                <a:spcPts val="0"/>
              </a:spcAft>
              <a:buNone/>
            </a:pPr>
            <a:r>
              <a:rPr lang="en-US" sz="1400" dirty="0" b="1">
                <a:solidFill>
                  <a:srgbClr val="7A3E10"/>
                </a:solidFill>
                <a:latin typeface="Calibri" pitchFamily="34" charset="0"/>
              </a:rPr>
              <a:t>Most calls are short, a few run past 50 minutes; members contact us 1 to 6 times.</a:t>
            </a:r>
          </a:p>
        </p:txBody>
      </p:sp>
      <p:sp>
        <p:nvSpPr>
          <p:cNvPr id="17" name="Shape 17"/>
          <p:cNvSpPr/>
          <p:nvPr/>
        </p:nvSpPr>
        <p:spPr>
          <a:xfrm>
            <a:off x="640080" y="4251960"/>
            <a:ext cx="5330952" cy="1920240"/>
          </a:xfrm>
          <a:prstGeom prst="roundRect">
            <a:avLst>
              <a:gd name="adj" fmla="val 2273"/>
            </a:avLst>
          </a:prstGeom>
          <a:solidFill>
            <a:srgbClr val="FFF6EA"/>
          </a:solidFill>
          <a:ln/>
        </p:spPr>
        <p:txBody>
          <a:bodyPr/>
          <a:lstStyle/>
          <a:p>
            <a:endParaRPr lang="en-US"/>
          </a:p>
        </p:txBody>
      </p:sp>
      <p:sp>
        <p:nvSpPr>
          <p:cNvPr id="18" name="Text 18"/>
          <p:cNvSpPr txBox="1"/>
          <p:nvPr/>
        </p:nvSpPr>
        <p:spPr>
          <a:xfrm>
            <a:off x="868680" y="4434840"/>
            <a:ext cx="4873752" cy="320040"/>
          </a:xfrm>
          <a:prstGeom prst="rect">
            <a:avLst/>
          </a:prstGeom>
          <a:noFill/>
          <a:ln/>
        </p:spPr>
        <p:txBody>
          <a:bodyPr wrap="square" lIns="0" tIns="0" rIns="0" bIns="0" rtlCol="0" anchor="ctr"/>
          <a:lstStyle/>
          <a:p>
            <a:pPr marL="0" indent="0" algn="l">
              <a:spcAft>
                <a:spcPts val="0"/>
              </a:spcAft>
              <a:buNone/>
            </a:pPr>
            <a:r>
              <a:rPr lang="en-US" sz="1600" b="1" dirty="0">
                <a:solidFill>
                  <a:srgbClr val="7A3E10"/>
                </a:solidFill>
                <a:latin typeface="Calibri" pitchFamily="34" charset="0"/>
              </a:rPr>
              <a:t>Correlations</a:t>
            </a:r>
          </a:p>
        </p:txBody>
      </p:sp>
      <p:sp>
        <p:nvSpPr>
          <p:cNvPr id="19" name="Text 19"/>
          <p:cNvSpPr txBox="1"/>
          <p:nvPr/>
        </p:nvSpPr>
        <p:spPr>
          <a:xfrm>
            <a:off x="868680" y="4800600"/>
            <a:ext cx="4873752" cy="640080"/>
          </a:xfrm>
          <a:prstGeom prst="rect">
            <a:avLst/>
          </a:prstGeom>
          <a:noFill/>
          <a:ln/>
        </p:spPr>
        <p:txBody>
          <a:bodyPr wrap="square" lIns="0" tIns="0" rIns="0" bIns="0" rtlCol="0" anchor="t"/>
          <a:lstStyle/>
          <a:p>
            <a:pPr marL="0" indent="0" algn="l">
              <a:spcAft>
                <a:spcPts val="0"/>
              </a:spcAft>
              <a:buNone/>
            </a:pPr>
            <a:r>
              <a:rPr lang="en-US" sz="1200" dirty="0">
                <a:solidFill>
                  <a:srgbClr val="5A4636"/>
                </a:solidFill>
                <a:latin typeface="Calibri" pitchFamily="34" charset="0"/>
              </a:rPr>
              <a:t>Resolution time vs satisfaction; contacts vs escalation; FCR vs satisfaction; wait time vs escalation</a:t>
            </a:r>
          </a:p>
        </p:txBody>
      </p:sp>
      <p:sp>
        <p:nvSpPr>
          <p:cNvPr id="20" name="Text 20"/>
          <p:cNvSpPr txBox="1"/>
          <p:nvPr/>
        </p:nvSpPr>
        <p:spPr>
          <a:xfrm>
            <a:off x="868680" y="5532120"/>
            <a:ext cx="4873752" cy="594360"/>
          </a:xfrm>
          <a:prstGeom prst="rect">
            <a:avLst/>
          </a:prstGeom>
          <a:noFill/>
          <a:ln/>
        </p:spPr>
        <p:txBody>
          <a:bodyPr wrap="square" lIns="0" tIns="0" rIns="0" bIns="0" rtlCol="0" anchor="ctr"/>
          <a:lstStyle/>
          <a:p>
            <a:pPr marL="0" indent="0" algn="l">
              <a:spcAft>
                <a:spcPts val="0"/>
              </a:spcAft>
              <a:buNone/>
            </a:pPr>
            <a:r>
              <a:rPr lang="en-US" sz="1400" dirty="0" b="1">
                <a:solidFill>
                  <a:srgbClr val="7A3E10"/>
                </a:solidFill>
                <a:latin typeface="Calibri" pitchFamily="34" charset="0"/>
              </a:rPr>
              <a:t>Longer calls mean lower satisfaction (0.54 points lost per 10 minutes); repeat contacts raise escalation.</a:t>
            </a:r>
          </a:p>
        </p:txBody>
      </p:sp>
      <p:sp>
        <p:nvSpPr>
          <p:cNvPr id="21" name="Shape 21"/>
          <p:cNvSpPr/>
          <p:nvPr/>
        </p:nvSpPr>
        <p:spPr>
          <a:xfrm>
            <a:off x="6217920" y="4251960"/>
            <a:ext cx="5330952" cy="1920240"/>
          </a:xfrm>
          <a:prstGeom prst="roundRect">
            <a:avLst>
              <a:gd name="adj" fmla="val 2273"/>
            </a:avLst>
          </a:prstGeom>
          <a:solidFill>
            <a:srgbClr val="FFF6EA"/>
          </a:solidFill>
          <a:ln/>
        </p:spPr>
        <p:txBody>
          <a:bodyPr/>
          <a:lstStyle/>
          <a:p>
            <a:endParaRPr lang="en-US"/>
          </a:p>
        </p:txBody>
      </p:sp>
      <p:sp>
        <p:nvSpPr>
          <p:cNvPr id="22" name="Text 22"/>
          <p:cNvSpPr txBox="1"/>
          <p:nvPr/>
        </p:nvSpPr>
        <p:spPr>
          <a:xfrm>
            <a:off x="6446520" y="4434840"/>
            <a:ext cx="4873752" cy="320040"/>
          </a:xfrm>
          <a:prstGeom prst="rect">
            <a:avLst/>
          </a:prstGeom>
          <a:noFill/>
          <a:ln/>
        </p:spPr>
        <p:txBody>
          <a:bodyPr wrap="square" lIns="0" tIns="0" rIns="0" bIns="0" rtlCol="0" anchor="ctr"/>
          <a:lstStyle/>
          <a:p>
            <a:pPr marL="0" indent="0" algn="l">
              <a:spcAft>
                <a:spcPts val="0"/>
              </a:spcAft>
              <a:buNone/>
            </a:pPr>
            <a:r>
              <a:rPr lang="en-US" sz="1600" b="1" dirty="0">
                <a:solidFill>
                  <a:srgbClr val="7A3E10"/>
                </a:solidFill>
                <a:latin typeface="Calibri" pitchFamily="34" charset="0"/>
              </a:rPr>
              <a:t>Confidence interval &amp; sampling</a:t>
            </a:r>
          </a:p>
        </p:txBody>
      </p:sp>
      <p:sp>
        <p:nvSpPr>
          <p:cNvPr id="23" name="Text 23"/>
          <p:cNvSpPr txBox="1"/>
          <p:nvPr/>
        </p:nvSpPr>
        <p:spPr>
          <a:xfrm>
            <a:off x="6446520" y="4800600"/>
            <a:ext cx="4873752" cy="640080"/>
          </a:xfrm>
          <a:prstGeom prst="rect">
            <a:avLst/>
          </a:prstGeom>
          <a:noFill/>
          <a:ln/>
        </p:spPr>
        <p:txBody>
          <a:bodyPr wrap="square" lIns="0" tIns="0" rIns="0" bIns="0" rtlCol="0" anchor="t"/>
          <a:lstStyle/>
          <a:p>
            <a:pPr marL="0" indent="0" algn="l">
              <a:spcAft>
                <a:spcPts val="0"/>
              </a:spcAft>
              <a:buNone/>
            </a:pPr>
            <a:r>
              <a:rPr lang="en-US" sz="1200" dirty="0">
                <a:solidFill>
                  <a:srgbClr val="5A4636"/>
                </a:solidFill>
                <a:latin typeface="Calibri" pitchFamily="34" charset="0"/>
              </a:rPr>
              <a:t>Escalation rate, satisfaction rate, resolution effectiveness; regions vs channels</a:t>
            </a:r>
          </a:p>
        </p:txBody>
      </p:sp>
      <p:sp>
        <p:nvSpPr>
          <p:cNvPr id="24" name="Text 24"/>
          <p:cNvSpPr txBox="1"/>
          <p:nvPr/>
        </p:nvSpPr>
        <p:spPr>
          <a:xfrm>
            <a:off x="6446520" y="5532120"/>
            <a:ext cx="4873752" cy="594360"/>
          </a:xfrm>
          <a:prstGeom prst="rect">
            <a:avLst/>
          </a:prstGeom>
          <a:noFill/>
          <a:ln/>
        </p:spPr>
        <p:txBody>
          <a:bodyPr wrap="square" lIns="0" tIns="0" rIns="0" bIns="0" rtlCol="0" anchor="ctr"/>
          <a:lstStyle/>
          <a:p>
            <a:pPr marL="0" indent="0" algn="l">
              <a:spcAft>
                <a:spcPts val="0"/>
              </a:spcAft>
              <a:buNone/>
            </a:pPr>
            <a:r>
              <a:rPr lang="en-US" sz="1400" dirty="0" b="1">
                <a:solidFill>
                  <a:srgbClr val="7A3E10"/>
                </a:solidFill>
                <a:latin typeface="Calibri" pitchFamily="34" charset="0"/>
              </a:rPr>
              <a:t>About 17% of interactions escalate (16.7% to 18.1%, 95% confidence); phone 25% vs digital 11%.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691640"/>
          </a:xfrm>
          <a:prstGeom prst="rect">
            <a:avLst/>
          </a:prstGeom>
          <a:solidFill>
            <a:srgbClr val="FBE3C2"/>
          </a:solidFill>
          <a:ln/>
        </p:spPr>
        <p:txBody>
          <a:bodyPr/>
          <a:lstStyle/>
          <a:p>
            <a:endParaRPr lang="en-US"/>
          </a:p>
        </p:txBody>
      </p:sp>
      <p:sp>
        <p:nvSpPr>
          <p:cNvPr id="3" name="Shape 1"/>
          <p:cNvSpPr>
            <a:spLocks/>
          </p:cNvSpPr>
          <p:nvPr/>
        </p:nvSpPr>
        <p:spPr>
          <a:xfrm>
            <a:off x="0" y="1691640"/>
            <a:ext cx="12188952" cy="64008"/>
          </a:xfrm>
          <a:prstGeom prst="rect">
            <a:avLst/>
          </a:prstGeom>
          <a:solidFill>
            <a:srgbClr val="E8871E"/>
          </a:solidFill>
          <a:ln/>
        </p:spPr>
        <p:txBody>
          <a:bodyPr/>
          <a:lstStyle/>
          <a:p>
            <a:endParaRPr lang="en-US"/>
          </a:p>
        </p:txBody>
      </p:sp>
      <p:pic>
        <p:nvPicPr>
          <p:cNvPr id="4" name="Image 0" descr="/home/claude/capstone_template/eta_logo.png"/>
          <p:cNvPicPr>
            <a:picLocks noChangeAspect="1"/>
          </p:cNvPicPr>
          <p:nvPr/>
        </p:nvPicPr>
        <p:blipFill>
          <a:blip r:embed="rId3"/>
          <a:stretch>
            <a:fillRect/>
          </a:stretch>
        </p:blipFill>
        <p:spPr>
          <a:xfrm>
            <a:off x="548640" y="448056"/>
            <a:ext cx="1554480" cy="186423"/>
          </a:xfrm>
          <a:prstGeom prst="rect">
            <a:avLst/>
          </a:prstGeom>
        </p:spPr>
      </p:pic>
      <p:pic>
        <p:nvPicPr>
          <p:cNvPr id="5" name="Image 1" descr="/home/claude/capstone_template/wingspan_logo.png"/>
          <p:cNvPicPr>
            <a:picLocks noChangeAspect="1"/>
          </p:cNvPicPr>
          <p:nvPr/>
        </p:nvPicPr>
        <p:blipFill>
          <a:blip r:embed="rId4"/>
          <a:stretch>
            <a:fillRect/>
          </a:stretch>
        </p:blipFill>
        <p:spPr>
          <a:xfrm>
            <a:off x="11116818" y="349243"/>
            <a:ext cx="432054" cy="384048"/>
          </a:xfrm>
          <a:prstGeom prst="rect">
            <a:avLst/>
          </a:prstGeom>
        </p:spPr>
      </p:pic>
      <p:sp>
        <p:nvSpPr>
          <p:cNvPr id="6" name="Text 2"/>
          <p:cNvSpPr txBox="1"/>
          <p:nvPr/>
        </p:nvSpPr>
        <p:spPr>
          <a:xfrm>
            <a:off x="2606040" y="384048"/>
            <a:ext cx="7916418" cy="274320"/>
          </a:xfrm>
          <a:prstGeom prst="rect">
            <a:avLst/>
          </a:prstGeom>
          <a:noFill/>
          <a:ln/>
        </p:spPr>
        <p:txBody>
          <a:bodyPr wrap="square" lIns="0" tIns="0" rIns="0" bIns="0" rtlCol="0" anchor="ctr"/>
          <a:lstStyle/>
          <a:p>
            <a:pPr marL="0" indent="0" algn="l">
              <a:buNone/>
            </a:pPr>
            <a:r>
              <a:rPr lang="en-US" sz="1100" b="1" kern="0" spc="200" dirty="0">
                <a:solidFill>
                  <a:srgbClr val="E8871E"/>
                </a:solidFill>
                <a:latin typeface="Calibri" pitchFamily="34" charset="0"/>
                <a:ea typeface="Calibri" pitchFamily="34" charset="-122"/>
                <a:cs typeface="Calibri" pitchFamily="34" charset="-120"/>
              </a:rPr>
              <a:t>SECTION 06</a:t>
            </a:r>
            <a:endParaRPr lang="en-US" sz="1100" dirty="0"/>
          </a:p>
        </p:txBody>
      </p:sp>
      <p:sp>
        <p:nvSpPr>
          <p:cNvPr id="7" name="Text 3"/>
          <p:cNvSpPr txBox="1"/>
          <p:nvPr/>
        </p:nvSpPr>
        <p:spPr>
          <a:xfrm>
            <a:off x="2606040" y="685800"/>
            <a:ext cx="7916418" cy="914400"/>
          </a:xfrm>
          <a:prstGeom prst="rect">
            <a:avLst/>
          </a:prstGeom>
          <a:noFill/>
          <a:ln/>
        </p:spPr>
        <p:txBody>
          <a:bodyPr wrap="square" lIns="0" tIns="0" rIns="0" bIns="0" rtlCol="0" anchor="t"/>
          <a:lstStyle/>
          <a:p>
            <a:pPr marL="0" indent="0" algn="l">
              <a:buNone/>
            </a:pPr>
            <a:r>
              <a:rPr lang="en-US" sz="2600" b="1" dirty="0">
                <a:solidFill>
                  <a:srgbClr val="7A3E10"/>
                </a:solidFill>
                <a:latin typeface="Calibri" pitchFamily="34" charset="0"/>
                <a:ea typeface="Calibri" pitchFamily="34" charset="-122"/>
                <a:cs typeface="Calibri" pitchFamily="34" charset="-120"/>
              </a:rPr>
              <a:t>EDA Findings</a:t>
            </a:r>
            <a:endParaRPr lang="en-US" sz="2600" dirty="0"/>
          </a:p>
        </p:txBody>
      </p:sp>
      <p:sp>
        <p:nvSpPr>
          <p:cNvPr id="8" name="Text 4"/>
          <p:cNvSpPr txBox="1"/>
          <p:nvPr/>
        </p:nvSpPr>
        <p:spPr>
          <a:xfrm>
            <a:off x="11274552" y="1307592"/>
            <a:ext cx="548640" cy="320040"/>
          </a:xfrm>
          <a:prstGeom prst="rect">
            <a:avLst/>
          </a:prstGeom>
          <a:noFill/>
          <a:ln/>
        </p:spPr>
        <p:txBody>
          <a:bodyPr wrap="square" lIns="0" tIns="0" rIns="0" bIns="0" rtlCol="0" anchor="ctr"/>
          <a:lstStyle/>
          <a:p>
            <a:pPr marL="0" indent="0" algn="r">
              <a:buNone/>
            </a:pPr>
            <a:r>
              <a:rPr lang="en-US" sz="1100" b="1" dirty="0">
                <a:solidFill>
                  <a:srgbClr val="9C7A4E"/>
                </a:solidFill>
                <a:latin typeface="Calibri" pitchFamily="34" charset="0"/>
                <a:ea typeface="Calibri" pitchFamily="34" charset="-122"/>
                <a:cs typeface="Calibri" pitchFamily="34" charset="-120"/>
              </a:rPr>
              <a:t>07</a:t>
            </a:r>
            <a:endParaRPr lang="en-US" sz="1100" dirty="0"/>
          </a:p>
        </p:txBody>
      </p:sp>
      <p:sp>
        <p:nvSpPr>
          <p:cNvPr id="9" name="Shape 9"/>
          <p:cNvSpPr/>
          <p:nvPr/>
        </p:nvSpPr>
        <p:spPr>
          <a:xfrm>
            <a:off x="640080" y="2194560"/>
            <a:ext cx="3544824" cy="1737360"/>
          </a:xfrm>
          <a:prstGeom prst="roundRect">
            <a:avLst>
              <a:gd name="adj" fmla="val 4000"/>
            </a:avLst>
          </a:prstGeom>
          <a:solidFill>
            <a:srgbClr val="FFF6EA"/>
          </a:solidFill>
          <a:ln w="15875">
            <a:solidFill>
              <a:srgbClr val="F0DCC0"/>
            </a:solidFill>
            <a:prstDash val="dash"/>
          </a:ln>
        </p:spPr>
        <p:txBody>
          <a:bodyPr/>
          <a:lstStyle/>
          <a:p>
            <a:endParaRPr lang="en-US"/>
          </a:p>
        </p:txBody>
      </p:sp>
      <p:sp>
        <p:nvSpPr>
          <p:cNvPr id="11" name="Text 11"/>
          <p:cNvSpPr txBox="1"/>
          <p:nvPr/>
        </p:nvSpPr>
        <p:spPr>
          <a:xfrm>
            <a:off x="731520" y="3391920"/>
            <a:ext cx="3361944" cy="480000"/>
          </a:xfrm>
          <a:prstGeom prst="rect">
            <a:avLst/>
          </a:prstGeom>
          <a:noFill/>
          <a:ln/>
        </p:spPr>
        <p:txBody>
          <a:bodyPr wrap="square" lIns="0" tIns="0" rIns="0" bIns="0" rtlCol="0" anchor="ctr"/>
          <a:lstStyle/>
          <a:p>
            <a:pPr marL="0" indent="0" algn="ctr">
              <a:spcAft>
                <a:spcPts val="0"/>
              </a:spcAft>
              <a:buNone/>
            </a:pPr>
            <a:r>
              <a:rPr lang="en-US" sz="1200" b="1" dirty="0">
                <a:solidFill>
                  <a:srgbClr val="7A3E10"/>
                </a:solidFill>
                <a:latin typeface="Calibri" pitchFamily="34" charset="0"/>
              </a:rPr>
              <a:t>Baseline KPIs (10,000 interactions)</a:t>
            </a:r>
          </a:p>
        </p:txBody>
      </p:sp>
      <p:sp>
        <p:nvSpPr>
          <p:cNvPr id="12" name="Shape 12"/>
          <p:cNvSpPr/>
          <p:nvPr/>
        </p:nvSpPr>
        <p:spPr>
          <a:xfrm>
            <a:off x="4322064" y="2194560"/>
            <a:ext cx="3544824" cy="1737360"/>
          </a:xfrm>
          <a:prstGeom prst="roundRect">
            <a:avLst>
              <a:gd name="adj" fmla="val 4000"/>
            </a:avLst>
          </a:prstGeom>
          <a:solidFill>
            <a:srgbClr val="FFF6EA"/>
          </a:solidFill>
          <a:ln w="15875">
            <a:solidFill>
              <a:srgbClr val="F0DCC0"/>
            </a:solidFill>
            <a:prstDash val="dash"/>
          </a:ln>
        </p:spPr>
        <p:txBody>
          <a:bodyPr/>
          <a:lstStyle/>
          <a:p>
            <a:endParaRPr lang="en-US"/>
          </a:p>
        </p:txBody>
      </p:sp>
      <p:sp>
        <p:nvSpPr>
          <p:cNvPr id="14" name="Text 14"/>
          <p:cNvSpPr txBox="1"/>
          <p:nvPr/>
        </p:nvSpPr>
        <p:spPr>
          <a:xfrm>
            <a:off x="4413504" y="3391920"/>
            <a:ext cx="3361944" cy="480000"/>
          </a:xfrm>
          <a:prstGeom prst="rect">
            <a:avLst/>
          </a:prstGeom>
          <a:noFill/>
          <a:ln/>
        </p:spPr>
        <p:txBody>
          <a:bodyPr wrap="square" lIns="0" tIns="0" rIns="0" bIns="0" rtlCol="0" anchor="ctr"/>
          <a:lstStyle/>
          <a:p>
            <a:pPr marL="0" indent="0" algn="ctr">
              <a:spcAft>
                <a:spcPts val="0"/>
              </a:spcAft>
              <a:buNone/>
            </a:pPr>
            <a:r>
              <a:rPr lang="en-US" sz="1200" b="1" dirty="0">
                <a:solidFill>
                  <a:srgbClr val="7A3E10"/>
                </a:solidFill>
                <a:latin typeface="Calibri" pitchFamily="34" charset="0"/>
              </a:rPr>
              <a:t>Contacts vs Escalation (avg contacts)</a:t>
            </a:r>
          </a:p>
        </p:txBody>
      </p:sp>
      <p:sp>
        <p:nvSpPr>
          <p:cNvPr id="15" name="Shape 15"/>
          <p:cNvSpPr/>
          <p:nvPr/>
        </p:nvSpPr>
        <p:spPr>
          <a:xfrm>
            <a:off x="8004048" y="2194560"/>
            <a:ext cx="3544824" cy="1737360"/>
          </a:xfrm>
          <a:prstGeom prst="roundRect">
            <a:avLst>
              <a:gd name="adj" fmla="val 4000"/>
            </a:avLst>
          </a:prstGeom>
          <a:solidFill>
            <a:srgbClr val="FFF6EA"/>
          </a:solidFill>
          <a:ln w="15875">
            <a:solidFill>
              <a:srgbClr val="F0DCC0"/>
            </a:solidFill>
            <a:prstDash val="dash"/>
          </a:ln>
        </p:spPr>
        <p:txBody>
          <a:bodyPr/>
          <a:lstStyle/>
          <a:p>
            <a:endParaRPr lang="en-US"/>
          </a:p>
        </p:txBody>
      </p:sp>
      <p:sp>
        <p:nvSpPr>
          <p:cNvPr id="17" name="Text 17"/>
          <p:cNvSpPr txBox="1"/>
          <p:nvPr/>
        </p:nvSpPr>
        <p:spPr>
          <a:xfrm>
            <a:off x="8095488" y="3391920"/>
            <a:ext cx="3361944" cy="480000"/>
          </a:xfrm>
          <a:prstGeom prst="rect">
            <a:avLst/>
          </a:prstGeom>
          <a:noFill/>
          <a:ln/>
        </p:spPr>
        <p:txBody>
          <a:bodyPr wrap="square" lIns="0" tIns="0" rIns="0" bIns="0" rtlCol="0" anchor="ctr"/>
          <a:lstStyle/>
          <a:p>
            <a:pPr marL="0" indent="0" algn="ctr">
              <a:spcAft>
                <a:spcPts val="0"/>
              </a:spcAft>
              <a:buNone/>
            </a:pPr>
            <a:r>
              <a:rPr lang="en-US" sz="1200" b="1" dirty="0">
                <a:solidFill>
                  <a:srgbClr val="7A3E10"/>
                </a:solidFill>
                <a:latin typeface="Calibri" pitchFamily="34" charset="0"/>
              </a:rPr>
              <a:t>Resolution Time vs Satisfaction</a:t>
            </a:r>
          </a:p>
        </p:txBody>
      </p:sp>
      <p:sp>
        <p:nvSpPr>
          <p:cNvPr id="18" name="Shape 18"/>
          <p:cNvSpPr/>
          <p:nvPr/>
        </p:nvSpPr>
        <p:spPr>
          <a:xfrm>
            <a:off x="640080" y="4069080"/>
            <a:ext cx="3544824" cy="1737360"/>
          </a:xfrm>
          <a:prstGeom prst="roundRect">
            <a:avLst>
              <a:gd name="adj" fmla="val 4000"/>
            </a:avLst>
          </a:prstGeom>
          <a:solidFill>
            <a:srgbClr val="FFF6EA"/>
          </a:solidFill>
          <a:ln w="15875">
            <a:solidFill>
              <a:srgbClr val="F0DCC0"/>
            </a:solidFill>
            <a:prstDash val="dash"/>
          </a:ln>
        </p:spPr>
        <p:txBody>
          <a:bodyPr/>
          <a:lstStyle/>
          <a:p>
            <a:endParaRPr lang="en-US"/>
          </a:p>
        </p:txBody>
      </p:sp>
      <p:sp>
        <p:nvSpPr>
          <p:cNvPr id="20" name="Text 20"/>
          <p:cNvSpPr txBox="1"/>
          <p:nvPr/>
        </p:nvSpPr>
        <p:spPr>
          <a:xfrm>
            <a:off x="731520" y="5266440"/>
            <a:ext cx="3361944" cy="480000"/>
          </a:xfrm>
          <a:prstGeom prst="rect">
            <a:avLst/>
          </a:prstGeom>
          <a:noFill/>
          <a:ln/>
        </p:spPr>
        <p:txBody>
          <a:bodyPr wrap="square" lIns="0" tIns="0" rIns="0" bIns="0" rtlCol="0" anchor="ctr"/>
          <a:lstStyle/>
          <a:p>
            <a:pPr marL="0" indent="0" algn="ctr">
              <a:spcAft>
                <a:spcPts val="0"/>
              </a:spcAft>
              <a:buNone/>
            </a:pPr>
            <a:r>
              <a:rPr lang="en-US" sz="1200" b="1" dirty="0">
                <a:solidFill>
                  <a:srgbClr val="7A3E10"/>
                </a:solidFill>
                <a:latin typeface="Calibri" pitchFamily="34" charset="0"/>
              </a:rPr>
              <a:t>Channel vs Escalation (% escalated)</a:t>
            </a:r>
          </a:p>
        </p:txBody>
      </p:sp>
      <p:sp>
        <p:nvSpPr>
          <p:cNvPr id="21" name="Shape 21"/>
          <p:cNvSpPr/>
          <p:nvPr/>
        </p:nvSpPr>
        <p:spPr>
          <a:xfrm>
            <a:off x="4322064" y="4069080"/>
            <a:ext cx="3544824" cy="1737360"/>
          </a:xfrm>
          <a:prstGeom prst="roundRect">
            <a:avLst>
              <a:gd name="adj" fmla="val 4000"/>
            </a:avLst>
          </a:prstGeom>
          <a:solidFill>
            <a:srgbClr val="FFF6EA"/>
          </a:solidFill>
          <a:ln w="15875">
            <a:solidFill>
              <a:srgbClr val="F0DCC0"/>
            </a:solidFill>
            <a:prstDash val="dash"/>
          </a:ln>
        </p:spPr>
        <p:txBody>
          <a:bodyPr/>
          <a:lstStyle/>
          <a:p>
            <a:endParaRPr lang="en-US"/>
          </a:p>
        </p:txBody>
      </p:sp>
      <p:sp>
        <p:nvSpPr>
          <p:cNvPr id="23" name="Text 23"/>
          <p:cNvSpPr txBox="1"/>
          <p:nvPr/>
        </p:nvSpPr>
        <p:spPr>
          <a:xfrm>
            <a:off x="4413504" y="5266440"/>
            <a:ext cx="3361944" cy="480000"/>
          </a:xfrm>
          <a:prstGeom prst="rect">
            <a:avLst/>
          </a:prstGeom>
          <a:noFill/>
          <a:ln/>
        </p:spPr>
        <p:txBody>
          <a:bodyPr wrap="square" lIns="0" tIns="0" rIns="0" bIns="0" rtlCol="0" anchor="ctr"/>
          <a:lstStyle/>
          <a:p>
            <a:pPr marL="0" indent="0" algn="ctr">
              <a:spcAft>
                <a:spcPts val="0"/>
              </a:spcAft>
              <a:buNone/>
            </a:pPr>
            <a:r>
              <a:rPr lang="en-US" sz="1200" b="1" dirty="0">
                <a:solidFill>
                  <a:srgbClr val="7A3E10"/>
                </a:solidFill>
                <a:latin typeface="Calibri" pitchFamily="34" charset="0"/>
              </a:rPr>
              <a:t>Persona vs Escalation (% escalated)</a:t>
            </a:r>
          </a:p>
        </p:txBody>
      </p:sp>
      <p:sp>
        <p:nvSpPr>
          <p:cNvPr id="24" name="Shape 24"/>
          <p:cNvSpPr/>
          <p:nvPr/>
        </p:nvSpPr>
        <p:spPr>
          <a:xfrm>
            <a:off x="8004048" y="4069080"/>
            <a:ext cx="3544824" cy="1737360"/>
          </a:xfrm>
          <a:prstGeom prst="roundRect">
            <a:avLst>
              <a:gd name="adj" fmla="val 4000"/>
            </a:avLst>
          </a:prstGeom>
          <a:solidFill>
            <a:srgbClr val="FFF6EA"/>
          </a:solidFill>
          <a:ln w="15875">
            <a:solidFill>
              <a:srgbClr val="F0DCC0"/>
            </a:solidFill>
            <a:prstDash val="dash"/>
          </a:ln>
        </p:spPr>
        <p:txBody>
          <a:bodyPr/>
          <a:lstStyle/>
          <a:p>
            <a:endParaRPr lang="en-US"/>
          </a:p>
        </p:txBody>
      </p:sp>
      <p:sp>
        <p:nvSpPr>
          <p:cNvPr id="26" name="Text 26"/>
          <p:cNvSpPr txBox="1"/>
          <p:nvPr/>
        </p:nvSpPr>
        <p:spPr>
          <a:xfrm>
            <a:off x="8095488" y="5266440"/>
            <a:ext cx="3361944" cy="480000"/>
          </a:xfrm>
          <a:prstGeom prst="rect">
            <a:avLst/>
          </a:prstGeom>
          <a:noFill/>
          <a:ln/>
        </p:spPr>
        <p:txBody>
          <a:bodyPr wrap="square" lIns="0" tIns="0" rIns="0" bIns="0" rtlCol="0" anchor="ctr"/>
          <a:lstStyle/>
          <a:p>
            <a:pPr marL="0" indent="0" algn="ctr">
              <a:spcAft>
                <a:spcPts val="0"/>
              </a:spcAft>
              <a:buNone/>
            </a:pPr>
            <a:r>
              <a:rPr lang="en-US" sz="1200" b="1" dirty="0">
                <a:solidFill>
                  <a:srgbClr val="7A3E10"/>
                </a:solidFill>
                <a:latin typeface="Calibri" pitchFamily="34" charset="0"/>
              </a:rPr>
              <a:t>Complaint keyword lift</a:t>
            </a:r>
          </a:p>
        </p:txBody>
      </p:sp>
      <p:sp>
        <p:nvSpPr>
          <p:cNvPr id="27" name="Text 27"/>
          <p:cNvSpPr txBox="1"/>
          <p:nvPr/>
        </p:nvSpPr>
        <p:spPr>
          <a:xfrm>
            <a:off x="640080" y="5961888"/>
            <a:ext cx="10908792" cy="365760"/>
          </a:xfrm>
          <a:prstGeom prst="rect">
            <a:avLst/>
          </a:prstGeom>
          <a:noFill/>
          <a:ln/>
        </p:spPr>
        <p:txBody>
          <a:bodyPr wrap="square" lIns="0" tIns="0" rIns="0" bIns="0" rtlCol="0" anchor="ctr"/>
          <a:lstStyle/>
          <a:p>
            <a:pPr marL="0" indent="0" algn="l">
              <a:spcAft>
                <a:spcPts val="0"/>
              </a:spcAft>
              <a:buNone/>
            </a:pPr>
            <a:r>
              <a:rPr lang="en-US" sz="1400" b="1" dirty="0">
                <a:solidFill>
                  <a:srgbClr val="7A3E10"/>
                </a:solidFill>
                <a:latin typeface="Calibri" pitchFamily="34" charset="0"/>
              </a:rPr>
              <a:t>Key EDA insight - </a:t>
            </a:r>
            <a:r>
              <a:rPr lang="en-US" sz="1400" b="0" dirty="0">
                <a:solidFill>
                  <a:srgbClr val="5A4636"/>
                </a:solidFill>
                <a:latin typeface="Calibri" pitchFamily="34" charset="0"/>
              </a:rPr>
              <a:t>phone calls, repeat contacts and unresolved first contacts drive friction; Billing and out-of-network claims take longest.</a:t>
            </a:r>
          </a:p>
        </p:txBody>
      </p:sp>
      <p:sp>
        <p:nvSpPr>
          <p:cNvPr id="28" name="TextBox 27"/>
          <p:cNvSpPr txBox="1"/>
          <p:nvPr/>
        </p:nvSpPr>
        <p:spPr>
          <a:xfrm>
            <a:off x="822959" y="2331720"/>
            <a:ext cx="1600200" cy="310896"/>
          </a:xfrm>
          <a:prstGeom prst="rect">
            <a:avLst/>
          </a:prstGeom>
          <a:noFill/>
        </p:spPr>
        <p:txBody>
          <a:bodyPr wrap="square" lIns="0" rIns="0" tIns="0" bIns="0" anchor="t">
            <a:spAutoFit/>
          </a:bodyPr>
          <a:lstStyle/>
          <a:p>
            <a:pPr algn="l"/>
            <a:r>
              <a:rPr sz="2000" b="1">
                <a:solidFill>
                  <a:srgbClr val="E8871E"/>
                </a:solidFill>
                <a:latin typeface="Calibri"/>
              </a:rPr>
              <a:t>17.38%</a:t>
            </a:r>
          </a:p>
        </p:txBody>
      </p:sp>
      <p:sp>
        <p:nvSpPr>
          <p:cNvPr id="29" name="TextBox 28"/>
          <p:cNvSpPr txBox="1"/>
          <p:nvPr/>
        </p:nvSpPr>
        <p:spPr>
          <a:xfrm>
            <a:off x="822959" y="2633472"/>
            <a:ext cx="1600200" cy="182880"/>
          </a:xfrm>
          <a:prstGeom prst="rect">
            <a:avLst/>
          </a:prstGeom>
          <a:noFill/>
        </p:spPr>
        <p:txBody>
          <a:bodyPr wrap="square" lIns="0" rIns="0" tIns="0" bIns="0" anchor="t">
            <a:spAutoFit/>
          </a:bodyPr>
          <a:lstStyle/>
          <a:p>
            <a:pPr algn="l"/>
            <a:r>
              <a:rPr sz="1000" b="0">
                <a:solidFill>
                  <a:srgbClr val="5A4636"/>
                </a:solidFill>
                <a:latin typeface="Calibri"/>
              </a:rPr>
              <a:t>escalation rate</a:t>
            </a:r>
          </a:p>
        </p:txBody>
      </p:sp>
      <p:sp>
        <p:nvSpPr>
          <p:cNvPr id="30" name="TextBox 29"/>
          <p:cNvSpPr txBox="1"/>
          <p:nvPr/>
        </p:nvSpPr>
        <p:spPr>
          <a:xfrm>
            <a:off x="2468880" y="2331720"/>
            <a:ext cx="1600200" cy="310896"/>
          </a:xfrm>
          <a:prstGeom prst="rect">
            <a:avLst/>
          </a:prstGeom>
          <a:noFill/>
        </p:spPr>
        <p:txBody>
          <a:bodyPr wrap="square" lIns="0" rIns="0" tIns="0" bIns="0" anchor="t">
            <a:spAutoFit/>
          </a:bodyPr>
          <a:lstStyle/>
          <a:p>
            <a:pPr algn="l"/>
            <a:r>
              <a:rPr sz="2000" b="1">
                <a:solidFill>
                  <a:srgbClr val="E8871E"/>
                </a:solidFill>
                <a:latin typeface="Calibri"/>
              </a:rPr>
              <a:t>63.47%</a:t>
            </a:r>
          </a:p>
        </p:txBody>
      </p:sp>
      <p:sp>
        <p:nvSpPr>
          <p:cNvPr id="31" name="TextBox 30"/>
          <p:cNvSpPr txBox="1"/>
          <p:nvPr/>
        </p:nvSpPr>
        <p:spPr>
          <a:xfrm>
            <a:off x="2468880" y="2633472"/>
            <a:ext cx="1600200" cy="182880"/>
          </a:xfrm>
          <a:prstGeom prst="rect">
            <a:avLst/>
          </a:prstGeom>
          <a:noFill/>
        </p:spPr>
        <p:txBody>
          <a:bodyPr wrap="square" lIns="0" rIns="0" tIns="0" bIns="0" anchor="t">
            <a:spAutoFit/>
          </a:bodyPr>
          <a:lstStyle/>
          <a:p>
            <a:pPr algn="l"/>
            <a:r>
              <a:rPr sz="1000" b="0">
                <a:solidFill>
                  <a:srgbClr val="5A4636"/>
                </a:solidFill>
                <a:latin typeface="Calibri"/>
              </a:rPr>
              <a:t>first-contact resolution</a:t>
            </a:r>
          </a:p>
        </p:txBody>
      </p:sp>
      <p:sp>
        <p:nvSpPr>
          <p:cNvPr id="32" name="TextBox 31"/>
          <p:cNvSpPr txBox="1"/>
          <p:nvPr/>
        </p:nvSpPr>
        <p:spPr>
          <a:xfrm>
            <a:off x="822959" y="2880360"/>
            <a:ext cx="1600200" cy="310896"/>
          </a:xfrm>
          <a:prstGeom prst="rect">
            <a:avLst/>
          </a:prstGeom>
          <a:noFill/>
        </p:spPr>
        <p:txBody>
          <a:bodyPr wrap="square" lIns="0" rIns="0" tIns="0" bIns="0" anchor="t">
            <a:spAutoFit/>
          </a:bodyPr>
          <a:lstStyle/>
          <a:p>
            <a:pPr algn="l"/>
            <a:r>
              <a:rPr sz="2000" b="1">
                <a:solidFill>
                  <a:srgbClr val="E8871E"/>
                </a:solidFill>
                <a:latin typeface="Calibri"/>
              </a:rPr>
              <a:t>17.9 min</a:t>
            </a:r>
          </a:p>
        </p:txBody>
      </p:sp>
      <p:sp>
        <p:nvSpPr>
          <p:cNvPr id="33" name="TextBox 32"/>
          <p:cNvSpPr txBox="1"/>
          <p:nvPr/>
        </p:nvSpPr>
        <p:spPr>
          <a:xfrm>
            <a:off x="822959" y="3182112"/>
            <a:ext cx="1600200" cy="182880"/>
          </a:xfrm>
          <a:prstGeom prst="rect">
            <a:avLst/>
          </a:prstGeom>
          <a:noFill/>
        </p:spPr>
        <p:txBody>
          <a:bodyPr wrap="square" lIns="0" rIns="0" tIns="0" bIns="0" anchor="t">
            <a:spAutoFit/>
          </a:bodyPr>
          <a:lstStyle/>
          <a:p>
            <a:pPr algn="l"/>
            <a:r>
              <a:rPr sz="1000" b="0">
                <a:solidFill>
                  <a:srgbClr val="5A4636"/>
                </a:solidFill>
                <a:latin typeface="Calibri"/>
              </a:rPr>
              <a:t>mean handle time</a:t>
            </a:r>
          </a:p>
        </p:txBody>
      </p:sp>
      <p:sp>
        <p:nvSpPr>
          <p:cNvPr id="34" name="TextBox 33"/>
          <p:cNvSpPr txBox="1"/>
          <p:nvPr/>
        </p:nvSpPr>
        <p:spPr>
          <a:xfrm>
            <a:off x="2468880" y="2880360"/>
            <a:ext cx="1600200" cy="310896"/>
          </a:xfrm>
          <a:prstGeom prst="rect">
            <a:avLst/>
          </a:prstGeom>
          <a:noFill/>
        </p:spPr>
        <p:txBody>
          <a:bodyPr wrap="square" lIns="0" rIns="0" tIns="0" bIns="0" anchor="t">
            <a:spAutoFit/>
          </a:bodyPr>
          <a:lstStyle/>
          <a:p>
            <a:pPr algn="l"/>
            <a:r>
              <a:rPr sz="2000" b="1">
                <a:solidFill>
                  <a:srgbClr val="E8871E"/>
                </a:solidFill>
                <a:latin typeface="Calibri"/>
              </a:rPr>
              <a:t>3.46 / 5</a:t>
            </a:r>
          </a:p>
        </p:txBody>
      </p:sp>
      <p:sp>
        <p:nvSpPr>
          <p:cNvPr id="35" name="TextBox 34"/>
          <p:cNvSpPr txBox="1"/>
          <p:nvPr/>
        </p:nvSpPr>
        <p:spPr>
          <a:xfrm>
            <a:off x="2468880" y="3182112"/>
            <a:ext cx="1600200" cy="182880"/>
          </a:xfrm>
          <a:prstGeom prst="rect">
            <a:avLst/>
          </a:prstGeom>
          <a:noFill/>
        </p:spPr>
        <p:txBody>
          <a:bodyPr wrap="square" lIns="0" rIns="0" tIns="0" bIns="0" anchor="t">
            <a:spAutoFit/>
          </a:bodyPr>
          <a:lstStyle/>
          <a:p>
            <a:pPr algn="l"/>
            <a:r>
              <a:rPr sz="1000" b="0">
                <a:solidFill>
                  <a:srgbClr val="5A4636"/>
                </a:solidFill>
                <a:latin typeface="Calibri"/>
              </a:rPr>
              <a:t>mean CSAT</a:t>
            </a:r>
          </a:p>
        </p:txBody>
      </p:sp>
      <p:graphicFrame>
        <p:nvGraphicFramePr>
          <p:cNvPr id="36" name="Chart 35"/>
          <p:cNvGraphicFramePr>
            <a:graphicFrameLocks noGrp="1"/>
          </p:cNvGraphicFramePr>
          <p:nvPr/>
        </p:nvGraphicFramePr>
        <p:xfrm>
          <a:off x="4370832" y="2240280"/>
          <a:ext cx="3456432" cy="1143000"/>
        </p:xfrm>
        <a:graphic>
          <a:graphicData uri="http://schemas.openxmlformats.org/drawingml/2006/chart">
            <c:chart xmlns:c="http://schemas.openxmlformats.org/drawingml/2006/chart" r:id="rId2"/>
          </a:graphicData>
        </a:graphic>
      </p:graphicFrame>
      <p:sp>
        <p:nvSpPr>
          <p:cNvPr id="37" name="TextBox 36"/>
          <p:cNvSpPr txBox="1"/>
          <p:nvPr/>
        </p:nvSpPr>
        <p:spPr>
          <a:xfrm>
            <a:off x="8001000" y="2331720"/>
            <a:ext cx="3547872" cy="548640"/>
          </a:xfrm>
          <a:prstGeom prst="rect">
            <a:avLst/>
          </a:prstGeom>
          <a:noFill/>
        </p:spPr>
        <p:txBody>
          <a:bodyPr wrap="square" lIns="0" rIns="0" tIns="0" bIns="0" anchor="t">
            <a:spAutoFit/>
          </a:bodyPr>
          <a:lstStyle/>
          <a:p>
            <a:pPr algn="ctr"/>
            <a:r>
              <a:rPr sz="3000" b="1">
                <a:solidFill>
                  <a:srgbClr val="E8871E"/>
                </a:solidFill>
                <a:latin typeface="Calibri"/>
              </a:rPr>
              <a:t>−0.54</a:t>
            </a:r>
          </a:p>
        </p:txBody>
      </p:sp>
      <p:sp>
        <p:nvSpPr>
          <p:cNvPr id="38" name="TextBox 37"/>
          <p:cNvSpPr txBox="1"/>
          <p:nvPr/>
        </p:nvSpPr>
        <p:spPr>
          <a:xfrm>
            <a:off x="8138160" y="2926080"/>
            <a:ext cx="3273552" cy="411480"/>
          </a:xfrm>
          <a:prstGeom prst="rect">
            <a:avLst/>
          </a:prstGeom>
          <a:noFill/>
        </p:spPr>
        <p:txBody>
          <a:bodyPr wrap="square" lIns="0" rIns="0" tIns="0" bIns="0" anchor="t">
            <a:spAutoFit/>
          </a:bodyPr>
          <a:lstStyle/>
          <a:p>
            <a:pPr algn="ctr"/>
            <a:r>
              <a:rPr sz="1100" b="0">
                <a:solidFill>
                  <a:srgbClr val="5A4636"/>
                </a:solidFill>
                <a:latin typeface="Calibri"/>
              </a:rPr>
              <a:t>CSAT points for every extra 10 minutes of handle time</a:t>
            </a:r>
          </a:p>
        </p:txBody>
      </p:sp>
      <p:graphicFrame>
        <p:nvGraphicFramePr>
          <p:cNvPr id="39" name="Chart 38"/>
          <p:cNvGraphicFramePr>
            <a:graphicFrameLocks noGrp="1"/>
          </p:cNvGraphicFramePr>
          <p:nvPr/>
        </p:nvGraphicFramePr>
        <p:xfrm>
          <a:off x="685800" y="4114800"/>
          <a:ext cx="3456432" cy="1143000"/>
        </p:xfrm>
        <a:graphic>
          <a:graphicData uri="http://schemas.openxmlformats.org/drawingml/2006/chart">
            <c:chart xmlns:c="http://schemas.openxmlformats.org/drawingml/2006/chart" r:id="rId5"/>
          </a:graphicData>
        </a:graphic>
      </p:graphicFrame>
      <p:graphicFrame>
        <p:nvGraphicFramePr>
          <p:cNvPr id="40" name="Chart 39"/>
          <p:cNvGraphicFramePr>
            <a:graphicFrameLocks noGrp="1"/>
          </p:cNvGraphicFramePr>
          <p:nvPr/>
        </p:nvGraphicFramePr>
        <p:xfrm>
          <a:off x="4370832" y="4114800"/>
          <a:ext cx="3456432" cy="1143000"/>
        </p:xfrm>
        <a:graphic>
          <a:graphicData uri="http://schemas.openxmlformats.org/drawingml/2006/chart">
            <c:chart xmlns:c="http://schemas.openxmlformats.org/drawingml/2006/chart" r:id="rId6"/>
          </a:graphicData>
        </a:graphic>
      </p:graphicFrame>
      <p:sp>
        <p:nvSpPr>
          <p:cNvPr id="41" name="TextBox 40"/>
          <p:cNvSpPr txBox="1"/>
          <p:nvPr/>
        </p:nvSpPr>
        <p:spPr>
          <a:xfrm>
            <a:off x="8001000" y="4160520"/>
            <a:ext cx="3547872" cy="548640"/>
          </a:xfrm>
          <a:prstGeom prst="rect">
            <a:avLst/>
          </a:prstGeom>
          <a:noFill/>
        </p:spPr>
        <p:txBody>
          <a:bodyPr wrap="square" lIns="0" rIns="0" tIns="0" bIns="0" anchor="t">
            <a:spAutoFit/>
          </a:bodyPr>
          <a:lstStyle/>
          <a:p>
            <a:pPr algn="ctr"/>
            <a:r>
              <a:rPr sz="3000" b="1">
                <a:solidFill>
                  <a:srgbClr val="E8871E"/>
                </a:solidFill>
                <a:latin typeface="Calibri"/>
              </a:rPr>
              <a:t>3.4x</a:t>
            </a:r>
          </a:p>
        </p:txBody>
      </p:sp>
      <p:sp>
        <p:nvSpPr>
          <p:cNvPr id="42" name="TextBox 41"/>
          <p:cNvSpPr txBox="1"/>
          <p:nvPr/>
        </p:nvSpPr>
        <p:spPr>
          <a:xfrm>
            <a:off x="8138160" y="4754880"/>
            <a:ext cx="3273552" cy="411480"/>
          </a:xfrm>
          <a:prstGeom prst="rect">
            <a:avLst/>
          </a:prstGeom>
          <a:noFill/>
        </p:spPr>
        <p:txBody>
          <a:bodyPr wrap="square" lIns="0" rIns="0" tIns="0" bIns="0" anchor="t">
            <a:spAutoFit/>
          </a:bodyPr>
          <a:lstStyle/>
          <a:p>
            <a:pPr algn="ctr"/>
            <a:r>
              <a:rPr sz="1100" b="0">
                <a:solidFill>
                  <a:srgbClr val="5A4636"/>
                </a:solidFill>
                <a:latin typeface="Calibri"/>
              </a:rPr>
              <a:t>escalation lift for “denied”, “twice”, “delay”, “prior auth”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691640"/>
          </a:xfrm>
          <a:prstGeom prst="rect">
            <a:avLst/>
          </a:prstGeom>
          <a:solidFill>
            <a:srgbClr val="FBE3C2"/>
          </a:solidFill>
          <a:ln/>
        </p:spPr>
        <p:txBody>
          <a:bodyPr/>
          <a:lstStyle/>
          <a:p>
            <a:endParaRPr lang="en-US"/>
          </a:p>
        </p:txBody>
      </p:sp>
      <p:sp>
        <p:nvSpPr>
          <p:cNvPr id="3" name="Shape 1"/>
          <p:cNvSpPr>
            <a:spLocks/>
          </p:cNvSpPr>
          <p:nvPr/>
        </p:nvSpPr>
        <p:spPr>
          <a:xfrm>
            <a:off x="0" y="1691640"/>
            <a:ext cx="12188952" cy="64008"/>
          </a:xfrm>
          <a:prstGeom prst="rect">
            <a:avLst/>
          </a:prstGeom>
          <a:solidFill>
            <a:srgbClr val="E8871E"/>
          </a:solidFill>
          <a:ln/>
        </p:spPr>
        <p:txBody>
          <a:bodyPr/>
          <a:lstStyle/>
          <a:p>
            <a:endParaRPr lang="en-US"/>
          </a:p>
        </p:txBody>
      </p:sp>
      <p:pic>
        <p:nvPicPr>
          <p:cNvPr id="4" name="Image 0" descr="/home/claude/capstone_template/eta_logo.png"/>
          <p:cNvPicPr>
            <a:picLocks noChangeAspect="1"/>
          </p:cNvPicPr>
          <p:nvPr/>
        </p:nvPicPr>
        <p:blipFill>
          <a:blip r:embed="rId3"/>
          <a:stretch>
            <a:fillRect/>
          </a:stretch>
        </p:blipFill>
        <p:spPr>
          <a:xfrm>
            <a:off x="548640" y="448056"/>
            <a:ext cx="1554480" cy="186423"/>
          </a:xfrm>
          <a:prstGeom prst="rect">
            <a:avLst/>
          </a:prstGeom>
        </p:spPr>
      </p:pic>
      <p:pic>
        <p:nvPicPr>
          <p:cNvPr id="5" name="Image 1" descr="/home/claude/capstone_template/wingspan_logo.png"/>
          <p:cNvPicPr>
            <a:picLocks noChangeAspect="1"/>
          </p:cNvPicPr>
          <p:nvPr/>
        </p:nvPicPr>
        <p:blipFill>
          <a:blip r:embed="rId4"/>
          <a:stretch>
            <a:fillRect/>
          </a:stretch>
        </p:blipFill>
        <p:spPr>
          <a:xfrm>
            <a:off x="11116818" y="349243"/>
            <a:ext cx="432054" cy="384048"/>
          </a:xfrm>
          <a:prstGeom prst="rect">
            <a:avLst/>
          </a:prstGeom>
        </p:spPr>
      </p:pic>
      <p:sp>
        <p:nvSpPr>
          <p:cNvPr id="6" name="Text 2"/>
          <p:cNvSpPr txBox="1"/>
          <p:nvPr/>
        </p:nvSpPr>
        <p:spPr>
          <a:xfrm>
            <a:off x="2606040" y="384048"/>
            <a:ext cx="7916418" cy="274320"/>
          </a:xfrm>
          <a:prstGeom prst="rect">
            <a:avLst/>
          </a:prstGeom>
          <a:noFill/>
          <a:ln/>
        </p:spPr>
        <p:txBody>
          <a:bodyPr wrap="square" lIns="0" tIns="0" rIns="0" bIns="0" rtlCol="0" anchor="ctr"/>
          <a:lstStyle/>
          <a:p>
            <a:pPr marL="0" indent="0" algn="l">
              <a:buNone/>
            </a:pPr>
            <a:r>
              <a:rPr lang="en-US" sz="1100" b="1" kern="0" spc="200" dirty="0">
                <a:solidFill>
                  <a:srgbClr val="E8871E"/>
                </a:solidFill>
                <a:latin typeface="Calibri" pitchFamily="34" charset="0"/>
                <a:ea typeface="Calibri" pitchFamily="34" charset="-122"/>
                <a:cs typeface="Calibri" pitchFamily="34" charset="-120"/>
              </a:rPr>
              <a:t>SECTION 07</a:t>
            </a:r>
            <a:endParaRPr lang="en-US" sz="1100" dirty="0"/>
          </a:p>
        </p:txBody>
      </p:sp>
      <p:sp>
        <p:nvSpPr>
          <p:cNvPr id="7" name="Text 3"/>
          <p:cNvSpPr txBox="1"/>
          <p:nvPr/>
        </p:nvSpPr>
        <p:spPr>
          <a:xfrm>
            <a:off x="2606040" y="685800"/>
            <a:ext cx="7916418" cy="914400"/>
          </a:xfrm>
          <a:prstGeom prst="rect">
            <a:avLst/>
          </a:prstGeom>
          <a:noFill/>
          <a:ln/>
        </p:spPr>
        <p:txBody>
          <a:bodyPr wrap="square" lIns="0" tIns="0" rIns="0" bIns="0" rtlCol="0" anchor="t"/>
          <a:lstStyle/>
          <a:p>
            <a:pPr marL="0" indent="0" algn="l">
              <a:buNone/>
            </a:pPr>
            <a:r>
              <a:rPr lang="en-US" sz="2600" b="1" dirty="0">
                <a:solidFill>
                  <a:srgbClr val="7A3E10"/>
                </a:solidFill>
                <a:latin typeface="Calibri" pitchFamily="34" charset="0"/>
                <a:ea typeface="Calibri" pitchFamily="34" charset="-122"/>
                <a:cs typeface="Calibri" pitchFamily="34" charset="-120"/>
              </a:rPr>
              <a:t>Feature Engineering</a:t>
            </a:r>
            <a:endParaRPr lang="en-US" sz="2600" dirty="0"/>
          </a:p>
        </p:txBody>
      </p:sp>
      <p:sp>
        <p:nvSpPr>
          <p:cNvPr id="8" name="Text 4"/>
          <p:cNvSpPr txBox="1"/>
          <p:nvPr/>
        </p:nvSpPr>
        <p:spPr>
          <a:xfrm>
            <a:off x="11274552" y="1307592"/>
            <a:ext cx="548640" cy="320040"/>
          </a:xfrm>
          <a:prstGeom prst="rect">
            <a:avLst/>
          </a:prstGeom>
          <a:noFill/>
          <a:ln/>
        </p:spPr>
        <p:txBody>
          <a:bodyPr wrap="square" lIns="0" tIns="0" rIns="0" bIns="0" rtlCol="0" anchor="ctr"/>
          <a:lstStyle/>
          <a:p>
            <a:pPr marL="0" indent="0" algn="r">
              <a:buNone/>
            </a:pPr>
            <a:r>
              <a:rPr lang="en-US" sz="1100" b="1" dirty="0">
                <a:solidFill>
                  <a:srgbClr val="9C7A4E"/>
                </a:solidFill>
                <a:latin typeface="Calibri" pitchFamily="34" charset="0"/>
                <a:ea typeface="Calibri" pitchFamily="34" charset="-122"/>
                <a:cs typeface="Calibri" pitchFamily="34" charset="-120"/>
              </a:rPr>
              <a:t>08</a:t>
            </a:r>
            <a:endParaRPr lang="en-US" sz="1100" dirty="0"/>
          </a:p>
        </p:txBody>
      </p:sp>
      <p:graphicFrame>
        <p:nvGraphicFramePr>
          <p:cNvPr id="9" name="Table 9"/>
          <p:cNvGraphicFramePr>
            <a:graphicFrameLocks noGrp="1"/>
          </p:cNvGraphicFramePr>
          <p:nvPr/>
        </p:nvGraphicFramePr>
        <p:xfrm>
          <a:off x="640080" y="2194560"/>
          <a:ext cx="10908792" cy="3749040"/>
        </p:xfrm>
        <a:graphic>
          <a:graphicData uri="http://schemas.openxmlformats.org/drawingml/2006/table">
            <a:tbl>
              <a:tblPr/>
              <a:tblGrid>
                <a:gridCol w="3200400"/>
                <a:gridCol w="4206240"/>
                <a:gridCol w="3502152"/>
              </a:tblGrid>
              <a:tr h="457200">
                <a:tc>
                  <a:txBody>
                    <a:bodyPr/>
                    <a:lstStyle/>
                    <a:p>
                      <a:pPr marL="0" indent="0">
                        <a:buNone/>
                      </a:pPr>
                      <a:r>
                        <a:rPr lang="en-US" sz="1200" b="1" dirty="0">
                          <a:solidFill>
                            <a:srgbClr val="FFFFFF"/>
                          </a:solidFill>
                          <a:latin typeface="Calibri" pitchFamily="34" charset="0"/>
                        </a:rPr>
                        <a:t>Engineered Feature</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E8871E"/>
                    </a:solidFill>
                  </a:tcPr>
                </a:tc>
                <a:tc>
                  <a:txBody>
                    <a:bodyPr/>
                    <a:lstStyle/>
                    <a:p>
                      <a:pPr marL="0" indent="0">
                        <a:buNone/>
                      </a:pPr>
                      <a:r>
                        <a:rPr lang="en-US" sz="1200" b="1" dirty="0">
                          <a:solidFill>
                            <a:srgbClr val="FFFFFF"/>
                          </a:solidFill>
                          <a:latin typeface="Calibri" pitchFamily="34" charset="0"/>
                        </a:rPr>
                        <a:t>Logic / Formula</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E8871E"/>
                    </a:solidFill>
                  </a:tcPr>
                </a:tc>
                <a:tc>
                  <a:txBody>
                    <a:bodyPr/>
                    <a:lstStyle/>
                    <a:p>
                      <a:pPr marL="0" indent="0">
                        <a:buNone/>
                      </a:pPr>
                      <a:r>
                        <a:rPr lang="en-US" sz="1200" b="1" dirty="0">
                          <a:solidFill>
                            <a:srgbClr val="FFFFFF"/>
                          </a:solidFill>
                          <a:latin typeface="Calibri" pitchFamily="34" charset="0"/>
                        </a:rPr>
                        <a:t>Why It Matters</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E8871E"/>
                    </a:solidFill>
                  </a:tcPr>
                </a:tc>
              </a:tr>
              <a:tr h="548640">
                <a:tc>
                  <a:txBody>
                    <a:bodyPr/>
                    <a:lstStyle/>
                    <a:p>
                      <a:pPr marL="0" indent="0">
                        <a:buNone/>
                      </a:pPr>
                      <a:r>
                        <a:rPr lang="en-US" sz="1200" b="1" dirty="0">
                          <a:solidFill>
                            <a:srgbClr val="7A3E10"/>
                          </a:solidFill>
                          <a:latin typeface="Calibri" pitchFamily="34" charset="0"/>
                        </a:rPr>
                        <a:t>Contact Frequency Score</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FFF"/>
                    </a:solidFill>
                  </a:tcPr>
                </a:tc>
                <a:tc>
                  <a:txBody>
                    <a:bodyPr/>
                    <a:lstStyle/>
                    <a:p>
                      <a:pPr marL="0" indent="0">
                        <a:buNone/>
                      </a:pPr>
                      <a:r>
                        <a:rPr lang="en-US" sz="1200" dirty="0" b="0">
                          <a:solidFill>
                            <a:srgbClr val="5A4636"/>
                          </a:solidFill>
                          <a:latin typeface="Calibri" pitchFamily="34" charset="0"/>
                        </a:rPr>
                        <a:t>Contacts in a rolling 30 days ÷ maximum contacts (range 1 to 6)</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FFF"/>
                    </a:solidFill>
                  </a:tcPr>
                </a:tc>
                <a:tc>
                  <a:txBody>
                    <a:bodyPr/>
                    <a:lstStyle/>
                    <a:p>
                      <a:pPr marL="0" indent="0">
                        <a:buNone/>
                      </a:pPr>
                      <a:r>
                        <a:rPr lang="en-US" sz="1200" dirty="0" b="0">
                          <a:solidFill>
                            <a:srgbClr val="5A4636"/>
                          </a:solidFill>
                          <a:latin typeface="Calibri" pitchFamily="34" charset="0"/>
                        </a:rPr>
                        <a:t>Escalated cases average 2.88 contacts vs 1.60 (Cohen's d 1.17)</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FFF"/>
                    </a:solidFill>
                  </a:tcPr>
                </a:tc>
              </a:tr>
              <a:tr h="548640">
                <a:tc>
                  <a:txBody>
                    <a:bodyPr/>
                    <a:lstStyle/>
                    <a:p>
                      <a:pPr marL="0" indent="0">
                        <a:buNone/>
                      </a:pPr>
                      <a:r>
                        <a:rPr lang="en-US" sz="1200" b="1" dirty="0">
                          <a:solidFill>
                            <a:srgbClr val="7A3E10"/>
                          </a:solidFill>
                          <a:latin typeface="Calibri" pitchFamily="34" charset="0"/>
                        </a:rPr>
                        <a:t>Digital Adoption Score</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6EA"/>
                    </a:solidFill>
                  </a:tcPr>
                </a:tc>
                <a:tc>
                  <a:txBody>
                    <a:bodyPr/>
                    <a:lstStyle/>
                    <a:p>
                      <a:pPr marL="0" indent="0">
                        <a:buNone/>
                      </a:pPr>
                      <a:r>
                        <a:rPr lang="en-US" sz="1200" dirty="0" b="0">
                          <a:solidFill>
                            <a:srgbClr val="5A4636"/>
                          </a:solidFill>
                          <a:latin typeface="Calibri" pitchFamily="34" charset="0"/>
                        </a:rPr>
                        <a:t>Chat + Mobile App interactions ÷ all interactions per member (0 to 1)</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6EA"/>
                    </a:solidFill>
                  </a:tcPr>
                </a:tc>
                <a:tc>
                  <a:txBody>
                    <a:bodyPr/>
                    <a:lstStyle/>
                    <a:p>
                      <a:pPr marL="0" indent="0">
                        <a:buNone/>
                      </a:pPr>
                      <a:r>
                        <a:rPr lang="en-US" sz="1200" dirty="0" b="0">
                          <a:solidFill>
                            <a:srgbClr val="5A4636"/>
                          </a:solidFill>
                          <a:latin typeface="Calibri" pitchFamily="34" charset="0"/>
                        </a:rPr>
                        <a:t>Low adoption means reliance on phone, which escalates at 25.2%</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6EA"/>
                    </a:solidFill>
                  </a:tcPr>
                </a:tc>
              </a:tr>
              <a:tr h="548640">
                <a:tc>
                  <a:txBody>
                    <a:bodyPr/>
                    <a:lstStyle/>
                    <a:p>
                      <a:pPr marL="0" indent="0">
                        <a:buNone/>
                      </a:pPr>
                      <a:r>
                        <a:rPr lang="en-US" sz="1200" b="1" dirty="0">
                          <a:solidFill>
                            <a:srgbClr val="7A3E10"/>
                          </a:solidFill>
                          <a:latin typeface="Calibri" pitchFamily="34" charset="0"/>
                        </a:rPr>
                        <a:t>Service Friction Index</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FFF"/>
                    </a:solidFill>
                  </a:tcPr>
                </a:tc>
                <a:tc>
                  <a:txBody>
                    <a:bodyPr/>
                    <a:lstStyle/>
                    <a:p>
                      <a:pPr marL="0" indent="0">
                        <a:buNone/>
                      </a:pPr>
                      <a:r>
                        <a:rPr lang="en-US" sz="1200" dirty="0" b="0">
                          <a:solidFill>
                            <a:srgbClr val="5A4636"/>
                          </a:solidFill>
                          <a:latin typeface="Calibri" pitchFamily="34" charset="0"/>
                        </a:rPr>
                        <a:t>0.35 × time/max + 0.35 × contacts/max + 0.30 × (1 − FCR)</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FFF"/>
                    </a:solidFill>
                  </a:tcPr>
                </a:tc>
                <a:tc>
                  <a:txBody>
                    <a:bodyPr/>
                    <a:lstStyle/>
                    <a:p>
                      <a:pPr marL="0" indent="0">
                        <a:buNone/>
                      </a:pPr>
                      <a:r>
                        <a:rPr lang="en-US" sz="1200" dirty="0" b="0">
                          <a:solidFill>
                            <a:srgbClr val="5A4636"/>
                          </a:solidFill>
                          <a:latin typeface="Calibri" pitchFamily="34" charset="0"/>
                        </a:rPr>
                        <a:t>One 0-1 friction score; post-call, so excluded from ML to prevent leakage</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FFF"/>
                    </a:solidFill>
                  </a:tcPr>
                </a:tc>
              </a:tr>
              <a:tr h="548640">
                <a:tc>
                  <a:txBody>
                    <a:bodyPr/>
                    <a:lstStyle/>
                    <a:p>
                      <a:pPr marL="0" indent="0">
                        <a:buNone/>
                      </a:pPr>
                      <a:r>
                        <a:rPr lang="en-US" sz="1200" b="1" dirty="0">
                          <a:solidFill>
                            <a:srgbClr val="7A3E10"/>
                          </a:solidFill>
                          <a:latin typeface="Calibri" pitchFamily="34" charset="0"/>
                        </a:rPr>
                        <a:t>Resolution Complexity Index</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6EA"/>
                    </a:solidFill>
                  </a:tcPr>
                </a:tc>
                <a:tc>
                  <a:txBody>
                    <a:bodyPr/>
                    <a:lstStyle/>
                    <a:p>
                      <a:pPr marL="0" indent="0">
                        <a:buNone/>
                      </a:pPr>
                      <a:r>
                        <a:rPr lang="en-US" sz="1200" dirty="0" b="0">
                          <a:solidFill>
                            <a:srgbClr val="5A4636"/>
                          </a:solidFill>
                          <a:latin typeface="Calibri" pitchFamily="34" charset="0"/>
                        </a:rPr>
                        <a:t>Department difficulty tier (Claims 1.5, Appointments 1.0) × normalised duration</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6EA"/>
                    </a:solidFill>
                  </a:tcPr>
                </a:tc>
                <a:tc>
                  <a:txBody>
                    <a:bodyPr/>
                    <a:lstStyle/>
                    <a:p>
                      <a:pPr marL="0" indent="0">
                        <a:buNone/>
                      </a:pPr>
                      <a:r>
                        <a:rPr lang="en-US" sz="1200" dirty="0" b="0">
                          <a:solidFill>
                            <a:srgbClr val="5A4636"/>
                          </a:solidFill>
                          <a:latin typeface="Calibri" pitchFamily="34" charset="0"/>
                        </a:rPr>
                        <a:t>Separates inherently complex requests from process delays</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6EA"/>
                    </a:solidFill>
                  </a:tcPr>
                </a:tc>
              </a:tr>
              <a:tr h="548640">
                <a:tc>
                  <a:txBody>
                    <a:bodyPr/>
                    <a:lstStyle/>
                    <a:p>
                      <a:pPr marL="0" indent="0">
                        <a:buNone/>
                      </a:pPr>
                      <a:r>
                        <a:rPr lang="en-US" sz="1200" b="1" dirty="0">
                          <a:solidFill>
                            <a:srgbClr val="7A3E10"/>
                          </a:solidFill>
                          <a:latin typeface="Calibri" pitchFamily="34" charset="0"/>
                        </a:rPr>
                        <a:t>Repeat Contact Rate</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FFF"/>
                    </a:solidFill>
                  </a:tcPr>
                </a:tc>
                <a:tc>
                  <a:txBody>
                    <a:bodyPr/>
                    <a:lstStyle/>
                    <a:p>
                      <a:pPr marL="0" indent="0">
                        <a:buNone/>
                      </a:pPr>
                      <a:r>
                        <a:rPr lang="en-US" sz="1200" dirty="0" b="0">
                          <a:solidFill>
                            <a:srgbClr val="5A4636"/>
                          </a:solidFill>
                          <a:latin typeface="Calibri" pitchFamily="34" charset="0"/>
                        </a:rPr>
                        <a:t>Share of a member's inquiries needing more than one contact (flag: contacts &gt; 1)</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FFF"/>
                    </a:solidFill>
                  </a:tcPr>
                </a:tc>
                <a:tc>
                  <a:txBody>
                    <a:bodyPr/>
                    <a:lstStyle/>
                    <a:p>
                      <a:pPr marL="0" indent="0">
                        <a:buNone/>
                      </a:pPr>
                      <a:r>
                        <a:rPr lang="en-US" sz="1200" dirty="0" b="0">
                          <a:solidFill>
                            <a:srgbClr val="5A4636"/>
                          </a:solidFill>
                          <a:latin typeface="Calibri" pitchFamily="34" charset="0"/>
                        </a:rPr>
                        <a:t>Flags unresolved issues early, before they escalate</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FFF"/>
                    </a:solidFill>
                  </a:tcPr>
                </a:tc>
              </a:tr>
              <a:tr h="548640">
                <a:tc>
                  <a:txBody>
                    <a:bodyPr/>
                    <a:lstStyle/>
                    <a:p>
                      <a:pPr marL="0" indent="0">
                        <a:buNone/>
                      </a:pPr>
                      <a:r>
                        <a:rPr lang="en-US" sz="1200" b="1" dirty="0">
                          <a:solidFill>
                            <a:srgbClr val="7A3E10"/>
                          </a:solidFill>
                          <a:latin typeface="Calibri" pitchFamily="34" charset="0"/>
                        </a:rPr>
                        <a:t>Escalation History Score</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6EA"/>
                    </a:solidFill>
                  </a:tcPr>
                </a:tc>
                <a:tc>
                  <a:txBody>
                    <a:bodyPr/>
                    <a:lstStyle/>
                    <a:p>
                      <a:pPr marL="0" indent="0">
                        <a:buNone/>
                      </a:pPr>
                      <a:r>
                        <a:rPr lang="en-US" sz="1200" dirty="0" b="0">
                          <a:solidFill>
                            <a:srgbClr val="5A4636"/>
                          </a:solidFill>
                          <a:latin typeface="Calibri" pitchFamily="34" charset="0"/>
                        </a:rPr>
                        <a:t>Escalated interactions ÷ all interactions, per member</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6EA"/>
                    </a:solidFill>
                  </a:tcPr>
                </a:tc>
                <a:tc>
                  <a:txBody>
                    <a:bodyPr/>
                    <a:lstStyle/>
                    <a:p>
                      <a:pPr marL="0" indent="0">
                        <a:buNone/>
                      </a:pPr>
                      <a:r>
                        <a:rPr lang="en-US" sz="1200" dirty="0" b="0">
                          <a:solidFill>
                            <a:srgbClr val="5A4636"/>
                          </a:solidFill>
                          <a:latin typeface="Calibri" pitchFamily="34" charset="0"/>
                        </a:rPr>
                        <a:t>Feeds segmentation and identifies the Escalation-Prone persona</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6EA"/>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691640"/>
          </a:xfrm>
          <a:prstGeom prst="rect">
            <a:avLst/>
          </a:prstGeom>
          <a:solidFill>
            <a:srgbClr val="FBE3C2"/>
          </a:solidFill>
          <a:ln/>
        </p:spPr>
        <p:txBody>
          <a:bodyPr/>
          <a:lstStyle/>
          <a:p>
            <a:endParaRPr lang="en-US"/>
          </a:p>
        </p:txBody>
      </p:sp>
      <p:sp>
        <p:nvSpPr>
          <p:cNvPr id="3" name="Shape 1"/>
          <p:cNvSpPr>
            <a:spLocks/>
          </p:cNvSpPr>
          <p:nvPr/>
        </p:nvSpPr>
        <p:spPr>
          <a:xfrm>
            <a:off x="0" y="1691640"/>
            <a:ext cx="12188952" cy="64008"/>
          </a:xfrm>
          <a:prstGeom prst="rect">
            <a:avLst/>
          </a:prstGeom>
          <a:solidFill>
            <a:srgbClr val="E8871E"/>
          </a:solidFill>
          <a:ln/>
        </p:spPr>
        <p:txBody>
          <a:bodyPr/>
          <a:lstStyle/>
          <a:p>
            <a:endParaRPr lang="en-US"/>
          </a:p>
        </p:txBody>
      </p:sp>
      <p:pic>
        <p:nvPicPr>
          <p:cNvPr id="4" name="Image 0" descr="/home/claude/capstone_template/eta_logo.png"/>
          <p:cNvPicPr>
            <a:picLocks noChangeAspect="1"/>
          </p:cNvPicPr>
          <p:nvPr/>
        </p:nvPicPr>
        <p:blipFill>
          <a:blip r:embed="rId3"/>
          <a:stretch>
            <a:fillRect/>
          </a:stretch>
        </p:blipFill>
        <p:spPr>
          <a:xfrm>
            <a:off x="548640" y="448056"/>
            <a:ext cx="1554480" cy="186423"/>
          </a:xfrm>
          <a:prstGeom prst="rect">
            <a:avLst/>
          </a:prstGeom>
        </p:spPr>
      </p:pic>
      <p:pic>
        <p:nvPicPr>
          <p:cNvPr id="5" name="Image 1" descr="/home/claude/capstone_template/wingspan_logo.png"/>
          <p:cNvPicPr>
            <a:picLocks noChangeAspect="1"/>
          </p:cNvPicPr>
          <p:nvPr/>
        </p:nvPicPr>
        <p:blipFill>
          <a:blip r:embed="rId4"/>
          <a:stretch>
            <a:fillRect/>
          </a:stretch>
        </p:blipFill>
        <p:spPr>
          <a:xfrm>
            <a:off x="11116818" y="349243"/>
            <a:ext cx="432054" cy="384048"/>
          </a:xfrm>
          <a:prstGeom prst="rect">
            <a:avLst/>
          </a:prstGeom>
        </p:spPr>
      </p:pic>
      <p:sp>
        <p:nvSpPr>
          <p:cNvPr id="6" name="Text 2"/>
          <p:cNvSpPr txBox="1"/>
          <p:nvPr/>
        </p:nvSpPr>
        <p:spPr>
          <a:xfrm>
            <a:off x="2606040" y="384048"/>
            <a:ext cx="7916418" cy="274320"/>
          </a:xfrm>
          <a:prstGeom prst="rect">
            <a:avLst/>
          </a:prstGeom>
          <a:noFill/>
          <a:ln/>
        </p:spPr>
        <p:txBody>
          <a:bodyPr wrap="square" lIns="0" tIns="0" rIns="0" bIns="0" rtlCol="0" anchor="ctr"/>
          <a:lstStyle/>
          <a:p>
            <a:pPr marL="0" indent="0" algn="l">
              <a:buNone/>
            </a:pPr>
            <a:r>
              <a:rPr lang="en-US" sz="1100" b="1" kern="0" spc="200" dirty="0">
                <a:solidFill>
                  <a:srgbClr val="E8871E"/>
                </a:solidFill>
                <a:latin typeface="Calibri" pitchFamily="34" charset="0"/>
                <a:ea typeface="Calibri" pitchFamily="34" charset="-122"/>
                <a:cs typeface="Calibri" pitchFamily="34" charset="-120"/>
              </a:rPr>
              <a:t>SECTION 08</a:t>
            </a:r>
            <a:endParaRPr lang="en-US" sz="1100" dirty="0"/>
          </a:p>
        </p:txBody>
      </p:sp>
      <p:sp>
        <p:nvSpPr>
          <p:cNvPr id="7" name="Text 3"/>
          <p:cNvSpPr txBox="1"/>
          <p:nvPr/>
        </p:nvSpPr>
        <p:spPr>
          <a:xfrm>
            <a:off x="2606040" y="685800"/>
            <a:ext cx="7916418" cy="914400"/>
          </a:xfrm>
          <a:prstGeom prst="rect">
            <a:avLst/>
          </a:prstGeom>
          <a:noFill/>
          <a:ln/>
        </p:spPr>
        <p:txBody>
          <a:bodyPr wrap="square" lIns="0" tIns="0" rIns="0" bIns="0" rtlCol="0" anchor="t"/>
          <a:lstStyle/>
          <a:p>
            <a:pPr marL="0" indent="0" algn="l">
              <a:buNone/>
            </a:pPr>
            <a:r>
              <a:rPr lang="en-US" sz="2600" b="1" dirty="0">
                <a:solidFill>
                  <a:srgbClr val="7A3E10"/>
                </a:solidFill>
                <a:latin typeface="Calibri" pitchFamily="34" charset="0"/>
                <a:ea typeface="Calibri" pitchFamily="34" charset="-122"/>
                <a:cs typeface="Calibri" pitchFamily="34" charset="-120"/>
              </a:rPr>
              <a:t>Escalation Prediction Models</a:t>
            </a:r>
            <a:endParaRPr lang="en-US" sz="2600" dirty="0"/>
          </a:p>
        </p:txBody>
      </p:sp>
      <p:sp>
        <p:nvSpPr>
          <p:cNvPr id="8" name="Text 4"/>
          <p:cNvSpPr txBox="1"/>
          <p:nvPr/>
        </p:nvSpPr>
        <p:spPr>
          <a:xfrm>
            <a:off x="11274552" y="1307592"/>
            <a:ext cx="548640" cy="320040"/>
          </a:xfrm>
          <a:prstGeom prst="rect">
            <a:avLst/>
          </a:prstGeom>
          <a:noFill/>
          <a:ln/>
        </p:spPr>
        <p:txBody>
          <a:bodyPr wrap="square" lIns="0" tIns="0" rIns="0" bIns="0" rtlCol="0" anchor="ctr"/>
          <a:lstStyle/>
          <a:p>
            <a:pPr marL="0" indent="0" algn="r">
              <a:buNone/>
            </a:pPr>
            <a:r>
              <a:rPr lang="en-US" sz="1100" b="1" dirty="0">
                <a:solidFill>
                  <a:srgbClr val="9C7A4E"/>
                </a:solidFill>
                <a:latin typeface="Calibri" pitchFamily="34" charset="0"/>
                <a:ea typeface="Calibri" pitchFamily="34" charset="-122"/>
                <a:cs typeface="Calibri" pitchFamily="34" charset="-120"/>
              </a:rPr>
              <a:t>09</a:t>
            </a:r>
            <a:endParaRPr lang="en-US" sz="1100" dirty="0"/>
          </a:p>
        </p:txBody>
      </p:sp>
      <p:graphicFrame>
        <p:nvGraphicFramePr>
          <p:cNvPr id="9" name="Table 9"/>
          <p:cNvGraphicFramePr>
            <a:graphicFrameLocks noGrp="1"/>
          </p:cNvGraphicFramePr>
          <p:nvPr/>
        </p:nvGraphicFramePr>
        <p:xfrm>
          <a:off x="640080" y="2194560"/>
          <a:ext cx="10908792" cy="2286000"/>
        </p:xfrm>
        <a:graphic>
          <a:graphicData uri="http://schemas.openxmlformats.org/drawingml/2006/table">
            <a:tbl>
              <a:tblPr/>
              <a:tblGrid>
                <a:gridCol w="3008792"/>
                <a:gridCol w="1580000"/>
                <a:gridCol w="1580000"/>
                <a:gridCol w="1580000"/>
                <a:gridCol w="1580000"/>
                <a:gridCol w="1580000"/>
              </a:tblGrid>
              <a:tr h="571500">
                <a:tc>
                  <a:txBody>
                    <a:bodyPr/>
                    <a:lstStyle/>
                    <a:p>
                      <a:pPr marL="0" indent="0">
                        <a:buNone/>
                      </a:pPr>
                      <a:r>
                        <a:rPr lang="en-US" sz="1200" b="1" dirty="0">
                          <a:solidFill>
                            <a:srgbClr val="FFFFFF"/>
                          </a:solidFill>
                          <a:latin typeface="Calibri" pitchFamily="34" charset="0"/>
                        </a:rPr>
                        <a:t>Model</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E8871E"/>
                    </a:solidFill>
                  </a:tcPr>
                </a:tc>
                <a:tc>
                  <a:txBody>
                    <a:bodyPr/>
                    <a:lstStyle/>
                    <a:p>
                      <a:pPr marL="0" indent="0">
                        <a:buNone/>
                      </a:pPr>
                      <a:r>
                        <a:rPr lang="en-US" sz="1200" b="1" dirty="0">
                          <a:solidFill>
                            <a:srgbClr val="FFFFFF"/>
                          </a:solidFill>
                          <a:latin typeface="Calibri" pitchFamily="34" charset="0"/>
                        </a:rPr>
                        <a:t>5-Fold CV AUC</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E8871E"/>
                    </a:solidFill>
                  </a:tcPr>
                </a:tc>
                <a:tc>
                  <a:txBody>
                    <a:bodyPr/>
                    <a:lstStyle/>
                    <a:p>
                      <a:pPr marL="0" indent="0">
                        <a:buNone/>
                      </a:pPr>
                      <a:r>
                        <a:rPr lang="en-US" sz="1200" b="1" dirty="0">
                          <a:solidFill>
                            <a:srgbClr val="FFFFFF"/>
                          </a:solidFill>
                          <a:latin typeface="Calibri" pitchFamily="34" charset="0"/>
                        </a:rPr>
                        <a:t>Test ROC-AUC</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E8871E"/>
                    </a:solidFill>
                  </a:tcPr>
                </a:tc>
                <a:tc>
                  <a:txBody>
                    <a:bodyPr/>
                    <a:lstStyle/>
                    <a:p>
                      <a:pPr marL="0" indent="0">
                        <a:buNone/>
                      </a:pPr>
                      <a:r>
                        <a:rPr lang="en-US" sz="1200" b="1" dirty="0">
                          <a:solidFill>
                            <a:srgbClr val="FFFFFF"/>
                          </a:solidFill>
                          <a:latin typeface="Calibri" pitchFamily="34" charset="0"/>
                        </a:rPr>
                        <a:t>Test PR-AUC</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E8871E"/>
                    </a:solidFill>
                  </a:tcPr>
                </a:tc>
                <a:tc>
                  <a:txBody>
                    <a:bodyPr/>
                    <a:lstStyle/>
                    <a:p>
                      <a:pPr marL="0" indent="0">
                        <a:buNone/>
                      </a:pPr>
                      <a:r>
                        <a:rPr lang="en-US" sz="1200" b="1" dirty="0">
                          <a:solidFill>
                            <a:srgbClr val="FFFFFF"/>
                          </a:solidFill>
                          <a:latin typeface="Calibri" pitchFamily="34" charset="0"/>
                        </a:rPr>
                        <a:t>Escalation Recall</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E8871E"/>
                    </a:solidFill>
                  </a:tcPr>
                </a:tc>
                <a:tc>
                  <a:txBody>
                    <a:bodyPr/>
                    <a:lstStyle/>
                    <a:p>
                      <a:pPr marL="0" indent="0">
                        <a:buNone/>
                      </a:pPr>
                      <a:r>
                        <a:rPr lang="en-US" sz="1200" b="1" dirty="0">
                          <a:solidFill>
                            <a:srgbClr val="FFFFFF"/>
                          </a:solidFill>
                          <a:latin typeface="Calibri" pitchFamily="34" charset="0"/>
                        </a:rPr>
                        <a:t>Test F1</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E8871E"/>
                    </a:solidFill>
                  </a:tcPr>
                </a:tc>
              </a:tr>
              <a:tr h="571500">
                <a:tc>
                  <a:txBody>
                    <a:bodyPr/>
                    <a:lstStyle/>
                    <a:p>
                      <a:pPr marL="0" indent="0">
                        <a:buNone/>
                      </a:pPr>
                      <a:r>
                        <a:rPr lang="en-US" sz="1200" b="1" dirty="0">
                          <a:solidFill>
                            <a:srgbClr val="7A3E10"/>
                          </a:solidFill>
                          <a:latin typeface="Calibri" pitchFamily="34" charset="0"/>
                        </a:rPr>
                        <a:t>Logistic Regression (balanced)</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FFF"/>
                    </a:solidFill>
                  </a:tcPr>
                </a:tc>
                <a:tc>
                  <a:txBody>
                    <a:bodyPr/>
                    <a:lstStyle/>
                    <a:p>
                      <a:pPr marL="0" indent="0">
                        <a:buNone/>
                      </a:pPr>
                      <a:r>
                        <a:rPr lang="en-US" sz="1200" dirty="0" b="1">
                          <a:solidFill>
                            <a:srgbClr val="7A3E10"/>
                          </a:solidFill>
                          <a:latin typeface="Calibri" pitchFamily="34" charset="0"/>
                        </a:rPr>
                        <a:t>0.784</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FFF"/>
                    </a:solidFill>
                  </a:tcPr>
                </a:tc>
                <a:tc>
                  <a:txBody>
                    <a:bodyPr/>
                    <a:lstStyle/>
                    <a:p>
                      <a:pPr marL="0" indent="0">
                        <a:buNone/>
                      </a:pPr>
                      <a:r>
                        <a:rPr lang="en-US" sz="1200" dirty="0" b="1">
                          <a:solidFill>
                            <a:srgbClr val="7A3E10"/>
                          </a:solidFill>
                          <a:latin typeface="Calibri" pitchFamily="34" charset="0"/>
                        </a:rPr>
                        <a:t>0.795</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FFF"/>
                    </a:solidFill>
                  </a:tcPr>
                </a:tc>
                <a:tc>
                  <a:txBody>
                    <a:bodyPr/>
                    <a:lstStyle/>
                    <a:p>
                      <a:pPr marL="0" indent="0">
                        <a:buNone/>
                      </a:pPr>
                      <a:r>
                        <a:rPr lang="en-US" sz="1200" dirty="0" b="1">
                          <a:solidFill>
                            <a:srgbClr val="7A3E10"/>
                          </a:solidFill>
                          <a:latin typeface="Calibri" pitchFamily="34" charset="0"/>
                        </a:rPr>
                        <a:t>0.528</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FFF"/>
                    </a:solidFill>
                  </a:tcPr>
                </a:tc>
                <a:tc>
                  <a:txBody>
                    <a:bodyPr/>
                    <a:lstStyle/>
                    <a:p>
                      <a:pPr marL="0" indent="0">
                        <a:buNone/>
                      </a:pPr>
                      <a:r>
                        <a:rPr lang="en-US" sz="1200" dirty="0" b="1">
                          <a:solidFill>
                            <a:srgbClr val="7A3E10"/>
                          </a:solidFill>
                          <a:latin typeface="Calibri" pitchFamily="34" charset="0"/>
                        </a:rPr>
                        <a:t>66.1%</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FFF"/>
                    </a:solidFill>
                  </a:tcPr>
                </a:tc>
                <a:tc>
                  <a:txBody>
                    <a:bodyPr/>
                    <a:lstStyle/>
                    <a:p>
                      <a:pPr marL="0" indent="0">
                        <a:buNone/>
                      </a:pPr>
                      <a:r>
                        <a:rPr lang="en-US" sz="1200" dirty="0" b="1">
                          <a:solidFill>
                            <a:srgbClr val="7A3E10"/>
                          </a:solidFill>
                          <a:latin typeface="Calibri" pitchFamily="34" charset="0"/>
                        </a:rPr>
                        <a:t>0.494</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FFF"/>
                    </a:solidFill>
                  </a:tcPr>
                </a:tc>
              </a:tr>
              <a:tr h="571500">
                <a:tc>
                  <a:txBody>
                    <a:bodyPr/>
                    <a:lstStyle/>
                    <a:p>
                      <a:pPr marL="0" indent="0">
                        <a:buNone/>
                      </a:pPr>
                      <a:r>
                        <a:rPr lang="en-US" sz="1200" b="1" dirty="0">
                          <a:solidFill>
                            <a:srgbClr val="7A3E10"/>
                          </a:solidFill>
                          <a:latin typeface="Calibri" pitchFamily="34" charset="0"/>
                        </a:rPr>
                        <a:t>Random Forest</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6EA"/>
                    </a:solidFill>
                  </a:tcPr>
                </a:tc>
                <a:tc>
                  <a:txBody>
                    <a:bodyPr/>
                    <a:lstStyle/>
                    <a:p>
                      <a:pPr marL="0" indent="0">
                        <a:buNone/>
                      </a:pPr>
                      <a:r>
                        <a:rPr lang="en-US" sz="1200" dirty="0" b="0">
                          <a:solidFill>
                            <a:srgbClr val="5A4636"/>
                          </a:solidFill>
                          <a:latin typeface="Calibri" pitchFamily="34" charset="0"/>
                        </a:rPr>
                        <a:t>0.771</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6EA"/>
                    </a:solidFill>
                  </a:tcPr>
                </a:tc>
                <a:tc>
                  <a:txBody>
                    <a:bodyPr/>
                    <a:lstStyle/>
                    <a:p>
                      <a:pPr marL="0" indent="0">
                        <a:buNone/>
                      </a:pPr>
                      <a:r>
                        <a:rPr lang="en-US" sz="1200" dirty="0" b="0">
                          <a:solidFill>
                            <a:srgbClr val="5A4636"/>
                          </a:solidFill>
                          <a:latin typeface="Calibri" pitchFamily="34" charset="0"/>
                        </a:rPr>
                        <a:t>0.787</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6EA"/>
                    </a:solidFill>
                  </a:tcPr>
                </a:tc>
                <a:tc>
                  <a:txBody>
                    <a:bodyPr/>
                    <a:lstStyle/>
                    <a:p>
                      <a:pPr marL="0" indent="0">
                        <a:buNone/>
                      </a:pPr>
                      <a:r>
                        <a:rPr lang="en-US" sz="1200" dirty="0" b="0">
                          <a:solidFill>
                            <a:srgbClr val="5A4636"/>
                          </a:solidFill>
                          <a:latin typeface="Calibri" pitchFamily="34" charset="0"/>
                        </a:rPr>
                        <a:t>0.476</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6EA"/>
                    </a:solidFill>
                  </a:tcPr>
                </a:tc>
                <a:tc>
                  <a:txBody>
                    <a:bodyPr/>
                    <a:lstStyle/>
                    <a:p>
                      <a:pPr marL="0" indent="0">
                        <a:buNone/>
                      </a:pPr>
                      <a:r>
                        <a:rPr lang="en-US" sz="1200" dirty="0" b="0">
                          <a:solidFill>
                            <a:srgbClr val="5A4636"/>
                          </a:solidFill>
                          <a:latin typeface="Calibri" pitchFamily="34" charset="0"/>
                        </a:rPr>
                        <a:t>65.2%</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6EA"/>
                    </a:solidFill>
                  </a:tcPr>
                </a:tc>
                <a:tc>
                  <a:txBody>
                    <a:bodyPr/>
                    <a:lstStyle/>
                    <a:p>
                      <a:pPr marL="0" indent="0">
                        <a:buNone/>
                      </a:pPr>
                      <a:r>
                        <a:rPr lang="en-US" sz="1200" dirty="0" b="0">
                          <a:solidFill>
                            <a:srgbClr val="5A4636"/>
                          </a:solidFill>
                          <a:latin typeface="Calibri" pitchFamily="34" charset="0"/>
                        </a:rPr>
                        <a:t>0.489</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6EA"/>
                    </a:solidFill>
                  </a:tcPr>
                </a:tc>
              </a:tr>
              <a:tr h="571500">
                <a:tc>
                  <a:txBody>
                    <a:bodyPr/>
                    <a:lstStyle/>
                    <a:p>
                      <a:pPr marL="0" indent="0">
                        <a:buNone/>
                      </a:pPr>
                      <a:r>
                        <a:rPr lang="en-US" sz="1200" b="1" dirty="0">
                          <a:solidFill>
                            <a:srgbClr val="7A3E10"/>
                          </a:solidFill>
                          <a:latin typeface="Calibri" pitchFamily="34" charset="0"/>
                        </a:rPr>
                        <a:t>Gradient Boosting (HistGB)</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FFF"/>
                    </a:solidFill>
                  </a:tcPr>
                </a:tc>
                <a:tc>
                  <a:txBody>
                    <a:bodyPr/>
                    <a:lstStyle/>
                    <a:p>
                      <a:pPr marL="0" indent="0">
                        <a:buNone/>
                      </a:pPr>
                      <a:r>
                        <a:rPr lang="en-US" sz="1200" dirty="0" b="0">
                          <a:solidFill>
                            <a:srgbClr val="5A4636"/>
                          </a:solidFill>
                          <a:latin typeface="Calibri" pitchFamily="34" charset="0"/>
                        </a:rPr>
                        <a:t>0.758</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FFF"/>
                    </a:solidFill>
                  </a:tcPr>
                </a:tc>
                <a:tc>
                  <a:txBody>
                    <a:bodyPr/>
                    <a:lstStyle/>
                    <a:p>
                      <a:pPr marL="0" indent="0">
                        <a:buNone/>
                      </a:pPr>
                      <a:r>
                        <a:rPr lang="en-US" sz="1200" dirty="0" b="0">
                          <a:solidFill>
                            <a:srgbClr val="5A4636"/>
                          </a:solidFill>
                          <a:latin typeface="Calibri" pitchFamily="34" charset="0"/>
                        </a:rPr>
                        <a:t>0.776</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FFF"/>
                    </a:solidFill>
                  </a:tcPr>
                </a:tc>
                <a:tc>
                  <a:txBody>
                    <a:bodyPr/>
                    <a:lstStyle/>
                    <a:p>
                      <a:pPr marL="0" indent="0">
                        <a:buNone/>
                      </a:pPr>
                      <a:r>
                        <a:rPr lang="en-US" sz="1200" dirty="0" b="0">
                          <a:solidFill>
                            <a:srgbClr val="5A4636"/>
                          </a:solidFill>
                          <a:latin typeface="Calibri" pitchFamily="34" charset="0"/>
                        </a:rPr>
                        <a:t>0.478</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FFF"/>
                    </a:solidFill>
                  </a:tcPr>
                </a:tc>
                <a:tc>
                  <a:txBody>
                    <a:bodyPr/>
                    <a:lstStyle/>
                    <a:p>
                      <a:pPr marL="0" indent="0">
                        <a:buNone/>
                      </a:pPr>
                      <a:r>
                        <a:rPr lang="en-US" sz="1200" dirty="0" b="0">
                          <a:solidFill>
                            <a:srgbClr val="5A4636"/>
                          </a:solidFill>
                          <a:latin typeface="Calibri" pitchFamily="34" charset="0"/>
                        </a:rPr>
                        <a:t>64.4%</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FFF"/>
                    </a:solidFill>
                  </a:tcPr>
                </a:tc>
                <a:tc>
                  <a:txBody>
                    <a:bodyPr/>
                    <a:lstStyle/>
                    <a:p>
                      <a:pPr marL="0" indent="0">
                        <a:buNone/>
                      </a:pPr>
                      <a:r>
                        <a:rPr lang="en-US" sz="1200" dirty="0" b="0">
                          <a:solidFill>
                            <a:srgbClr val="5A4636"/>
                          </a:solidFill>
                          <a:latin typeface="Calibri" pitchFamily="34" charset="0"/>
                        </a:rPr>
                        <a:t>0.486</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FFF"/>
                    </a:solidFill>
                  </a:tcPr>
                </a:tc>
              </a:tr>
            </a:tbl>
          </a:graphicData>
        </a:graphic>
      </p:graphicFrame>
      <p:sp>
        <p:nvSpPr>
          <p:cNvPr id="10" name="Shape 10"/>
          <p:cNvSpPr/>
          <p:nvPr/>
        </p:nvSpPr>
        <p:spPr>
          <a:xfrm>
            <a:off x="640080" y="4663440"/>
            <a:ext cx="10908792" cy="1188720"/>
          </a:xfrm>
          <a:prstGeom prst="roundRect">
            <a:avLst>
              <a:gd name="adj" fmla="val 2273"/>
            </a:avLst>
          </a:prstGeom>
          <a:solidFill>
            <a:srgbClr val="FFF6EA"/>
          </a:solidFill>
          <a:ln/>
        </p:spPr>
        <p:txBody>
          <a:bodyPr/>
          <a:lstStyle/>
          <a:p>
            <a:endParaRPr lang="en-US"/>
          </a:p>
        </p:txBody>
      </p:sp>
      <p:sp>
        <p:nvSpPr>
          <p:cNvPr id="11" name="Text 11"/>
          <p:cNvSpPr txBox="1"/>
          <p:nvPr/>
        </p:nvSpPr>
        <p:spPr>
          <a:xfrm>
            <a:off x="960120" y="4800600"/>
            <a:ext cx="10268712" cy="960120"/>
          </a:xfrm>
          <a:prstGeom prst="rect">
            <a:avLst/>
          </a:prstGeom>
          <a:noFill/>
          <a:ln/>
        </p:spPr>
        <p:txBody>
          <a:bodyPr wrap="square" lIns="0" tIns="0" rIns="0" bIns="0" rtlCol="0" anchor="t"/>
          <a:lstStyle/>
          <a:p>
            <a:pPr marL="0" indent="0" algn="l">
              <a:spcAft>
                <a:spcPts val="400"/>
              </a:spcAft>
              <a:buNone/>
            </a:pPr>
            <a:r>
              <a:rPr lang="en-US" sz="1400" b="1" dirty="0">
                <a:solidFill>
                  <a:srgbClr val="7A3E10"/>
                </a:solidFill>
                <a:latin typeface="Calibri" pitchFamily="34" charset="0"/>
              </a:rPr>
              <a:t>Best model - </a:t>
            </a:r>
            <a:r>
              <a:rPr lang="en-US" sz="1400" b="0" dirty="0">
                <a:solidFill>
                  <a:srgbClr val="5A4636"/>
                </a:solidFill>
                <a:latin typeface="Calibri" pitchFamily="34" charset="0"/>
              </a:rPr>
              <a:t>Balanced Logistic Regression: highest recall (66.1%), best calibration (Brier 0.178), fully explainable.</a:t>
            </a:r>
          </a:p>
          <a:p>
            <a:pPr marL="0" indent="0" algn="l">
              <a:spcAft>
                <a:spcPts val="400"/>
              </a:spcAft>
              <a:buNone/>
            </a:pPr>
            <a:r>
              <a:rPr lang="en-US" sz="1400" b="1" dirty="0">
                <a:solidFill>
                  <a:srgbClr val="7A3E10"/>
                </a:solidFill>
                <a:latin typeface="Calibri" pitchFamily="34" charset="0"/>
              </a:rPr>
              <a:t>Validation - </a:t>
            </a:r>
            <a:r>
              <a:rPr lang="en-US" sz="1400" b="0" dirty="0">
                <a:solidFill>
                  <a:srgbClr val="5A4636"/>
                </a:solidFill>
                <a:latin typeface="Calibri" pitchFamily="34" charset="0"/>
              </a:rPr>
              <a:t>80/20 stratified split (8,000 / 2,000) and 5-fold CV; no post-call metrics used, so no leakage.</a:t>
            </a:r>
          </a:p>
          <a:p>
            <a:pPr marL="0" indent="0" algn="l">
              <a:spcAft>
                <a:spcPts val="400"/>
              </a:spcAft>
              <a:buNone/>
            </a:pPr>
            <a:r>
              <a:rPr lang="en-US" sz="1400" b="1" dirty="0">
                <a:solidFill>
                  <a:srgbClr val="7A3E10"/>
                </a:solidFill>
                <a:latin typeface="Calibri" pitchFamily="34" charset="0"/>
              </a:rPr>
              <a:t>Operational recommendations - </a:t>
            </a:r>
            <a:r>
              <a:rPr lang="en-US" sz="1400" b="0" dirty="0">
                <a:solidFill>
                  <a:srgbClr val="5A4636"/>
                </a:solidFill>
                <a:latin typeface="Calibri" pitchFamily="34" charset="0"/>
              </a:rPr>
              <a:t>route interactions with probability ≥ 0.50 to senior specialists in real time.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691640"/>
          </a:xfrm>
          <a:prstGeom prst="rect">
            <a:avLst/>
          </a:prstGeom>
          <a:solidFill>
            <a:srgbClr val="FBE3C2"/>
          </a:solidFill>
          <a:ln/>
        </p:spPr>
        <p:txBody>
          <a:bodyPr/>
          <a:lstStyle/>
          <a:p>
            <a:endParaRPr lang="en-US"/>
          </a:p>
        </p:txBody>
      </p:sp>
      <p:sp>
        <p:nvSpPr>
          <p:cNvPr id="3" name="Shape 1"/>
          <p:cNvSpPr>
            <a:spLocks/>
          </p:cNvSpPr>
          <p:nvPr/>
        </p:nvSpPr>
        <p:spPr>
          <a:xfrm>
            <a:off x="0" y="1691640"/>
            <a:ext cx="12188952" cy="64008"/>
          </a:xfrm>
          <a:prstGeom prst="rect">
            <a:avLst/>
          </a:prstGeom>
          <a:solidFill>
            <a:srgbClr val="E8871E"/>
          </a:solidFill>
          <a:ln/>
        </p:spPr>
        <p:txBody>
          <a:bodyPr/>
          <a:lstStyle/>
          <a:p>
            <a:endParaRPr lang="en-US"/>
          </a:p>
        </p:txBody>
      </p:sp>
      <p:pic>
        <p:nvPicPr>
          <p:cNvPr id="4" name="Image 0" descr="/home/claude/capstone_template/eta_logo.png"/>
          <p:cNvPicPr>
            <a:picLocks noChangeAspect="1"/>
          </p:cNvPicPr>
          <p:nvPr/>
        </p:nvPicPr>
        <p:blipFill>
          <a:blip r:embed="rId3"/>
          <a:stretch>
            <a:fillRect/>
          </a:stretch>
        </p:blipFill>
        <p:spPr>
          <a:xfrm>
            <a:off x="548640" y="448056"/>
            <a:ext cx="1554480" cy="186423"/>
          </a:xfrm>
          <a:prstGeom prst="rect">
            <a:avLst/>
          </a:prstGeom>
        </p:spPr>
      </p:pic>
      <p:pic>
        <p:nvPicPr>
          <p:cNvPr id="5" name="Image 1" descr="/home/claude/capstone_template/wingspan_logo.png"/>
          <p:cNvPicPr>
            <a:picLocks noChangeAspect="1"/>
          </p:cNvPicPr>
          <p:nvPr/>
        </p:nvPicPr>
        <p:blipFill>
          <a:blip r:embed="rId4"/>
          <a:stretch>
            <a:fillRect/>
          </a:stretch>
        </p:blipFill>
        <p:spPr>
          <a:xfrm>
            <a:off x="11116818" y="349243"/>
            <a:ext cx="432054" cy="384048"/>
          </a:xfrm>
          <a:prstGeom prst="rect">
            <a:avLst/>
          </a:prstGeom>
        </p:spPr>
      </p:pic>
      <p:sp>
        <p:nvSpPr>
          <p:cNvPr id="6" name="Text 2"/>
          <p:cNvSpPr txBox="1"/>
          <p:nvPr/>
        </p:nvSpPr>
        <p:spPr>
          <a:xfrm>
            <a:off x="2606040" y="384048"/>
            <a:ext cx="7916418" cy="274320"/>
          </a:xfrm>
          <a:prstGeom prst="rect">
            <a:avLst/>
          </a:prstGeom>
          <a:noFill/>
          <a:ln/>
        </p:spPr>
        <p:txBody>
          <a:bodyPr wrap="square" lIns="0" tIns="0" rIns="0" bIns="0" rtlCol="0" anchor="ctr"/>
          <a:lstStyle/>
          <a:p>
            <a:pPr marL="0" indent="0" algn="l">
              <a:buNone/>
            </a:pPr>
            <a:r>
              <a:rPr lang="en-US" sz="1100" b="1" kern="0" spc="200" dirty="0">
                <a:solidFill>
                  <a:srgbClr val="E8871E"/>
                </a:solidFill>
                <a:latin typeface="Calibri" pitchFamily="34" charset="0"/>
                <a:ea typeface="Calibri" pitchFamily="34" charset="-122"/>
                <a:cs typeface="Calibri" pitchFamily="34" charset="-120"/>
              </a:rPr>
              <a:t>SECTION 09</a:t>
            </a:r>
            <a:endParaRPr lang="en-US" sz="1100" dirty="0"/>
          </a:p>
        </p:txBody>
      </p:sp>
      <p:sp>
        <p:nvSpPr>
          <p:cNvPr id="7" name="Text 3"/>
          <p:cNvSpPr txBox="1"/>
          <p:nvPr/>
        </p:nvSpPr>
        <p:spPr>
          <a:xfrm>
            <a:off x="2606040" y="685800"/>
            <a:ext cx="7916418" cy="914400"/>
          </a:xfrm>
          <a:prstGeom prst="rect">
            <a:avLst/>
          </a:prstGeom>
          <a:noFill/>
          <a:ln/>
        </p:spPr>
        <p:txBody>
          <a:bodyPr wrap="square" lIns="0" tIns="0" rIns="0" bIns="0" rtlCol="0" anchor="t"/>
          <a:lstStyle/>
          <a:p>
            <a:pPr marL="0" indent="0" algn="l">
              <a:buNone/>
            </a:pPr>
            <a:r>
              <a:rPr lang="en-US" sz="2600" b="1" dirty="0">
                <a:solidFill>
                  <a:srgbClr val="7A3E10"/>
                </a:solidFill>
                <a:latin typeface="Calibri" pitchFamily="34" charset="0"/>
                <a:ea typeface="Calibri" pitchFamily="34" charset="-122"/>
                <a:cs typeface="Calibri" pitchFamily="34" charset="-120"/>
              </a:rPr>
              <a:t>Member Segmentation</a:t>
            </a:r>
            <a:endParaRPr lang="en-US" sz="2600" dirty="0"/>
          </a:p>
        </p:txBody>
      </p:sp>
      <p:sp>
        <p:nvSpPr>
          <p:cNvPr id="8" name="Text 4"/>
          <p:cNvSpPr txBox="1"/>
          <p:nvPr/>
        </p:nvSpPr>
        <p:spPr>
          <a:xfrm>
            <a:off x="11274552" y="1307592"/>
            <a:ext cx="548640" cy="320040"/>
          </a:xfrm>
          <a:prstGeom prst="rect">
            <a:avLst/>
          </a:prstGeom>
          <a:noFill/>
          <a:ln/>
        </p:spPr>
        <p:txBody>
          <a:bodyPr wrap="square" lIns="0" tIns="0" rIns="0" bIns="0" rtlCol="0" anchor="ctr"/>
          <a:lstStyle/>
          <a:p>
            <a:pPr marL="0" indent="0" algn="r">
              <a:buNone/>
            </a:pPr>
            <a:r>
              <a:rPr lang="en-US" sz="1100" b="1" dirty="0">
                <a:solidFill>
                  <a:srgbClr val="9C7A4E"/>
                </a:solidFill>
                <a:latin typeface="Calibri" pitchFamily="34" charset="0"/>
                <a:ea typeface="Calibri" pitchFamily="34" charset="-122"/>
                <a:cs typeface="Calibri" pitchFamily="34" charset="-120"/>
              </a:rPr>
              <a:t>10</a:t>
            </a:r>
            <a:endParaRPr lang="en-US" sz="1100" dirty="0"/>
          </a:p>
        </p:txBody>
      </p:sp>
      <p:graphicFrame>
        <p:nvGraphicFramePr>
          <p:cNvPr id="9" name="Table 9"/>
          <p:cNvGraphicFramePr>
            <a:graphicFrameLocks noGrp="1"/>
          </p:cNvGraphicFramePr>
          <p:nvPr/>
        </p:nvGraphicFramePr>
        <p:xfrm>
          <a:off x="640080" y="2194560"/>
          <a:ext cx="10908792" cy="3429000"/>
        </p:xfrm>
        <a:graphic>
          <a:graphicData uri="http://schemas.openxmlformats.org/drawingml/2006/table">
            <a:tbl>
              <a:tblPr/>
              <a:tblGrid>
                <a:gridCol w="2651760"/>
                <a:gridCol w="1371600"/>
                <a:gridCol w="3429000"/>
                <a:gridCol w="3456432"/>
              </a:tblGrid>
              <a:tr h="457200">
                <a:tc>
                  <a:txBody>
                    <a:bodyPr/>
                    <a:lstStyle/>
                    <a:p>
                      <a:pPr marL="0" indent="0">
                        <a:buNone/>
                      </a:pPr>
                      <a:r>
                        <a:rPr lang="en-US" sz="1200" b="1" dirty="0">
                          <a:solidFill>
                            <a:srgbClr val="FFFFFF"/>
                          </a:solidFill>
                          <a:latin typeface="Calibri" pitchFamily="34" charset="0"/>
                        </a:rPr>
                        <a:t>Segment</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E8871E"/>
                    </a:solidFill>
                  </a:tcPr>
                </a:tc>
                <a:tc>
                  <a:txBody>
                    <a:bodyPr/>
                    <a:lstStyle/>
                    <a:p>
                      <a:pPr marL="0" indent="0">
                        <a:buNone/>
                      </a:pPr>
                      <a:r>
                        <a:rPr lang="en-US" sz="1200" b="1" dirty="0">
                          <a:solidFill>
                            <a:srgbClr val="FFFFFF"/>
                          </a:solidFill>
                          <a:latin typeface="Calibri" pitchFamily="34" charset="0"/>
                        </a:rPr>
                        <a:t>Size</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E8871E"/>
                    </a:solidFill>
                  </a:tcPr>
                </a:tc>
                <a:tc>
                  <a:txBody>
                    <a:bodyPr/>
                    <a:lstStyle/>
                    <a:p>
                      <a:pPr marL="0" indent="0">
                        <a:buNone/>
                      </a:pPr>
                      <a:r>
                        <a:rPr lang="en-US" sz="1200" b="1" dirty="0">
                          <a:solidFill>
                            <a:srgbClr val="FFFFFF"/>
                          </a:solidFill>
                          <a:latin typeface="Calibri" pitchFamily="34" charset="0"/>
                        </a:rPr>
                        <a:t>Key characteristics</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E8871E"/>
                    </a:solidFill>
                  </a:tcPr>
                </a:tc>
                <a:tc>
                  <a:txBody>
                    <a:bodyPr/>
                    <a:lstStyle/>
                    <a:p>
                      <a:pPr marL="0" indent="0">
                        <a:buNone/>
                      </a:pPr>
                      <a:r>
                        <a:rPr lang="en-US" sz="1200" b="1" dirty="0">
                          <a:solidFill>
                            <a:srgbClr val="FFFFFF"/>
                          </a:solidFill>
                          <a:latin typeface="Calibri" pitchFamily="34" charset="0"/>
                        </a:rPr>
                        <a:t>Recommended action</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E8871E"/>
                    </a:solidFill>
                  </a:tcPr>
                </a:tc>
              </a:tr>
              <a:tr h="731520">
                <a:tc>
                  <a:txBody>
                    <a:bodyPr/>
                    <a:lstStyle/>
                    <a:p>
                      <a:pPr marL="0" indent="0">
                        <a:buNone/>
                      </a:pPr>
                      <a:r>
                        <a:rPr lang="en-US" sz="1200" b="1" dirty="0">
                          <a:solidFill>
                            <a:srgbClr val="7A3E10"/>
                          </a:solidFill>
                          <a:latin typeface="Calibri" pitchFamily="34" charset="0"/>
                        </a:rPr>
                        <a:t>Escalation Prone (High-Friction)</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FFF"/>
                    </a:solidFill>
                  </a:tcPr>
                </a:tc>
                <a:tc>
                  <a:txBody>
                    <a:bodyPr/>
                    <a:lstStyle/>
                    <a:p>
                      <a:pPr marL="0" indent="0">
                        <a:buNone/>
                      </a:pPr>
                      <a:r>
                        <a:rPr lang="en-US" sz="1200" dirty="0" b="0">
                          <a:solidFill>
                            <a:srgbClr val="5A4636"/>
                          </a:solidFill>
                          <a:latin typeface="Calibri" pitchFamily="34" charset="0"/>
                        </a:rPr>
                        <a:t>27.5%</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FFF"/>
                    </a:solidFill>
                  </a:tcPr>
                </a:tc>
                <a:tc>
                  <a:txBody>
                    <a:bodyPr/>
                    <a:lstStyle/>
                    <a:p>
                      <a:pPr marL="0" indent="0">
                        <a:buNone/>
                      </a:pPr>
                      <a:r>
                        <a:rPr lang="en-US" sz="1200" dirty="0" b="0">
                          <a:solidFill>
                            <a:srgbClr val="5A4636"/>
                          </a:solidFill>
                          <a:latin typeface="Calibri" pitchFamily="34" charset="0"/>
                        </a:rPr>
                        <a:t>Age 50 · 41.6% digital · friction 0.48 · 35.8% escalate</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FFF"/>
                    </a:solidFill>
                  </a:tcPr>
                </a:tc>
                <a:tc>
                  <a:txBody>
                    <a:bodyPr/>
                    <a:lstStyle/>
                    <a:p>
                      <a:pPr marL="0" indent="0">
                        <a:buNone/>
                      </a:pPr>
                      <a:r>
                        <a:rPr lang="en-US" sz="1200" dirty="0" b="0">
                          <a:solidFill>
                            <a:srgbClr val="5A4636"/>
                          </a:solidFill>
                          <a:latin typeface="Calibri" pitchFamily="34" charset="0"/>
                        </a:rPr>
                        <a:t>Priority routing to senior coordinators; proactive post-appointment outreach</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FFF"/>
                    </a:solidFill>
                  </a:tcPr>
                </a:tc>
              </a:tr>
              <a:tr h="731520">
                <a:tc>
                  <a:txBody>
                    <a:bodyPr/>
                    <a:lstStyle/>
                    <a:p>
                      <a:pPr marL="0" indent="0">
                        <a:buNone/>
                      </a:pPr>
                      <a:r>
                        <a:rPr lang="en-US" sz="1200" b="1" dirty="0">
                          <a:solidFill>
                            <a:srgbClr val="7A3E10"/>
                          </a:solidFill>
                          <a:latin typeface="Calibri" pitchFamily="34" charset="0"/>
                        </a:rPr>
                        <a:t>Digital First (Self-Service)</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6EA"/>
                    </a:solidFill>
                  </a:tcPr>
                </a:tc>
                <a:tc>
                  <a:txBody>
                    <a:bodyPr/>
                    <a:lstStyle/>
                    <a:p>
                      <a:pPr marL="0" indent="0">
                        <a:buNone/>
                      </a:pPr>
                      <a:r>
                        <a:rPr lang="en-US" sz="1200" dirty="0" b="0">
                          <a:solidFill>
                            <a:srgbClr val="5A4636"/>
                          </a:solidFill>
                          <a:latin typeface="Calibri" pitchFamily="34" charset="0"/>
                        </a:rPr>
                        <a:t>28.2%</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6EA"/>
                    </a:solidFill>
                  </a:tcPr>
                </a:tc>
                <a:tc>
                  <a:txBody>
                    <a:bodyPr/>
                    <a:lstStyle/>
                    <a:p>
                      <a:pPr marL="0" indent="0">
                        <a:buNone/>
                      </a:pPr>
                      <a:r>
                        <a:rPr lang="en-US" sz="1200" dirty="0" b="0">
                          <a:solidFill>
                            <a:srgbClr val="5A4636"/>
                          </a:solidFill>
                          <a:latin typeface="Calibri" pitchFamily="34" charset="0"/>
                        </a:rPr>
                        <a:t>Age 40 · 81.4% digital · friction 0.24 · 6.6% escalate</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6EA"/>
                    </a:solidFill>
                  </a:tcPr>
                </a:tc>
                <a:tc>
                  <a:txBody>
                    <a:bodyPr/>
                    <a:lstStyle/>
                    <a:p>
                      <a:pPr marL="0" indent="0">
                        <a:buNone/>
                      </a:pPr>
                      <a:r>
                        <a:rPr lang="en-US" sz="1200" dirty="0" b="0">
                          <a:solidFill>
                            <a:srgbClr val="5A4636"/>
                          </a:solidFill>
                          <a:latin typeface="Calibri" pitchFamily="34" charset="0"/>
                        </a:rPr>
                        <a:t>Steer to app refills and self-scheduling</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6EA"/>
                    </a:solidFill>
                  </a:tcPr>
                </a:tc>
              </a:tr>
              <a:tr h="731520">
                <a:tc>
                  <a:txBody>
                    <a:bodyPr/>
                    <a:lstStyle/>
                    <a:p>
                      <a:pPr marL="0" indent="0">
                        <a:buNone/>
                      </a:pPr>
                      <a:r>
                        <a:rPr lang="en-US" sz="1200" b="1" dirty="0">
                          <a:solidFill>
                            <a:srgbClr val="7A3E10"/>
                          </a:solidFill>
                          <a:latin typeface="Calibri" pitchFamily="34" charset="0"/>
                        </a:rPr>
                        <a:t>Service Intensive (High-Touch)</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FFF"/>
                    </a:solidFill>
                  </a:tcPr>
                </a:tc>
                <a:tc>
                  <a:txBody>
                    <a:bodyPr/>
                    <a:lstStyle/>
                    <a:p>
                      <a:pPr marL="0" indent="0">
                        <a:buNone/>
                      </a:pPr>
                      <a:r>
                        <a:rPr lang="en-US" sz="1200" dirty="0" b="0">
                          <a:solidFill>
                            <a:srgbClr val="5A4636"/>
                          </a:solidFill>
                          <a:latin typeface="Calibri" pitchFamily="34" charset="0"/>
                        </a:rPr>
                        <a:t>20.1%</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FFF"/>
                    </a:solidFill>
                  </a:tcPr>
                </a:tc>
                <a:tc>
                  <a:txBody>
                    <a:bodyPr/>
                    <a:lstStyle/>
                    <a:p>
                      <a:pPr marL="0" indent="0">
                        <a:buNone/>
                      </a:pPr>
                      <a:r>
                        <a:rPr lang="en-US" sz="1200" dirty="0" b="0">
                          <a:solidFill>
                            <a:srgbClr val="5A4636"/>
                          </a:solidFill>
                          <a:latin typeface="Calibri" pitchFamily="34" charset="0"/>
                        </a:rPr>
                        <a:t>Age 48 · 49.5% digital · friction 0.33 · 17.2% escalate</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FFF"/>
                    </a:solidFill>
                  </a:tcPr>
                </a:tc>
                <a:tc>
                  <a:txBody>
                    <a:bodyPr/>
                    <a:lstStyle/>
                    <a:p>
                      <a:pPr marL="0" indent="0">
                        <a:buNone/>
                      </a:pPr>
                      <a:r>
                        <a:rPr lang="en-US" sz="1200" dirty="0" b="0">
                          <a:solidFill>
                            <a:srgbClr val="5A4636"/>
                          </a:solidFill>
                          <a:latin typeface="Calibri" pitchFamily="34" charset="0"/>
                        </a:rPr>
                        <a:t>Dedicated patient navigators for complex specialty referrals</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FFF"/>
                    </a:solidFill>
                  </a:tcPr>
                </a:tc>
              </a:tr>
              <a:tr h="731520">
                <a:tc>
                  <a:txBody>
                    <a:bodyPr/>
                    <a:lstStyle/>
                    <a:p>
                      <a:pPr marL="0" indent="0">
                        <a:buNone/>
                      </a:pPr>
                      <a:r>
                        <a:rPr lang="en-US" sz="1200" b="1" dirty="0">
                          <a:solidFill>
                            <a:srgbClr val="7A3E10"/>
                          </a:solidFill>
                          <a:latin typeface="Calibri" pitchFamily="34" charset="0"/>
                        </a:rPr>
                        <a:t>Routine Low-Need Care Seekers</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6EA"/>
                    </a:solidFill>
                  </a:tcPr>
                </a:tc>
                <a:tc>
                  <a:txBody>
                    <a:bodyPr/>
                    <a:lstStyle/>
                    <a:p>
                      <a:pPr marL="0" indent="0">
                        <a:buNone/>
                      </a:pPr>
                      <a:r>
                        <a:rPr lang="en-US" sz="1200" dirty="0" b="0">
                          <a:solidFill>
                            <a:srgbClr val="5A4636"/>
                          </a:solidFill>
                          <a:latin typeface="Calibri" pitchFamily="34" charset="0"/>
                        </a:rPr>
                        <a:t>24.2%</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6EA"/>
                    </a:solidFill>
                  </a:tcPr>
                </a:tc>
                <a:tc>
                  <a:txBody>
                    <a:bodyPr/>
                    <a:lstStyle/>
                    <a:p>
                      <a:pPr marL="0" indent="0">
                        <a:buNone/>
                      </a:pPr>
                      <a:r>
                        <a:rPr lang="en-US" sz="1200" dirty="0" b="0">
                          <a:solidFill>
                            <a:srgbClr val="5A4636"/>
                          </a:solidFill>
                          <a:latin typeface="Calibri" pitchFamily="34" charset="0"/>
                        </a:rPr>
                        <a:t>Age 57 · 18.4% digital · friction 0.21 · 9.5% escalate</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6EA"/>
                    </a:solidFill>
                  </a:tcPr>
                </a:tc>
                <a:tc>
                  <a:txBody>
                    <a:bodyPr/>
                    <a:lstStyle/>
                    <a:p>
                      <a:pPr marL="0" indent="0">
                        <a:buNone/>
                      </a:pPr>
                      <a:r>
                        <a:rPr lang="en-US" sz="1200" dirty="0" b="0">
                          <a:solidFill>
                            <a:srgbClr val="5A4636"/>
                          </a:solidFill>
                          <a:latin typeface="Calibri" pitchFamily="34" charset="0"/>
                        </a:rPr>
                        <a:t>Automated SMS reminders and simple preventive-care FAQs</a:t>
                      </a:r>
                    </a:p>
                  </a:txBody>
                  <a:tcPr anchor="ctr">
                    <a:lnL w="12700" cap="flat" cmpd="sng" algn="ctr">
                      <a:solidFill>
                        <a:srgbClr val="F0DCC0"/>
                      </a:solidFill>
                      <a:prstDash val="solid"/>
                      <a:round/>
                      <a:headEnd type="none" w="med" len="med"/>
                      <a:tailEnd type="none" w="med" len="med"/>
                    </a:lnL>
                    <a:lnR w="12700" cap="flat" cmpd="sng" algn="ctr">
                      <a:solidFill>
                        <a:srgbClr val="F0DCC0"/>
                      </a:solidFill>
                      <a:prstDash val="solid"/>
                      <a:round/>
                      <a:headEnd type="none" w="med" len="med"/>
                      <a:tailEnd type="none" w="med" len="med"/>
                    </a:lnR>
                    <a:lnT w="12700" cap="flat" cmpd="sng" algn="ctr">
                      <a:solidFill>
                        <a:srgbClr val="F0DCC0"/>
                      </a:solidFill>
                      <a:prstDash val="solid"/>
                      <a:round/>
                      <a:headEnd type="none" w="med" len="med"/>
                      <a:tailEnd type="none" w="med" len="med"/>
                    </a:lnT>
                    <a:lnB w="12700" cap="flat" cmpd="sng" algn="ctr">
                      <a:solidFill>
                        <a:srgbClr val="F0DCC0"/>
                      </a:solidFill>
                      <a:prstDash val="solid"/>
                      <a:round/>
                      <a:headEnd type="none" w="med" len="med"/>
                      <a:tailEnd type="none" w="med" len="med"/>
                    </a:lnB>
                    <a:solidFill>
                      <a:srgbClr val="FFF6EA"/>
                    </a:solidFill>
                  </a:tcPr>
                </a:tc>
              </a:tr>
            </a:tbl>
          </a:graphicData>
        </a:graphic>
      </p:graphicFrame>
      <p:sp>
        <p:nvSpPr>
          <p:cNvPr id="10" name="Text 10"/>
          <p:cNvSpPr txBox="1"/>
          <p:nvPr/>
        </p:nvSpPr>
        <p:spPr>
          <a:xfrm>
            <a:off x="640080" y="5760720"/>
            <a:ext cx="10908792" cy="365760"/>
          </a:xfrm>
          <a:prstGeom prst="rect">
            <a:avLst/>
          </a:prstGeom>
          <a:noFill/>
          <a:ln/>
        </p:spPr>
        <p:txBody>
          <a:bodyPr wrap="square" lIns="0" tIns="0" rIns="0" bIns="0" rtlCol="0" anchor="ctr"/>
          <a:lstStyle/>
          <a:p>
            <a:pPr marL="0" indent="0" algn="l">
              <a:spcAft>
                <a:spcPts val="0"/>
              </a:spcAft>
              <a:buNone/>
            </a:pPr>
            <a:r>
              <a:rPr lang="en-US" sz="1300" dirty="0" b="0">
                <a:solidFill>
                  <a:srgbClr val="5A4636"/>
                </a:solidFill>
                <a:latin typeface="Calibri" pitchFamily="34" charset="0"/>
              </a:rPr>
              <a:t>K-Means (k = 4) on standardised member features, benchmarked for k = 3 to 6; chosen for the lowest Davies-Bouldin index (1.646) and four distinct actions. 2-D PCA used for the cluster map.</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691640"/>
          </a:xfrm>
          <a:prstGeom prst="rect">
            <a:avLst/>
          </a:prstGeom>
          <a:solidFill>
            <a:srgbClr val="FBE3C2"/>
          </a:solidFill>
          <a:ln/>
        </p:spPr>
        <p:txBody>
          <a:bodyPr/>
          <a:lstStyle/>
          <a:p>
            <a:endParaRPr lang="en-US"/>
          </a:p>
        </p:txBody>
      </p:sp>
      <p:sp>
        <p:nvSpPr>
          <p:cNvPr id="3" name="Shape 1"/>
          <p:cNvSpPr>
            <a:spLocks/>
          </p:cNvSpPr>
          <p:nvPr/>
        </p:nvSpPr>
        <p:spPr>
          <a:xfrm>
            <a:off x="0" y="1691640"/>
            <a:ext cx="12188952" cy="64008"/>
          </a:xfrm>
          <a:prstGeom prst="rect">
            <a:avLst/>
          </a:prstGeom>
          <a:solidFill>
            <a:srgbClr val="E8871E"/>
          </a:solidFill>
          <a:ln/>
        </p:spPr>
        <p:txBody>
          <a:bodyPr/>
          <a:lstStyle/>
          <a:p>
            <a:endParaRPr lang="en-US"/>
          </a:p>
        </p:txBody>
      </p:sp>
      <p:pic>
        <p:nvPicPr>
          <p:cNvPr id="4" name="Image 0" descr="/home/claude/capstone_template/eta_logo.png"/>
          <p:cNvPicPr>
            <a:picLocks noChangeAspect="1"/>
          </p:cNvPicPr>
          <p:nvPr/>
        </p:nvPicPr>
        <p:blipFill>
          <a:blip r:embed="rId3"/>
          <a:stretch>
            <a:fillRect/>
          </a:stretch>
        </p:blipFill>
        <p:spPr>
          <a:xfrm>
            <a:off x="548640" y="448056"/>
            <a:ext cx="1554480" cy="186423"/>
          </a:xfrm>
          <a:prstGeom prst="rect">
            <a:avLst/>
          </a:prstGeom>
        </p:spPr>
      </p:pic>
      <p:pic>
        <p:nvPicPr>
          <p:cNvPr id="5" name="Image 1" descr="/home/claude/capstone_template/wingspan_logo.png"/>
          <p:cNvPicPr>
            <a:picLocks noChangeAspect="1"/>
          </p:cNvPicPr>
          <p:nvPr/>
        </p:nvPicPr>
        <p:blipFill>
          <a:blip r:embed="rId4"/>
          <a:stretch>
            <a:fillRect/>
          </a:stretch>
        </p:blipFill>
        <p:spPr>
          <a:xfrm>
            <a:off x="11116818" y="349243"/>
            <a:ext cx="432054" cy="384048"/>
          </a:xfrm>
          <a:prstGeom prst="rect">
            <a:avLst/>
          </a:prstGeom>
        </p:spPr>
      </p:pic>
      <p:sp>
        <p:nvSpPr>
          <p:cNvPr id="6" name="Text 2"/>
          <p:cNvSpPr txBox="1"/>
          <p:nvPr/>
        </p:nvSpPr>
        <p:spPr>
          <a:xfrm>
            <a:off x="2606040" y="384048"/>
            <a:ext cx="7916418" cy="274320"/>
          </a:xfrm>
          <a:prstGeom prst="rect">
            <a:avLst/>
          </a:prstGeom>
          <a:noFill/>
          <a:ln/>
        </p:spPr>
        <p:txBody>
          <a:bodyPr wrap="square" lIns="0" tIns="0" rIns="0" bIns="0" rtlCol="0" anchor="ctr"/>
          <a:lstStyle/>
          <a:p>
            <a:pPr marL="0" indent="0" algn="l">
              <a:buNone/>
            </a:pPr>
            <a:r>
              <a:rPr lang="en-US" sz="1100" b="1" kern="0" spc="200" dirty="0">
                <a:solidFill>
                  <a:srgbClr val="E8871E"/>
                </a:solidFill>
                <a:latin typeface="Calibri" pitchFamily="34" charset="0"/>
                <a:ea typeface="Calibri" pitchFamily="34" charset="-122"/>
                <a:cs typeface="Calibri" pitchFamily="34" charset="-120"/>
              </a:rPr>
              <a:t>SECTION 10</a:t>
            </a:r>
            <a:endParaRPr lang="en-US" sz="1100" dirty="0"/>
          </a:p>
        </p:txBody>
      </p:sp>
      <p:sp>
        <p:nvSpPr>
          <p:cNvPr id="7" name="Text 3"/>
          <p:cNvSpPr txBox="1"/>
          <p:nvPr/>
        </p:nvSpPr>
        <p:spPr>
          <a:xfrm>
            <a:off x="2606040" y="685800"/>
            <a:ext cx="7916418" cy="914400"/>
          </a:xfrm>
          <a:prstGeom prst="rect">
            <a:avLst/>
          </a:prstGeom>
          <a:noFill/>
          <a:ln/>
        </p:spPr>
        <p:txBody>
          <a:bodyPr wrap="square" lIns="0" tIns="0" rIns="0" bIns="0" rtlCol="0" anchor="t"/>
          <a:lstStyle/>
          <a:p>
            <a:pPr marL="0" indent="0" algn="l">
              <a:buNone/>
            </a:pPr>
            <a:r>
              <a:rPr lang="en-US" sz="2600" b="1" dirty="0">
                <a:solidFill>
                  <a:srgbClr val="7A3E10"/>
                </a:solidFill>
                <a:latin typeface="Calibri" pitchFamily="34" charset="0"/>
                <a:ea typeface="Calibri" pitchFamily="34" charset="-122"/>
                <a:cs typeface="Calibri" pitchFamily="34" charset="-120"/>
              </a:rPr>
              <a:t>NLP &amp; Sentiment Insights</a:t>
            </a:r>
            <a:endParaRPr lang="en-US" sz="2600" dirty="0"/>
          </a:p>
        </p:txBody>
      </p:sp>
      <p:sp>
        <p:nvSpPr>
          <p:cNvPr id="8" name="Text 4"/>
          <p:cNvSpPr txBox="1"/>
          <p:nvPr/>
        </p:nvSpPr>
        <p:spPr>
          <a:xfrm>
            <a:off x="11274552" y="1307592"/>
            <a:ext cx="548640" cy="320040"/>
          </a:xfrm>
          <a:prstGeom prst="rect">
            <a:avLst/>
          </a:prstGeom>
          <a:noFill/>
          <a:ln/>
        </p:spPr>
        <p:txBody>
          <a:bodyPr wrap="square" lIns="0" tIns="0" rIns="0" bIns="0" rtlCol="0" anchor="ctr"/>
          <a:lstStyle/>
          <a:p>
            <a:pPr marL="0" indent="0" algn="r">
              <a:buNone/>
            </a:pPr>
            <a:r>
              <a:rPr lang="en-US" sz="1100" b="1" dirty="0">
                <a:solidFill>
                  <a:srgbClr val="9C7A4E"/>
                </a:solidFill>
                <a:latin typeface="Calibri" pitchFamily="34" charset="0"/>
                <a:ea typeface="Calibri" pitchFamily="34" charset="-122"/>
                <a:cs typeface="Calibri" pitchFamily="34" charset="-120"/>
              </a:rPr>
              <a:t>11</a:t>
            </a:r>
            <a:endParaRPr lang="en-US" sz="1100" dirty="0"/>
          </a:p>
        </p:txBody>
      </p:sp>
      <p:sp>
        <p:nvSpPr>
          <p:cNvPr id="9" name="Shape 9"/>
          <p:cNvSpPr/>
          <p:nvPr/>
        </p:nvSpPr>
        <p:spPr>
          <a:xfrm>
            <a:off x="640080" y="2194560"/>
            <a:ext cx="5303520" cy="4023360"/>
          </a:xfrm>
          <a:prstGeom prst="roundRect">
            <a:avLst>
              <a:gd name="adj" fmla="val 2273"/>
            </a:avLst>
          </a:prstGeom>
          <a:solidFill>
            <a:srgbClr val="FFF6EA"/>
          </a:solidFill>
          <a:ln w="15875">
            <a:solidFill>
              <a:srgbClr val="F0DCC0"/>
            </a:solidFill>
            <a:prstDash val="dash"/>
          </a:ln>
        </p:spPr>
        <p:txBody>
          <a:bodyPr/>
          <a:lstStyle/>
          <a:p>
            <a:endParaRPr lang="en-US"/>
          </a:p>
        </p:txBody>
      </p:sp>
      <p:sp>
        <p:nvSpPr>
          <p:cNvPr id="11" name="Shape 11"/>
          <p:cNvSpPr/>
          <p:nvPr/>
        </p:nvSpPr>
        <p:spPr>
          <a:xfrm>
            <a:off x="6217920" y="2249424"/>
            <a:ext cx="128016" cy="128016"/>
          </a:xfrm>
          <a:prstGeom prst="ellipse">
            <a:avLst/>
          </a:prstGeom>
          <a:solidFill>
            <a:srgbClr val="E8871E"/>
          </a:solidFill>
          <a:ln/>
        </p:spPr>
      </p:sp>
      <p:sp>
        <p:nvSpPr>
          <p:cNvPr id="12" name="Text 12"/>
          <p:cNvSpPr txBox="1"/>
          <p:nvPr/>
        </p:nvSpPr>
        <p:spPr>
          <a:xfrm>
            <a:off x="6492240" y="2194560"/>
            <a:ext cx="5056632" cy="713232"/>
          </a:xfrm>
          <a:prstGeom prst="rect">
            <a:avLst/>
          </a:prstGeom>
          <a:noFill/>
          <a:ln/>
        </p:spPr>
        <p:txBody>
          <a:bodyPr wrap="square" lIns="0" tIns="0" rIns="0" bIns="0" rtlCol="0" anchor="t"/>
          <a:lstStyle/>
          <a:p>
            <a:pPr marL="0" indent="0" algn="l">
              <a:spcAft>
                <a:spcPts val="0"/>
              </a:spcAft>
              <a:buNone/>
            </a:pPr>
            <a:r>
              <a:rPr lang="en-US" sz="1300" b="1" dirty="0">
                <a:solidFill>
                  <a:srgbClr val="7A3E10"/>
                </a:solidFill>
                <a:latin typeface="Calibri" pitchFamily="34" charset="0"/>
              </a:rPr>
              <a:t>Text processing &amp; TF-IDF - </a:t>
            </a:r>
            <a:r>
              <a:rPr lang="en-US" sz="1300" b="0" dirty="0">
                <a:solidFill>
                  <a:srgbClr val="5A4636"/>
                </a:solidFill>
                <a:latin typeface="Calibri" pitchFamily="34" charset="0"/>
              </a:rPr>
              <a:t>cleaning, stop-word removal, lemmatisation; friction terms “denied”, “charge”, “twice”, “delay” show 3.4x escalation lift.</a:t>
            </a:r>
          </a:p>
        </p:txBody>
      </p:sp>
      <p:sp>
        <p:nvSpPr>
          <p:cNvPr id="13" name="Shape 13"/>
          <p:cNvSpPr/>
          <p:nvPr/>
        </p:nvSpPr>
        <p:spPr>
          <a:xfrm>
            <a:off x="6217920" y="3054096"/>
            <a:ext cx="128016" cy="128016"/>
          </a:xfrm>
          <a:prstGeom prst="ellipse">
            <a:avLst/>
          </a:prstGeom>
          <a:solidFill>
            <a:srgbClr val="E8871E"/>
          </a:solidFill>
          <a:ln/>
        </p:spPr>
      </p:sp>
      <p:sp>
        <p:nvSpPr>
          <p:cNvPr id="14" name="Text 14"/>
          <p:cNvSpPr txBox="1"/>
          <p:nvPr/>
        </p:nvSpPr>
        <p:spPr>
          <a:xfrm>
            <a:off x="6492240" y="2999232"/>
            <a:ext cx="5056632" cy="713232"/>
          </a:xfrm>
          <a:prstGeom prst="rect">
            <a:avLst/>
          </a:prstGeom>
          <a:noFill/>
          <a:ln/>
        </p:spPr>
        <p:txBody>
          <a:bodyPr wrap="square" lIns="0" tIns="0" rIns="0" bIns="0" rtlCol="0" anchor="t"/>
          <a:lstStyle/>
          <a:p>
            <a:pPr marL="0" indent="0" algn="l">
              <a:spcAft>
                <a:spcPts val="0"/>
              </a:spcAft>
              <a:buNone/>
            </a:pPr>
            <a:r>
              <a:rPr lang="en-US" sz="1300" b="1" dirty="0">
                <a:solidFill>
                  <a:srgbClr val="7A3E10"/>
                </a:solidFill>
                <a:latin typeface="Calibri" pitchFamily="34" charset="0"/>
              </a:rPr>
              <a:t>Topics - </a:t>
            </a:r>
            <a:r>
              <a:rPr lang="en-US" sz="1300" b="0" dirty="0">
                <a:solidFill>
                  <a:srgbClr val="5A4636"/>
                </a:solidFill>
                <a:latin typeface="Calibri" pitchFamily="34" charset="0"/>
              </a:rPr>
              <a:t>LDA finds 5 themes that match the departments: Pharmacy 23.8%, Provider Access 22.3%, Appointments 22.1%, Billing 18.6%, Claims 13.2%.</a:t>
            </a:r>
          </a:p>
        </p:txBody>
      </p:sp>
      <p:sp>
        <p:nvSpPr>
          <p:cNvPr id="15" name="Shape 15"/>
          <p:cNvSpPr/>
          <p:nvPr/>
        </p:nvSpPr>
        <p:spPr>
          <a:xfrm>
            <a:off x="6217920" y="3858768"/>
            <a:ext cx="128016" cy="128016"/>
          </a:xfrm>
          <a:prstGeom prst="ellipse">
            <a:avLst/>
          </a:prstGeom>
          <a:solidFill>
            <a:srgbClr val="E8871E"/>
          </a:solidFill>
          <a:ln/>
        </p:spPr>
      </p:sp>
      <p:sp>
        <p:nvSpPr>
          <p:cNvPr id="16" name="Text 16"/>
          <p:cNvSpPr txBox="1"/>
          <p:nvPr/>
        </p:nvSpPr>
        <p:spPr>
          <a:xfrm>
            <a:off x="6492240" y="3803904"/>
            <a:ext cx="5056632" cy="713232"/>
          </a:xfrm>
          <a:prstGeom prst="rect">
            <a:avLst/>
          </a:prstGeom>
          <a:noFill/>
          <a:ln/>
        </p:spPr>
        <p:txBody>
          <a:bodyPr wrap="square" lIns="0" tIns="0" rIns="0" bIns="0" rtlCol="0" anchor="t"/>
          <a:lstStyle/>
          <a:p>
            <a:pPr marL="0" indent="0" algn="l">
              <a:spcAft>
                <a:spcPts val="0"/>
              </a:spcAft>
              <a:buNone/>
            </a:pPr>
            <a:r>
              <a:rPr lang="en-US" sz="1300" b="1" dirty="0">
                <a:solidFill>
                  <a:srgbClr val="7A3E10"/>
                </a:solidFill>
                <a:latin typeface="Calibri" pitchFamily="34" charset="0"/>
              </a:rPr>
              <a:t>Sentiment &amp; complaints - </a:t>
            </a:r>
            <a:r>
              <a:rPr lang="en-US" sz="1300" b="0" dirty="0">
                <a:solidFill>
                  <a:srgbClr val="5A4636"/>
                </a:solidFill>
                <a:latin typeface="Calibri" pitchFamily="34" charset="0"/>
              </a:rPr>
              <a:t>a 1D-CNN scores each transcript from 0 (frustrated) to 1 (satisfied); complaints centre on denials, repeat charges and waits.</a:t>
            </a:r>
          </a:p>
        </p:txBody>
      </p:sp>
      <p:sp>
        <p:nvSpPr>
          <p:cNvPr id="17" name="Shape 17"/>
          <p:cNvSpPr/>
          <p:nvPr/>
        </p:nvSpPr>
        <p:spPr>
          <a:xfrm>
            <a:off x="6217920" y="4663440"/>
            <a:ext cx="128016" cy="128016"/>
          </a:xfrm>
          <a:prstGeom prst="ellipse">
            <a:avLst/>
          </a:prstGeom>
          <a:solidFill>
            <a:srgbClr val="E8871E"/>
          </a:solidFill>
          <a:ln/>
        </p:spPr>
      </p:sp>
      <p:sp>
        <p:nvSpPr>
          <p:cNvPr id="18" name="Text 18"/>
          <p:cNvSpPr txBox="1"/>
          <p:nvPr/>
        </p:nvSpPr>
        <p:spPr>
          <a:xfrm>
            <a:off x="6492240" y="4608576"/>
            <a:ext cx="5056632" cy="713232"/>
          </a:xfrm>
          <a:prstGeom prst="rect">
            <a:avLst/>
          </a:prstGeom>
          <a:noFill/>
          <a:ln/>
        </p:spPr>
        <p:txBody>
          <a:bodyPr wrap="square" lIns="0" tIns="0" rIns="0" bIns="0" rtlCol="0" anchor="t"/>
          <a:lstStyle/>
          <a:p>
            <a:pPr marL="0" indent="0" algn="l">
              <a:spcAft>
                <a:spcPts val="0"/>
              </a:spcAft>
              <a:buNone/>
            </a:pPr>
            <a:r>
              <a:rPr lang="en-US" sz="1300" b="1" dirty="0">
                <a:solidFill>
                  <a:srgbClr val="7A3E10"/>
                </a:solidFill>
                <a:latin typeface="Calibri" pitchFamily="34" charset="0"/>
              </a:rPr>
              <a:t>Deep learning - </a:t>
            </a:r>
            <a:r>
              <a:rPr lang="en-US" sz="1300" b="0" dirty="0">
                <a:solidFill>
                  <a:srgbClr val="5A4636"/>
                </a:solidFill>
                <a:latin typeface="Calibri" pitchFamily="34" charset="0"/>
              </a:rPr>
              <a:t>PyTorch 1D-CNN with 3-word windows vs a TF-IDF + Logistic Regression baseline; captures negations such as “not happy with the delay”.</a:t>
            </a:r>
          </a:p>
        </p:txBody>
      </p:sp>
      <p:sp>
        <p:nvSpPr>
          <p:cNvPr id="19" name="Shape 19"/>
          <p:cNvSpPr/>
          <p:nvPr/>
        </p:nvSpPr>
        <p:spPr>
          <a:xfrm>
            <a:off x="6217920" y="5468112"/>
            <a:ext cx="128016" cy="128016"/>
          </a:xfrm>
          <a:prstGeom prst="ellipse">
            <a:avLst/>
          </a:prstGeom>
          <a:solidFill>
            <a:srgbClr val="E8871E"/>
          </a:solidFill>
          <a:ln/>
        </p:spPr>
      </p:sp>
      <p:sp>
        <p:nvSpPr>
          <p:cNvPr id="20" name="Text 20"/>
          <p:cNvSpPr txBox="1"/>
          <p:nvPr/>
        </p:nvSpPr>
        <p:spPr>
          <a:xfrm>
            <a:off x="6492240" y="5413248"/>
            <a:ext cx="5056632" cy="713232"/>
          </a:xfrm>
          <a:prstGeom prst="rect">
            <a:avLst/>
          </a:prstGeom>
          <a:noFill/>
          <a:ln/>
        </p:spPr>
        <p:txBody>
          <a:bodyPr wrap="square" lIns="0" tIns="0" rIns="0" bIns="0" rtlCol="0" anchor="t"/>
          <a:lstStyle/>
          <a:p>
            <a:pPr marL="0" indent="0" algn="l">
              <a:spcAft>
                <a:spcPts val="0"/>
              </a:spcAft>
              <a:buNone/>
            </a:pPr>
            <a:r>
              <a:rPr lang="en-US" sz="1300" b="1" dirty="0">
                <a:solidFill>
                  <a:srgbClr val="7A3E10"/>
                </a:solidFill>
                <a:latin typeface="Calibri" pitchFamily="34" charset="0"/>
              </a:rPr>
              <a:t>Insight - </a:t>
            </a:r>
            <a:r>
              <a:rPr lang="en-US" sz="1300" b="0" dirty="0">
                <a:solidFill>
                  <a:srgbClr val="5A4636"/>
                </a:solidFill>
                <a:latin typeface="Calibri" pitchFamily="34" charset="0"/>
              </a:rPr>
              <a:t>top complaints are denials, duplicate charges and delays; Pharmacy and Appointments are the best digital opportunities.</a:t>
            </a:r>
          </a:p>
        </p:txBody>
      </p:sp>
      <p:graphicFrame>
        <p:nvGraphicFramePr>
          <p:cNvPr id="21" name="Chart 20"/>
          <p:cNvGraphicFramePr>
            <a:graphicFrameLocks noGrp="1"/>
          </p:cNvGraphicFramePr>
          <p:nvPr/>
        </p:nvGraphicFramePr>
        <p:xfrm>
          <a:off x="731520" y="2286000"/>
          <a:ext cx="5120640" cy="3840480"/>
        </p:xfrm>
        <a:graphic>
          <a:graphicData uri="http://schemas.openxmlformats.org/drawingml/2006/chart">
            <c:chart xmlns:c="http://schemas.openxmlformats.org/drawingml/2006/chart" r:id="rId2"/>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691640"/>
          </a:xfrm>
          <a:prstGeom prst="rect">
            <a:avLst/>
          </a:prstGeom>
          <a:solidFill>
            <a:srgbClr val="FBE3C2"/>
          </a:solidFill>
          <a:ln/>
        </p:spPr>
        <p:txBody>
          <a:bodyPr/>
          <a:lstStyle/>
          <a:p>
            <a:endParaRPr lang="en-US"/>
          </a:p>
        </p:txBody>
      </p:sp>
      <p:sp>
        <p:nvSpPr>
          <p:cNvPr id="3" name="Shape 1"/>
          <p:cNvSpPr>
            <a:spLocks/>
          </p:cNvSpPr>
          <p:nvPr/>
        </p:nvSpPr>
        <p:spPr>
          <a:xfrm>
            <a:off x="0" y="1691640"/>
            <a:ext cx="12188952" cy="64008"/>
          </a:xfrm>
          <a:prstGeom prst="rect">
            <a:avLst/>
          </a:prstGeom>
          <a:solidFill>
            <a:srgbClr val="E8871E"/>
          </a:solidFill>
          <a:ln/>
        </p:spPr>
        <p:txBody>
          <a:bodyPr/>
          <a:lstStyle/>
          <a:p>
            <a:endParaRPr lang="en-US"/>
          </a:p>
        </p:txBody>
      </p:sp>
      <p:pic>
        <p:nvPicPr>
          <p:cNvPr id="4" name="Image 0" descr="/home/claude/capstone_template/eta_logo.png"/>
          <p:cNvPicPr>
            <a:picLocks noChangeAspect="1"/>
          </p:cNvPicPr>
          <p:nvPr/>
        </p:nvPicPr>
        <p:blipFill>
          <a:blip r:embed="rId3"/>
          <a:stretch>
            <a:fillRect/>
          </a:stretch>
        </p:blipFill>
        <p:spPr>
          <a:xfrm>
            <a:off x="548640" y="448056"/>
            <a:ext cx="1554480" cy="186423"/>
          </a:xfrm>
          <a:prstGeom prst="rect">
            <a:avLst/>
          </a:prstGeom>
        </p:spPr>
      </p:pic>
      <p:pic>
        <p:nvPicPr>
          <p:cNvPr id="5" name="Image 1" descr="/home/claude/capstone_template/wingspan_logo.png"/>
          <p:cNvPicPr>
            <a:picLocks noChangeAspect="1"/>
          </p:cNvPicPr>
          <p:nvPr/>
        </p:nvPicPr>
        <p:blipFill>
          <a:blip r:embed="rId4"/>
          <a:stretch>
            <a:fillRect/>
          </a:stretch>
        </p:blipFill>
        <p:spPr>
          <a:xfrm>
            <a:off x="11116818" y="349243"/>
            <a:ext cx="432054" cy="384048"/>
          </a:xfrm>
          <a:prstGeom prst="rect">
            <a:avLst/>
          </a:prstGeom>
        </p:spPr>
      </p:pic>
      <p:sp>
        <p:nvSpPr>
          <p:cNvPr id="6" name="Text 2"/>
          <p:cNvSpPr txBox="1"/>
          <p:nvPr/>
        </p:nvSpPr>
        <p:spPr>
          <a:xfrm>
            <a:off x="2606040" y="384048"/>
            <a:ext cx="7916418" cy="274320"/>
          </a:xfrm>
          <a:prstGeom prst="rect">
            <a:avLst/>
          </a:prstGeom>
          <a:noFill/>
          <a:ln/>
        </p:spPr>
        <p:txBody>
          <a:bodyPr wrap="square" lIns="0" tIns="0" rIns="0" bIns="0" rtlCol="0" anchor="ctr"/>
          <a:lstStyle/>
          <a:p>
            <a:pPr marL="0" indent="0" algn="l">
              <a:buNone/>
            </a:pPr>
            <a:r>
              <a:rPr lang="en-US" sz="1100" b="1" kern="0" spc="200" dirty="0">
                <a:solidFill>
                  <a:srgbClr val="E8871E"/>
                </a:solidFill>
                <a:latin typeface="Calibri" pitchFamily="34" charset="0"/>
                <a:ea typeface="Calibri" pitchFamily="34" charset="-122"/>
                <a:cs typeface="Calibri" pitchFamily="34" charset="-120"/>
              </a:rPr>
              <a:t>SECTION 11</a:t>
            </a:r>
            <a:endParaRPr lang="en-US" sz="1100" dirty="0"/>
          </a:p>
        </p:txBody>
      </p:sp>
      <p:sp>
        <p:nvSpPr>
          <p:cNvPr id="7" name="Text 3"/>
          <p:cNvSpPr txBox="1"/>
          <p:nvPr/>
        </p:nvSpPr>
        <p:spPr>
          <a:xfrm>
            <a:off x="2606040" y="685800"/>
            <a:ext cx="7916418" cy="914400"/>
          </a:xfrm>
          <a:prstGeom prst="rect">
            <a:avLst/>
          </a:prstGeom>
          <a:noFill/>
          <a:ln/>
        </p:spPr>
        <p:txBody>
          <a:bodyPr wrap="square" lIns="0" tIns="0" rIns="0" bIns="0" rtlCol="0" anchor="t"/>
          <a:lstStyle/>
          <a:p>
            <a:pPr marL="0" indent="0" algn="l">
              <a:buNone/>
            </a:pPr>
            <a:r>
              <a:rPr lang="en-US" sz="2600" b="1" dirty="0">
                <a:solidFill>
                  <a:srgbClr val="7A3E10"/>
                </a:solidFill>
                <a:latin typeface="Calibri" pitchFamily="34" charset="0"/>
                <a:ea typeface="Calibri" pitchFamily="34" charset="-122"/>
                <a:cs typeface="Calibri" pitchFamily="34" charset="-120"/>
              </a:rPr>
              <a:t>RAG Assistant Design</a:t>
            </a:r>
            <a:endParaRPr lang="en-US" sz="2600" dirty="0"/>
          </a:p>
        </p:txBody>
      </p:sp>
      <p:sp>
        <p:nvSpPr>
          <p:cNvPr id="8" name="Text 4"/>
          <p:cNvSpPr txBox="1"/>
          <p:nvPr/>
        </p:nvSpPr>
        <p:spPr>
          <a:xfrm>
            <a:off x="11274552" y="1307592"/>
            <a:ext cx="548640" cy="320040"/>
          </a:xfrm>
          <a:prstGeom prst="rect">
            <a:avLst/>
          </a:prstGeom>
          <a:noFill/>
          <a:ln/>
        </p:spPr>
        <p:txBody>
          <a:bodyPr wrap="square" lIns="0" tIns="0" rIns="0" bIns="0" rtlCol="0" anchor="ctr"/>
          <a:lstStyle/>
          <a:p>
            <a:pPr marL="0" indent="0" algn="r">
              <a:buNone/>
            </a:pPr>
            <a:r>
              <a:rPr lang="en-US" sz="1100" b="1" dirty="0">
                <a:solidFill>
                  <a:srgbClr val="9C7A4E"/>
                </a:solidFill>
                <a:latin typeface="Calibri" pitchFamily="34" charset="0"/>
                <a:ea typeface="Calibri" pitchFamily="34" charset="-122"/>
                <a:cs typeface="Calibri" pitchFamily="34" charset="-120"/>
              </a:rPr>
              <a:t>12</a:t>
            </a:r>
            <a:endParaRPr lang="en-US" sz="1100" dirty="0"/>
          </a:p>
        </p:txBody>
      </p:sp>
      <p:sp>
        <p:nvSpPr>
          <p:cNvPr id="9" name="Shape 9"/>
          <p:cNvSpPr/>
          <p:nvPr/>
        </p:nvSpPr>
        <p:spPr>
          <a:xfrm>
            <a:off x="640080" y="2194560"/>
            <a:ext cx="6583680" cy="3200400"/>
          </a:xfrm>
          <a:prstGeom prst="roundRect">
            <a:avLst>
              <a:gd name="adj" fmla="val 2273"/>
            </a:avLst>
          </a:prstGeom>
          <a:solidFill>
            <a:srgbClr val="FFF6EA"/>
          </a:solidFill>
          <a:ln w="15875">
            <a:solidFill>
              <a:srgbClr val="F0DCC0"/>
            </a:solidFill>
            <a:prstDash val="dash"/>
          </a:ln>
        </p:spPr>
        <p:txBody>
          <a:bodyPr/>
          <a:lstStyle/>
          <a:p>
            <a:endParaRPr lang="en-US"/>
          </a:p>
        </p:txBody>
      </p:sp>
      <p:sp>
        <p:nvSpPr>
          <p:cNvPr id="11" name="Text 11"/>
          <p:cNvSpPr txBox="1"/>
          <p:nvPr/>
        </p:nvSpPr>
        <p:spPr>
          <a:xfrm>
            <a:off x="640080" y="5532120"/>
            <a:ext cx="6583680" cy="685800"/>
          </a:xfrm>
          <a:prstGeom prst="rect">
            <a:avLst/>
          </a:prstGeom>
          <a:noFill/>
          <a:ln/>
        </p:spPr>
        <p:txBody>
          <a:bodyPr wrap="square" lIns="0" tIns="0" rIns="0" bIns="0" rtlCol="0" anchor="t"/>
          <a:lstStyle/>
          <a:p>
            <a:pPr marL="0" indent="0" algn="l">
              <a:spcAft>
                <a:spcPts val="0"/>
              </a:spcAft>
              <a:buNone/>
            </a:pPr>
            <a:r>
              <a:rPr lang="en-US" sz="1200" b="1" dirty="0">
                <a:solidFill>
                  <a:srgbClr val="7A3E10"/>
                </a:solidFill>
                <a:latin typeface="Calibri" pitchFamily="34" charset="0"/>
              </a:rPr>
              <a:t>Pipeline: </a:t>
            </a:r>
            <a:r>
              <a:rPr lang="en-US" sz="1200" b="0" dirty="0">
                <a:solidFill>
                  <a:srgbClr val="5A4636"/>
                </a:solidFill>
                <a:latin typeface="Calibri" pitchFamily="34" charset="0"/>
              </a:rPr>
              <a:t>Documents → Chunking → BM25 + TF-IDF index → Hybrid retriever → Grounded answer → NLI verifier → Routing</a:t>
            </a:r>
          </a:p>
          <a:p>
            <a:pPr marL="0" indent="0" algn="l">
              <a:spcAft>
                <a:spcPts val="0"/>
              </a:spcAft>
              <a:buNone/>
            </a:pPr>
            <a:r>
              <a:rPr lang="en-US" sz="1200" b="1" dirty="0">
                <a:solidFill>
                  <a:srgbClr val="7A3E10"/>
                </a:solidFill>
                <a:latin typeface="Calibri" pitchFamily="34" charset="0"/>
              </a:rPr>
              <a:t>Knowledge sources: </a:t>
            </a:r>
            <a:r>
              <a:rPr lang="en-US" sz="1200" b="0" dirty="0">
                <a:solidFill>
                  <a:srgbClr val="5A4636"/>
                </a:solidFill>
                <a:latin typeface="Calibri" pitchFamily="34" charset="0"/>
              </a:rPr>
              <a:t>Formulary · Scheduling Directory · Evidence of Coverage · Provider Access Policy · WHO / CDC guidelines</a:t>
            </a:r>
          </a:p>
        </p:txBody>
      </p:sp>
      <p:sp>
        <p:nvSpPr>
          <p:cNvPr id="12" name="Shape 12"/>
          <p:cNvSpPr/>
          <p:nvPr/>
        </p:nvSpPr>
        <p:spPr>
          <a:xfrm>
            <a:off x="7498080" y="2194560"/>
            <a:ext cx="4050792" cy="1920240"/>
          </a:xfrm>
          <a:prstGeom prst="roundRect">
            <a:avLst>
              <a:gd name="adj" fmla="val 2273"/>
            </a:avLst>
          </a:prstGeom>
          <a:solidFill>
            <a:srgbClr val="FFF6EA"/>
          </a:solidFill>
          <a:ln/>
        </p:spPr>
        <p:txBody>
          <a:bodyPr/>
          <a:lstStyle/>
          <a:p>
            <a:endParaRPr lang="en-US"/>
          </a:p>
        </p:txBody>
      </p:sp>
      <p:sp>
        <p:nvSpPr>
          <p:cNvPr id="13" name="Label 13"/>
          <p:cNvSpPr txBox="1"/>
          <p:nvPr/>
        </p:nvSpPr>
        <p:spPr>
          <a:xfrm>
            <a:off x="7726680" y="2377440"/>
            <a:ext cx="3600000" cy="228600"/>
          </a:xfrm>
          <a:prstGeom prst="rect">
            <a:avLst/>
          </a:prstGeom>
          <a:noFill/>
          <a:ln/>
        </p:spPr>
        <p:txBody>
          <a:bodyPr wrap="square" lIns="0" tIns="0" rIns="0" bIns="0" rtlCol="0" anchor="ctr"/>
          <a:lstStyle/>
          <a:p>
            <a:pPr marL="0" indent="0" algn="l">
              <a:spcAft>
                <a:spcPts val="0"/>
              </a:spcAft>
              <a:buNone/>
            </a:pPr>
            <a:r>
              <a:rPr lang="en-US" sz="1100" b="1" dirty="0">
                <a:solidFill>
                  <a:srgbClr val="E8871E"/>
                </a:solidFill>
                <a:latin typeface="Calibri" pitchFamily="34" charset="0"/>
              </a:rPr>
              <a:t>EXAMPLE USER QUERY</a:t>
            </a:r>
          </a:p>
        </p:txBody>
      </p:sp>
      <p:sp>
        <p:nvSpPr>
          <p:cNvPr id="14" name="Text 14"/>
          <p:cNvSpPr txBox="1"/>
          <p:nvPr/>
        </p:nvSpPr>
        <p:spPr>
          <a:xfrm>
            <a:off x="7726680" y="2697480"/>
            <a:ext cx="3593592" cy="1280160"/>
          </a:xfrm>
          <a:prstGeom prst="rect">
            <a:avLst/>
          </a:prstGeom>
          <a:noFill/>
          <a:ln/>
        </p:spPr>
        <p:txBody>
          <a:bodyPr wrap="square" lIns="0" tIns="0" rIns="0" bIns="0" rtlCol="0" anchor="t"/>
          <a:lstStyle/>
          <a:p>
            <a:pPr marL="0" indent="0" algn="l">
              <a:spcAft>
                <a:spcPts val="600"/>
              </a:spcAft>
              <a:buNone/>
            </a:pPr>
            <a:r>
              <a:rPr lang="en-US" sz="1400" dirty="0" b="0">
                <a:solidFill>
                  <a:srgbClr val="5A4636"/>
                </a:solidFill>
                <a:latin typeface="Calibri" pitchFamily="34" charset="0"/>
              </a:rPr>
              <a:t>“How do I refill my Atorvastatin 20mg and have it shipped home?”</a:t>
            </a:r>
          </a:p>
          <a:p>
            <a:pPr marL="0" indent="0" algn="l">
              <a:spcAft>
                <a:spcPts val="600"/>
              </a:spcAft>
              <a:buNone/>
            </a:pPr>
            <a:r>
              <a:rPr lang="en-US" sz="1200" dirty="0" b="0">
                <a:solidFill>
                  <a:srgbClr val="5A4636"/>
                </a:solidFill>
                <a:latin typeface="Calibri" pitchFamily="34" charset="0"/>
              </a:rPr>
              <a:t>Pharmacy · 7 benchmark dialogues tested</a:t>
            </a:r>
          </a:p>
        </p:txBody>
      </p:sp>
      <p:sp>
        <p:nvSpPr>
          <p:cNvPr id="15" name="Shape 15"/>
          <p:cNvSpPr/>
          <p:nvPr/>
        </p:nvSpPr>
        <p:spPr>
          <a:xfrm>
            <a:off x="7498080" y="4297680"/>
            <a:ext cx="4050792" cy="1920240"/>
          </a:xfrm>
          <a:prstGeom prst="roundRect">
            <a:avLst>
              <a:gd name="adj" fmla="val 2273"/>
            </a:avLst>
          </a:prstGeom>
          <a:solidFill>
            <a:srgbClr val="FFF6EA"/>
          </a:solidFill>
          <a:ln/>
        </p:spPr>
        <p:txBody>
          <a:bodyPr/>
          <a:lstStyle/>
          <a:p>
            <a:endParaRPr lang="en-US"/>
          </a:p>
        </p:txBody>
      </p:sp>
      <p:sp>
        <p:nvSpPr>
          <p:cNvPr id="16" name="Label 16"/>
          <p:cNvSpPr txBox="1"/>
          <p:nvPr/>
        </p:nvSpPr>
        <p:spPr>
          <a:xfrm>
            <a:off x="7726680" y="4480560"/>
            <a:ext cx="3600000" cy="228600"/>
          </a:xfrm>
          <a:prstGeom prst="rect">
            <a:avLst/>
          </a:prstGeom>
          <a:noFill/>
          <a:ln/>
        </p:spPr>
        <p:txBody>
          <a:bodyPr wrap="square" lIns="0" tIns="0" rIns="0" bIns="0" rtlCol="0" anchor="ctr"/>
          <a:lstStyle/>
          <a:p>
            <a:pPr marL="0" indent="0" algn="l">
              <a:spcAft>
                <a:spcPts val="0"/>
              </a:spcAft>
              <a:buNone/>
            </a:pPr>
            <a:r>
              <a:rPr lang="en-US" sz="1100" b="1" dirty="0">
                <a:solidFill>
                  <a:srgbClr val="E8871E"/>
                </a:solidFill>
                <a:latin typeface="Calibri" pitchFamily="34" charset="0"/>
              </a:rPr>
              <a:t>EXAMPLE AI RESPONSE</a:t>
            </a:r>
          </a:p>
        </p:txBody>
      </p:sp>
      <p:sp>
        <p:nvSpPr>
          <p:cNvPr id="17" name="Text 17"/>
          <p:cNvSpPr txBox="1"/>
          <p:nvPr/>
        </p:nvSpPr>
        <p:spPr>
          <a:xfrm>
            <a:off x="7726680" y="4800600"/>
            <a:ext cx="3593592" cy="1280160"/>
          </a:xfrm>
          <a:prstGeom prst="rect">
            <a:avLst/>
          </a:prstGeom>
          <a:noFill/>
          <a:ln/>
        </p:spPr>
        <p:txBody>
          <a:bodyPr wrap="square" lIns="0" tIns="0" rIns="0" bIns="0" rtlCol="0" anchor="t"/>
          <a:lstStyle/>
          <a:p>
            <a:pPr marL="0" indent="0" algn="l">
              <a:spcAft>
                <a:spcPts val="600"/>
              </a:spcAft>
              <a:buNone/>
            </a:pPr>
            <a:r>
              <a:rPr lang="en-US" sz="1300" dirty="0" b="0">
                <a:solidFill>
                  <a:srgbClr val="5A4636"/>
                </a:solidFill>
                <a:latin typeface="Calibri" pitchFamily="34" charset="0"/>
              </a:rPr>
              <a:t>Your 90-day supply can be mailed with $0 shipping and a $10 copay discount [Ref: Kaiser Formulary, Sec 4.1].</a:t>
            </a:r>
          </a:p>
          <a:p>
            <a:pPr marL="0" indent="0" algn="l">
              <a:spcAft>
                <a:spcPts val="600"/>
              </a:spcAft>
              <a:buNone/>
            </a:pPr>
            <a:r>
              <a:rPr lang="en-US" sz="1200" dirty="0" b="0">
                <a:solidFill>
                  <a:srgbClr val="5A4636"/>
                </a:solidFill>
                <a:latin typeface="Calibri" pitchFamily="34" charset="0"/>
              </a:rPr>
              <a:t>Confidence 0.88 · deflected · 48 ms; 6 of 7 dialogues self-served, 1 emergency intercept.</a:t>
            </a:r>
          </a:p>
        </p:txBody>
      </p:sp>
      <p:sp>
        <p:nvSpPr>
          <p:cNvPr id="18" name="RAG 1"/>
          <p:cNvSpPr/>
          <p:nvPr/>
        </p:nvSpPr>
        <p:spPr>
          <a:xfrm>
            <a:off x="822960" y="2377440"/>
            <a:ext cx="1920240" cy="731520"/>
          </a:xfrm>
          <a:prstGeom prst="roundRect">
            <a:avLst>
              <a:gd name="adj" fmla="val 12000"/>
            </a:avLst>
          </a:prstGeom>
          <a:solidFill>
            <a:srgbClr val="FFFFFF"/>
          </a:solidFill>
          <a:ln w="15875">
            <a:solidFill>
              <a:srgbClr val="E8871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7A3E10"/>
                </a:solidFill>
                <a:latin typeface="Calibri"/>
              </a:rPr>
              <a:t>Member query</a:t>
            </a:r>
          </a:p>
          <a:p>
            <a:pPr algn="ctr"/>
            <a:r>
              <a:rPr sz="1100" b="0">
                <a:solidFill>
                  <a:srgbClr val="7A3E10"/>
                </a:solidFill>
                <a:latin typeface="Calibri"/>
              </a:rPr>
              <a:t>Text or voice</a:t>
            </a:r>
          </a:p>
        </p:txBody>
      </p:sp>
      <p:sp>
        <p:nvSpPr>
          <p:cNvPr id="19" name="RAG 2"/>
          <p:cNvSpPr/>
          <p:nvPr/>
        </p:nvSpPr>
        <p:spPr>
          <a:xfrm>
            <a:off x="3017520" y="2377440"/>
            <a:ext cx="1920240" cy="731520"/>
          </a:xfrm>
          <a:prstGeom prst="roundRect">
            <a:avLst>
              <a:gd name="adj" fmla="val 12000"/>
            </a:avLst>
          </a:prstGeom>
          <a:solidFill>
            <a:srgbClr val="FFFFFF"/>
          </a:solidFill>
          <a:ln w="15875">
            <a:solidFill>
              <a:srgbClr val="E8871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7A3E10"/>
                </a:solidFill>
                <a:latin typeface="Calibri"/>
              </a:rPr>
              <a:t>PHI redaction</a:t>
            </a:r>
          </a:p>
          <a:p>
            <a:pPr algn="ctr"/>
            <a:r>
              <a:rPr sz="1100" b="0">
                <a:solidFill>
                  <a:srgbClr val="7A3E10"/>
                </a:solidFill>
                <a:latin typeface="Calibri"/>
              </a:rPr>
              <a:t>MRN, SSN, phone, DOB</a:t>
            </a:r>
          </a:p>
        </p:txBody>
      </p:sp>
      <p:sp>
        <p:nvSpPr>
          <p:cNvPr id="20" name="RAG 3"/>
          <p:cNvSpPr/>
          <p:nvPr/>
        </p:nvSpPr>
        <p:spPr>
          <a:xfrm>
            <a:off x="5212080" y="2377440"/>
            <a:ext cx="1920240" cy="731520"/>
          </a:xfrm>
          <a:prstGeom prst="roundRect">
            <a:avLst>
              <a:gd name="adj" fmla="val 12000"/>
            </a:avLst>
          </a:prstGeom>
          <a:solidFill>
            <a:srgbClr val="FBE9D0"/>
          </a:solidFill>
          <a:ln w="15875">
            <a:solidFill>
              <a:srgbClr val="E8871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7A3E10"/>
                </a:solidFill>
                <a:latin typeface="Calibri"/>
              </a:rPr>
              <a:t>Emergency intercept</a:t>
            </a:r>
          </a:p>
          <a:p>
            <a:pPr algn="ctr"/>
            <a:r>
              <a:rPr sz="1100" b="0">
                <a:solidFill>
                  <a:srgbClr val="7A3E10"/>
                </a:solidFill>
                <a:latin typeface="Calibri"/>
              </a:rPr>
              <a:t>Chest pain → 911 / nurse</a:t>
            </a:r>
          </a:p>
        </p:txBody>
      </p:sp>
      <p:sp>
        <p:nvSpPr>
          <p:cNvPr id="21" name="Right Arrow 20"/>
          <p:cNvSpPr/>
          <p:nvPr/>
        </p:nvSpPr>
        <p:spPr>
          <a:xfrm>
            <a:off x="2779776" y="2633472"/>
            <a:ext cx="182880" cy="219456"/>
          </a:xfrm>
          <a:prstGeom prst="rightArrow">
            <a:avLst/>
          </a:prstGeom>
          <a:solidFill>
            <a:srgbClr val="A38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ight Arrow 21"/>
          <p:cNvSpPr/>
          <p:nvPr/>
        </p:nvSpPr>
        <p:spPr>
          <a:xfrm>
            <a:off x="4974336" y="2633472"/>
            <a:ext cx="182880" cy="219456"/>
          </a:xfrm>
          <a:prstGeom prst="rightArrow">
            <a:avLst/>
          </a:prstGeom>
          <a:solidFill>
            <a:srgbClr val="A38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own Arrow 22"/>
          <p:cNvSpPr/>
          <p:nvPr/>
        </p:nvSpPr>
        <p:spPr>
          <a:xfrm>
            <a:off x="6062472" y="3145536"/>
            <a:ext cx="219456" cy="182880"/>
          </a:xfrm>
          <a:prstGeom prst="downArrow">
            <a:avLst/>
          </a:prstGeom>
          <a:solidFill>
            <a:srgbClr val="A38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AG 4"/>
          <p:cNvSpPr/>
          <p:nvPr/>
        </p:nvSpPr>
        <p:spPr>
          <a:xfrm>
            <a:off x="5212080" y="3383280"/>
            <a:ext cx="1920240" cy="731520"/>
          </a:xfrm>
          <a:prstGeom prst="roundRect">
            <a:avLst>
              <a:gd name="adj" fmla="val 12000"/>
            </a:avLst>
          </a:prstGeom>
          <a:solidFill>
            <a:srgbClr val="FFFFFF"/>
          </a:solidFill>
          <a:ln w="15875">
            <a:solidFill>
              <a:srgbClr val="E8871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7A3E10"/>
                </a:solidFill>
                <a:latin typeface="Calibri"/>
              </a:rPr>
              <a:t>Hybrid retriever</a:t>
            </a:r>
          </a:p>
          <a:p>
            <a:pPr algn="ctr"/>
            <a:r>
              <a:rPr sz="1100" b="0">
                <a:solidFill>
                  <a:srgbClr val="7A3E10"/>
                </a:solidFill>
                <a:latin typeface="Calibri"/>
              </a:rPr>
              <a:t>BM25 + TF-IDF, RRF k=60</a:t>
            </a:r>
          </a:p>
        </p:txBody>
      </p:sp>
      <p:sp>
        <p:nvSpPr>
          <p:cNvPr id="25" name="RAG 5"/>
          <p:cNvSpPr/>
          <p:nvPr/>
        </p:nvSpPr>
        <p:spPr>
          <a:xfrm>
            <a:off x="3017520" y="3383280"/>
            <a:ext cx="1920240" cy="731520"/>
          </a:xfrm>
          <a:prstGeom prst="roundRect">
            <a:avLst>
              <a:gd name="adj" fmla="val 12000"/>
            </a:avLst>
          </a:prstGeom>
          <a:solidFill>
            <a:srgbClr val="FFFFFF"/>
          </a:solidFill>
          <a:ln w="15875">
            <a:solidFill>
              <a:srgbClr val="E8871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7A3E10"/>
                </a:solidFill>
                <a:latin typeface="Calibri"/>
              </a:rPr>
              <a:t>Grounded answer</a:t>
            </a:r>
          </a:p>
          <a:p>
            <a:pPr algn="ctr"/>
            <a:r>
              <a:rPr sz="1100" b="0">
                <a:solidFill>
                  <a:srgbClr val="7A3E10"/>
                </a:solidFill>
                <a:latin typeface="Calibri"/>
              </a:rPr>
              <a:t>Citations + entity tags</a:t>
            </a:r>
          </a:p>
        </p:txBody>
      </p:sp>
      <p:sp>
        <p:nvSpPr>
          <p:cNvPr id="26" name="RAG 6"/>
          <p:cNvSpPr/>
          <p:nvPr/>
        </p:nvSpPr>
        <p:spPr>
          <a:xfrm>
            <a:off x="822960" y="3383280"/>
            <a:ext cx="1920240" cy="731520"/>
          </a:xfrm>
          <a:prstGeom prst="roundRect">
            <a:avLst>
              <a:gd name="adj" fmla="val 12000"/>
            </a:avLst>
          </a:prstGeom>
          <a:solidFill>
            <a:srgbClr val="FFFFFF"/>
          </a:solidFill>
          <a:ln w="15875">
            <a:solidFill>
              <a:srgbClr val="E8871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7A3E10"/>
                </a:solidFill>
                <a:latin typeface="Calibri"/>
              </a:rPr>
              <a:t>NLI fact-check</a:t>
            </a:r>
          </a:p>
          <a:p>
            <a:pPr algn="ctr"/>
            <a:r>
              <a:rPr sz="1100" b="0">
                <a:solidFill>
                  <a:srgbClr val="7A3E10"/>
                </a:solidFill>
                <a:latin typeface="Calibri"/>
              </a:rPr>
              <a:t>Faithfulness score</a:t>
            </a:r>
          </a:p>
        </p:txBody>
      </p:sp>
      <p:sp>
        <p:nvSpPr>
          <p:cNvPr id="27" name="Left Arrow 26"/>
          <p:cNvSpPr/>
          <p:nvPr/>
        </p:nvSpPr>
        <p:spPr>
          <a:xfrm>
            <a:off x="4974336" y="3639312"/>
            <a:ext cx="182880" cy="219456"/>
          </a:xfrm>
          <a:prstGeom prst="leftArrow">
            <a:avLst/>
          </a:prstGeom>
          <a:solidFill>
            <a:srgbClr val="A38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eft Arrow 27"/>
          <p:cNvSpPr/>
          <p:nvPr/>
        </p:nvSpPr>
        <p:spPr>
          <a:xfrm>
            <a:off x="2779776" y="3639312"/>
            <a:ext cx="182880" cy="219456"/>
          </a:xfrm>
          <a:prstGeom prst="leftArrow">
            <a:avLst/>
          </a:prstGeom>
          <a:solidFill>
            <a:srgbClr val="A38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Down Arrow 28"/>
          <p:cNvSpPr/>
          <p:nvPr/>
        </p:nvSpPr>
        <p:spPr>
          <a:xfrm>
            <a:off x="1673352" y="4151376"/>
            <a:ext cx="219456" cy="182880"/>
          </a:xfrm>
          <a:prstGeom prst="downArrow">
            <a:avLst/>
          </a:prstGeom>
          <a:solidFill>
            <a:srgbClr val="A38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AG 7"/>
          <p:cNvSpPr/>
          <p:nvPr/>
        </p:nvSpPr>
        <p:spPr>
          <a:xfrm>
            <a:off x="822960" y="4434840"/>
            <a:ext cx="3017520" cy="777240"/>
          </a:xfrm>
          <a:prstGeom prst="roundRect">
            <a:avLst>
              <a:gd name="adj" fmla="val 12000"/>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FFFFFF"/>
                </a:solidFill>
                <a:latin typeface="Calibri"/>
              </a:rPr>
              <a:t>Confidence ≥ 0.75</a:t>
            </a:r>
          </a:p>
          <a:p>
            <a:pPr algn="ctr"/>
            <a:r>
              <a:rPr sz="1100" b="0">
                <a:solidFill>
                  <a:srgbClr val="FFFFFF"/>
                </a:solidFill>
                <a:latin typeface="Calibri"/>
              </a:rPr>
              <a:t>Self-service answer with citation</a:t>
            </a:r>
          </a:p>
        </p:txBody>
      </p:sp>
      <p:sp>
        <p:nvSpPr>
          <p:cNvPr id="31" name="RAG 8"/>
          <p:cNvSpPr/>
          <p:nvPr/>
        </p:nvSpPr>
        <p:spPr>
          <a:xfrm>
            <a:off x="4023360" y="4434840"/>
            <a:ext cx="3017520" cy="777240"/>
          </a:xfrm>
          <a:prstGeom prst="roundRect">
            <a:avLst>
              <a:gd name="adj" fmla="val 12000"/>
            </a:avLst>
          </a:prstGeom>
          <a:solidFill>
            <a:srgbClr val="FFFFFF"/>
          </a:solidFill>
          <a:ln w="15875">
            <a:solidFill>
              <a:srgbClr val="E8871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7A3E10"/>
                </a:solidFill>
                <a:latin typeface="Calibri"/>
              </a:rPr>
              <a:t>Confidence &lt; 0.75</a:t>
            </a:r>
          </a:p>
          <a:p>
            <a:pPr algn="ctr"/>
            <a:r>
              <a:rPr sz="1100" b="0">
                <a:solidFill>
                  <a:srgbClr val="7A3E10"/>
                </a:solidFill>
                <a:latin typeface="Calibri"/>
              </a:rPr>
              <a:t>Warm transfer with CRM screen-pop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691640"/>
          </a:xfrm>
          <a:prstGeom prst="rect">
            <a:avLst/>
          </a:prstGeom>
          <a:solidFill>
            <a:srgbClr val="FBE3C2"/>
          </a:solidFill>
          <a:ln/>
        </p:spPr>
        <p:txBody>
          <a:bodyPr/>
          <a:lstStyle/>
          <a:p>
            <a:endParaRPr lang="en-US"/>
          </a:p>
        </p:txBody>
      </p:sp>
      <p:sp>
        <p:nvSpPr>
          <p:cNvPr id="3" name="Shape 1"/>
          <p:cNvSpPr>
            <a:spLocks/>
          </p:cNvSpPr>
          <p:nvPr/>
        </p:nvSpPr>
        <p:spPr>
          <a:xfrm>
            <a:off x="0" y="1691640"/>
            <a:ext cx="12188952" cy="64008"/>
          </a:xfrm>
          <a:prstGeom prst="rect">
            <a:avLst/>
          </a:prstGeom>
          <a:solidFill>
            <a:srgbClr val="E8871E"/>
          </a:solidFill>
          <a:ln/>
        </p:spPr>
        <p:txBody>
          <a:bodyPr/>
          <a:lstStyle/>
          <a:p>
            <a:endParaRPr lang="en-US"/>
          </a:p>
        </p:txBody>
      </p:sp>
      <p:pic>
        <p:nvPicPr>
          <p:cNvPr id="4" name="Image 0" descr="/home/claude/capstone_template/eta_logo.png"/>
          <p:cNvPicPr>
            <a:picLocks noChangeAspect="1"/>
          </p:cNvPicPr>
          <p:nvPr/>
        </p:nvPicPr>
        <p:blipFill>
          <a:blip r:embed="rId3"/>
          <a:stretch>
            <a:fillRect/>
          </a:stretch>
        </p:blipFill>
        <p:spPr>
          <a:xfrm>
            <a:off x="548640" y="448056"/>
            <a:ext cx="1554480" cy="186423"/>
          </a:xfrm>
          <a:prstGeom prst="rect">
            <a:avLst/>
          </a:prstGeom>
        </p:spPr>
      </p:pic>
      <p:pic>
        <p:nvPicPr>
          <p:cNvPr id="5" name="Image 1" descr="/home/claude/capstone_template/wingspan_logo.png"/>
          <p:cNvPicPr>
            <a:picLocks noChangeAspect="1"/>
          </p:cNvPicPr>
          <p:nvPr/>
        </p:nvPicPr>
        <p:blipFill>
          <a:blip r:embed="rId4"/>
          <a:stretch>
            <a:fillRect/>
          </a:stretch>
        </p:blipFill>
        <p:spPr>
          <a:xfrm>
            <a:off x="11116818" y="349243"/>
            <a:ext cx="432054" cy="384048"/>
          </a:xfrm>
          <a:prstGeom prst="rect">
            <a:avLst/>
          </a:prstGeom>
        </p:spPr>
      </p:pic>
      <p:sp>
        <p:nvSpPr>
          <p:cNvPr id="6" name="Text 2"/>
          <p:cNvSpPr txBox="1"/>
          <p:nvPr/>
        </p:nvSpPr>
        <p:spPr>
          <a:xfrm>
            <a:off x="2606040" y="384048"/>
            <a:ext cx="7916418" cy="274320"/>
          </a:xfrm>
          <a:prstGeom prst="rect">
            <a:avLst/>
          </a:prstGeom>
          <a:noFill/>
          <a:ln/>
        </p:spPr>
        <p:txBody>
          <a:bodyPr wrap="square" lIns="0" tIns="0" rIns="0" bIns="0" rtlCol="0" anchor="ctr"/>
          <a:lstStyle/>
          <a:p>
            <a:pPr marL="0" indent="0" algn="l">
              <a:buNone/>
            </a:pPr>
            <a:r>
              <a:rPr lang="en-US" sz="1100" b="1" kern="0" spc="200" dirty="0">
                <a:solidFill>
                  <a:srgbClr val="E8871E"/>
                </a:solidFill>
                <a:latin typeface="Calibri" pitchFamily="34" charset="0"/>
                <a:ea typeface="Calibri" pitchFamily="34" charset="-122"/>
                <a:cs typeface="Calibri" pitchFamily="34" charset="-120"/>
              </a:rPr>
              <a:t>SECTION 12</a:t>
            </a:r>
            <a:endParaRPr lang="en-US" sz="1100" dirty="0"/>
          </a:p>
        </p:txBody>
      </p:sp>
      <p:sp>
        <p:nvSpPr>
          <p:cNvPr id="7" name="Text 3"/>
          <p:cNvSpPr txBox="1"/>
          <p:nvPr/>
        </p:nvSpPr>
        <p:spPr>
          <a:xfrm>
            <a:off x="2606040" y="685800"/>
            <a:ext cx="7916418" cy="914400"/>
          </a:xfrm>
          <a:prstGeom prst="rect">
            <a:avLst/>
          </a:prstGeom>
          <a:noFill/>
          <a:ln/>
        </p:spPr>
        <p:txBody>
          <a:bodyPr wrap="square" lIns="0" tIns="0" rIns="0" bIns="0" rtlCol="0" anchor="t"/>
          <a:lstStyle/>
          <a:p>
            <a:pPr marL="0" indent="0" algn="l">
              <a:buNone/>
            </a:pPr>
            <a:r>
              <a:rPr lang="en-US" sz="2600" b="1" dirty="0">
                <a:solidFill>
                  <a:srgbClr val="7A3E10"/>
                </a:solidFill>
                <a:latin typeface="Calibri" pitchFamily="34" charset="0"/>
                <a:ea typeface="Calibri" pitchFamily="34" charset="-122"/>
                <a:cs typeface="Calibri" pitchFamily="34" charset="-120"/>
              </a:rPr>
              <a:t>Power BI Dashboard Demonstration</a:t>
            </a:r>
            <a:endParaRPr lang="en-US" sz="2600" dirty="0"/>
          </a:p>
        </p:txBody>
      </p:sp>
      <p:sp>
        <p:nvSpPr>
          <p:cNvPr id="8" name="Text 4"/>
          <p:cNvSpPr txBox="1"/>
          <p:nvPr/>
        </p:nvSpPr>
        <p:spPr>
          <a:xfrm>
            <a:off x="11274552" y="1307592"/>
            <a:ext cx="548640" cy="320040"/>
          </a:xfrm>
          <a:prstGeom prst="rect">
            <a:avLst/>
          </a:prstGeom>
          <a:noFill/>
          <a:ln/>
        </p:spPr>
        <p:txBody>
          <a:bodyPr wrap="square" lIns="0" tIns="0" rIns="0" bIns="0" rtlCol="0" anchor="ctr"/>
          <a:lstStyle/>
          <a:p>
            <a:pPr marL="0" indent="0" algn="r">
              <a:buNone/>
            </a:pPr>
            <a:r>
              <a:rPr lang="en-US" sz="1100" b="1" dirty="0">
                <a:solidFill>
                  <a:srgbClr val="9C7A4E"/>
                </a:solidFill>
                <a:latin typeface="Calibri" pitchFamily="34" charset="0"/>
                <a:ea typeface="Calibri" pitchFamily="34" charset="-122"/>
                <a:cs typeface="Calibri" pitchFamily="34" charset="-120"/>
              </a:rPr>
              <a:t>13</a:t>
            </a:r>
            <a:endParaRPr lang="en-US" sz="1100" dirty="0"/>
          </a:p>
        </p:txBody>
      </p:sp>
      <p:sp>
        <p:nvSpPr>
          <p:cNvPr id="9" name="Shape 9"/>
          <p:cNvSpPr/>
          <p:nvPr/>
        </p:nvSpPr>
        <p:spPr>
          <a:xfrm>
            <a:off x="640080" y="2194560"/>
            <a:ext cx="3544824" cy="1737360"/>
          </a:xfrm>
          <a:prstGeom prst="roundRect">
            <a:avLst>
              <a:gd name="adj" fmla="val 4000"/>
            </a:avLst>
          </a:prstGeom>
          <a:solidFill>
            <a:srgbClr val="FFF6EA"/>
          </a:solidFill>
          <a:ln w="15875">
            <a:solidFill>
              <a:srgbClr val="F0DCC0"/>
            </a:solidFill>
            <a:prstDash val="dash"/>
          </a:ln>
        </p:spPr>
        <p:txBody>
          <a:bodyPr/>
          <a:lstStyle/>
          <a:p>
            <a:endParaRPr lang="en-US"/>
          </a:p>
        </p:txBody>
      </p:sp>
      <p:sp>
        <p:nvSpPr>
          <p:cNvPr id="11" name="Text 11"/>
          <p:cNvSpPr txBox="1"/>
          <p:nvPr/>
        </p:nvSpPr>
        <p:spPr>
          <a:xfrm>
            <a:off x="731520" y="3391920"/>
            <a:ext cx="3361944" cy="480000"/>
          </a:xfrm>
          <a:prstGeom prst="rect">
            <a:avLst/>
          </a:prstGeom>
          <a:noFill/>
          <a:ln/>
        </p:spPr>
        <p:txBody>
          <a:bodyPr wrap="square" lIns="0" tIns="0" rIns="0" bIns="0" rtlCol="0" anchor="ctr"/>
          <a:lstStyle/>
          <a:p>
            <a:pPr marL="0" indent="0" algn="ctr">
              <a:spcAft>
                <a:spcPts val="0"/>
              </a:spcAft>
              <a:buNone/>
            </a:pPr>
            <a:r>
              <a:rPr lang="en-US" sz="1200" b="1" dirty="0">
                <a:solidFill>
                  <a:srgbClr val="9C7A4E"/>
                </a:solidFill>
                <a:latin typeface="Calibri" pitchFamily="34" charset="0"/>
              </a:rPr>
              <a:t>Interaction Summary</a:t>
            </a:r>
          </a:p>
        </p:txBody>
      </p:sp>
      <p:sp>
        <p:nvSpPr>
          <p:cNvPr id="12" name="Shape 12"/>
          <p:cNvSpPr/>
          <p:nvPr/>
        </p:nvSpPr>
        <p:spPr>
          <a:xfrm>
            <a:off x="4322064" y="2194560"/>
            <a:ext cx="3544824" cy="1737360"/>
          </a:xfrm>
          <a:prstGeom prst="roundRect">
            <a:avLst>
              <a:gd name="adj" fmla="val 4000"/>
            </a:avLst>
          </a:prstGeom>
          <a:solidFill>
            <a:srgbClr val="FFF6EA"/>
          </a:solidFill>
          <a:ln w="15875">
            <a:solidFill>
              <a:srgbClr val="F0DCC0"/>
            </a:solidFill>
            <a:prstDash val="dash"/>
          </a:ln>
        </p:spPr>
        <p:txBody>
          <a:bodyPr/>
          <a:lstStyle/>
          <a:p>
            <a:endParaRPr lang="en-US"/>
          </a:p>
        </p:txBody>
      </p:sp>
      <p:sp>
        <p:nvSpPr>
          <p:cNvPr id="14" name="Text 14"/>
          <p:cNvSpPr txBox="1"/>
          <p:nvPr/>
        </p:nvSpPr>
        <p:spPr>
          <a:xfrm>
            <a:off x="4413504" y="3391920"/>
            <a:ext cx="3361944" cy="480000"/>
          </a:xfrm>
          <a:prstGeom prst="rect">
            <a:avLst/>
          </a:prstGeom>
          <a:noFill/>
          <a:ln/>
        </p:spPr>
        <p:txBody>
          <a:bodyPr wrap="square" lIns="0" tIns="0" rIns="0" bIns="0" rtlCol="0" anchor="ctr"/>
          <a:lstStyle/>
          <a:p>
            <a:pPr marL="0" indent="0" algn="ctr">
              <a:spcAft>
                <a:spcPts val="0"/>
              </a:spcAft>
              <a:buNone/>
            </a:pPr>
            <a:r>
              <a:rPr lang="en-US" sz="1200" b="1" dirty="0">
                <a:solidFill>
                  <a:srgbClr val="9C7A4E"/>
                </a:solidFill>
                <a:latin typeface="Calibri" pitchFamily="34" charset="0"/>
              </a:rPr>
              <a:t>Satisfaction &amp; Sentiment</a:t>
            </a:r>
          </a:p>
        </p:txBody>
      </p:sp>
      <p:sp>
        <p:nvSpPr>
          <p:cNvPr id="15" name="Shape 15"/>
          <p:cNvSpPr/>
          <p:nvPr/>
        </p:nvSpPr>
        <p:spPr>
          <a:xfrm>
            <a:off x="8004048" y="2194560"/>
            <a:ext cx="3544824" cy="1737360"/>
          </a:xfrm>
          <a:prstGeom prst="roundRect">
            <a:avLst>
              <a:gd name="adj" fmla="val 4000"/>
            </a:avLst>
          </a:prstGeom>
          <a:solidFill>
            <a:srgbClr val="FFF6EA"/>
          </a:solidFill>
          <a:ln w="15875">
            <a:solidFill>
              <a:srgbClr val="F0DCC0"/>
            </a:solidFill>
            <a:prstDash val="dash"/>
          </a:ln>
        </p:spPr>
        <p:txBody>
          <a:bodyPr/>
          <a:lstStyle/>
          <a:p>
            <a:endParaRPr lang="en-US"/>
          </a:p>
        </p:txBody>
      </p:sp>
      <p:sp>
        <p:nvSpPr>
          <p:cNvPr id="17" name="Text 17"/>
          <p:cNvSpPr txBox="1"/>
          <p:nvPr/>
        </p:nvSpPr>
        <p:spPr>
          <a:xfrm>
            <a:off x="8095488" y="3391920"/>
            <a:ext cx="3361944" cy="480000"/>
          </a:xfrm>
          <a:prstGeom prst="rect">
            <a:avLst/>
          </a:prstGeom>
          <a:noFill/>
          <a:ln/>
        </p:spPr>
        <p:txBody>
          <a:bodyPr wrap="square" lIns="0" tIns="0" rIns="0" bIns="0" rtlCol="0" anchor="ctr"/>
          <a:lstStyle/>
          <a:p>
            <a:pPr marL="0" indent="0" algn="ctr">
              <a:spcAft>
                <a:spcPts val="0"/>
              </a:spcAft>
              <a:buNone/>
            </a:pPr>
            <a:r>
              <a:rPr lang="en-US" sz="1200" b="1" dirty="0">
                <a:solidFill>
                  <a:srgbClr val="9C7A4E"/>
                </a:solidFill>
                <a:latin typeface="Calibri" pitchFamily="34" charset="0"/>
              </a:rPr>
              <a:t>Escalation Analytics</a:t>
            </a:r>
          </a:p>
        </p:txBody>
      </p:sp>
      <p:sp>
        <p:nvSpPr>
          <p:cNvPr id="18" name="Shape 18"/>
          <p:cNvSpPr/>
          <p:nvPr/>
        </p:nvSpPr>
        <p:spPr>
          <a:xfrm>
            <a:off x="640080" y="4069080"/>
            <a:ext cx="3544824" cy="1737360"/>
          </a:xfrm>
          <a:prstGeom prst="roundRect">
            <a:avLst>
              <a:gd name="adj" fmla="val 4000"/>
            </a:avLst>
          </a:prstGeom>
          <a:solidFill>
            <a:srgbClr val="FFF6EA"/>
          </a:solidFill>
          <a:ln w="15875">
            <a:solidFill>
              <a:srgbClr val="F0DCC0"/>
            </a:solidFill>
            <a:prstDash val="dash"/>
          </a:ln>
        </p:spPr>
        <p:txBody>
          <a:bodyPr/>
          <a:lstStyle/>
          <a:p>
            <a:endParaRPr lang="en-US"/>
          </a:p>
        </p:txBody>
      </p:sp>
      <p:sp>
        <p:nvSpPr>
          <p:cNvPr id="20" name="Text 20"/>
          <p:cNvSpPr txBox="1"/>
          <p:nvPr/>
        </p:nvSpPr>
        <p:spPr>
          <a:xfrm>
            <a:off x="731520" y="5266440"/>
            <a:ext cx="3361944" cy="480000"/>
          </a:xfrm>
          <a:prstGeom prst="rect">
            <a:avLst/>
          </a:prstGeom>
          <a:noFill/>
          <a:ln/>
        </p:spPr>
        <p:txBody>
          <a:bodyPr wrap="square" lIns="0" tIns="0" rIns="0" bIns="0" rtlCol="0" anchor="ctr"/>
          <a:lstStyle/>
          <a:p>
            <a:pPr marL="0" indent="0" algn="ctr">
              <a:spcAft>
                <a:spcPts val="0"/>
              </a:spcAft>
              <a:buNone/>
            </a:pPr>
            <a:r>
              <a:rPr lang="en-US" sz="1200" b="1" dirty="0">
                <a:solidFill>
                  <a:srgbClr val="9C7A4E"/>
                </a:solidFill>
                <a:latin typeface="Calibri" pitchFamily="34" charset="0"/>
              </a:rPr>
              <a:t>Member Segments</a:t>
            </a:r>
          </a:p>
        </p:txBody>
      </p:sp>
      <p:sp>
        <p:nvSpPr>
          <p:cNvPr id="21" name="Shape 21"/>
          <p:cNvSpPr/>
          <p:nvPr/>
        </p:nvSpPr>
        <p:spPr>
          <a:xfrm>
            <a:off x="4322064" y="4069080"/>
            <a:ext cx="3544824" cy="1737360"/>
          </a:xfrm>
          <a:prstGeom prst="roundRect">
            <a:avLst>
              <a:gd name="adj" fmla="val 4000"/>
            </a:avLst>
          </a:prstGeom>
          <a:solidFill>
            <a:srgbClr val="FFF6EA"/>
          </a:solidFill>
          <a:ln w="15875">
            <a:solidFill>
              <a:srgbClr val="F0DCC0"/>
            </a:solidFill>
            <a:prstDash val="dash"/>
          </a:ln>
        </p:spPr>
        <p:txBody>
          <a:bodyPr/>
          <a:lstStyle/>
          <a:p>
            <a:endParaRPr lang="en-US"/>
          </a:p>
        </p:txBody>
      </p:sp>
      <p:sp>
        <p:nvSpPr>
          <p:cNvPr id="23" name="Text 23"/>
          <p:cNvSpPr txBox="1"/>
          <p:nvPr/>
        </p:nvSpPr>
        <p:spPr>
          <a:xfrm>
            <a:off x="4413504" y="5266440"/>
            <a:ext cx="3361944" cy="480000"/>
          </a:xfrm>
          <a:prstGeom prst="rect">
            <a:avLst/>
          </a:prstGeom>
          <a:noFill/>
          <a:ln/>
        </p:spPr>
        <p:txBody>
          <a:bodyPr wrap="square" lIns="0" tIns="0" rIns="0" bIns="0" rtlCol="0" anchor="ctr"/>
          <a:lstStyle/>
          <a:p>
            <a:pPr marL="0" indent="0" algn="ctr">
              <a:spcAft>
                <a:spcPts val="0"/>
              </a:spcAft>
              <a:buNone/>
            </a:pPr>
            <a:r>
              <a:rPr lang="en-US" sz="1200" b="1" dirty="0">
                <a:solidFill>
                  <a:srgbClr val="9C7A4E"/>
                </a:solidFill>
                <a:latin typeface="Calibri" pitchFamily="34" charset="0"/>
              </a:rPr>
              <a:t>NLP Insights</a:t>
            </a:r>
          </a:p>
        </p:txBody>
      </p:sp>
      <p:sp>
        <p:nvSpPr>
          <p:cNvPr id="24" name="Shape 24"/>
          <p:cNvSpPr/>
          <p:nvPr/>
        </p:nvSpPr>
        <p:spPr>
          <a:xfrm>
            <a:off x="8004048" y="4069080"/>
            <a:ext cx="3544824" cy="1737360"/>
          </a:xfrm>
          <a:prstGeom prst="roundRect">
            <a:avLst>
              <a:gd name="adj" fmla="val 4000"/>
            </a:avLst>
          </a:prstGeom>
          <a:solidFill>
            <a:srgbClr val="FFF6EA"/>
          </a:solidFill>
          <a:ln w="15875">
            <a:solidFill>
              <a:srgbClr val="F0DCC0"/>
            </a:solidFill>
            <a:prstDash val="dash"/>
          </a:ln>
        </p:spPr>
        <p:txBody>
          <a:bodyPr/>
          <a:lstStyle/>
          <a:p>
            <a:endParaRPr lang="en-US"/>
          </a:p>
        </p:txBody>
      </p:sp>
      <p:sp>
        <p:nvSpPr>
          <p:cNvPr id="26" name="Text 26"/>
          <p:cNvSpPr txBox="1"/>
          <p:nvPr/>
        </p:nvSpPr>
        <p:spPr>
          <a:xfrm>
            <a:off x="8095488" y="5266440"/>
            <a:ext cx="3361944" cy="480000"/>
          </a:xfrm>
          <a:prstGeom prst="rect">
            <a:avLst/>
          </a:prstGeom>
          <a:noFill/>
          <a:ln/>
        </p:spPr>
        <p:txBody>
          <a:bodyPr wrap="square" lIns="0" tIns="0" rIns="0" bIns="0" rtlCol="0" anchor="ctr"/>
          <a:lstStyle/>
          <a:p>
            <a:pPr marL="0" indent="0" algn="ctr">
              <a:spcAft>
                <a:spcPts val="0"/>
              </a:spcAft>
              <a:buNone/>
            </a:pPr>
            <a:r>
              <a:rPr lang="en-US" sz="1200" b="1" dirty="0">
                <a:solidFill>
                  <a:srgbClr val="9C7A4E"/>
                </a:solidFill>
                <a:latin typeface="Calibri" pitchFamily="34" charset="0"/>
              </a:rPr>
              <a:t>AI Assistant Opportunity</a:t>
            </a:r>
          </a:p>
        </p:txBody>
      </p:sp>
      <p:sp>
        <p:nvSpPr>
          <p:cNvPr id="27" name="Text 27"/>
          <p:cNvSpPr txBox="1"/>
          <p:nvPr/>
        </p:nvSpPr>
        <p:spPr>
          <a:xfrm>
            <a:off x="640080" y="5961888"/>
            <a:ext cx="10908792" cy="365760"/>
          </a:xfrm>
          <a:prstGeom prst="rect">
            <a:avLst/>
          </a:prstGeom>
          <a:noFill/>
          <a:ln/>
        </p:spPr>
        <p:txBody>
          <a:bodyPr wrap="square" lIns="0" tIns="0" rIns="0" bIns="0" rtlCol="0" anchor="ctr"/>
          <a:lstStyle/>
          <a:p>
            <a:pPr marL="0" indent="0" algn="l">
              <a:spcAft>
                <a:spcPts val="0"/>
              </a:spcAft>
              <a:buNone/>
            </a:pPr>
            <a:r>
              <a:rPr lang="en-US" sz="1400" b="1" dirty="0">
                <a:solidFill>
                  <a:srgbClr val="7A3E10"/>
                </a:solidFill>
                <a:latin typeface="Calibri" pitchFamily="34" charset="0"/>
              </a:rPr>
              <a:t>Model - </a:t>
            </a:r>
            <a:r>
              <a:rPr lang="en-US" sz="1400" b="0" dirty="0">
                <a:solidFill>
                  <a:srgbClr val="5A4636"/>
                </a:solidFill>
                <a:latin typeface="Calibri" pitchFamily="34" charset="0"/>
              </a:rPr>
              <a:t>star schema (3 dimensions, 1:* single direction) · 365-day date table · DAX measures · row-level security for department managers and regional directors</a:t>
            </a:r>
          </a:p>
        </p:txBody>
      </p:sp>
      <p:sp>
        <p:nvSpPr>
          <p:cNvPr id="28" name="TextBox 27"/>
          <p:cNvSpPr txBox="1"/>
          <p:nvPr/>
        </p:nvSpPr>
        <p:spPr>
          <a:xfrm>
            <a:off x="777240" y="2305104"/>
            <a:ext cx="3273552" cy="1051560"/>
          </a:xfrm>
          <a:prstGeom prst="rect">
            <a:avLst/>
          </a:prstGeom>
          <a:noFill/>
        </p:spPr>
        <p:txBody>
          <a:bodyPr wrap="square" lIns="0" rIns="0" tIns="0" bIns="0" anchor="t">
            <a:spAutoFit/>
          </a:bodyPr>
          <a:lstStyle/>
          <a:p>
            <a:pPr algn="l">
              <a:spcAft>
                <a:spcPts val="500"/>
              </a:spcAft>
            </a:pPr>
            <a:r>
              <a:rPr sz="1200" b="0">
                <a:solidFill>
                  <a:srgbClr val="5A4636"/>
                </a:solidFill>
                <a:latin typeface="Calibri"/>
              </a:rPr>
              <a:t>KPI cards: total interactions, members, escalation rate, FCR rate</a:t>
            </a:r>
          </a:p>
          <a:p>
            <a:pPr algn="l">
              <a:spcAft>
                <a:spcPts val="500"/>
              </a:spcAft>
            </a:pPr>
            <a:r>
              <a:rPr sz="1200" b="0">
                <a:solidFill>
                  <a:srgbClr val="5A4636"/>
                </a:solidFill>
                <a:latin typeface="Calibri"/>
              </a:rPr>
              <a:t>Current baseline: 10,000 · 2,621 · 17.38% · 63.47%</a:t>
            </a:r>
          </a:p>
        </p:txBody>
      </p:sp>
      <p:sp>
        <p:nvSpPr>
          <p:cNvPr id="29" name="TextBox 28"/>
          <p:cNvSpPr txBox="1"/>
          <p:nvPr/>
        </p:nvSpPr>
        <p:spPr>
          <a:xfrm>
            <a:off x="4459224" y="2305104"/>
            <a:ext cx="3273552" cy="1051560"/>
          </a:xfrm>
          <a:prstGeom prst="rect">
            <a:avLst/>
          </a:prstGeom>
          <a:noFill/>
        </p:spPr>
        <p:txBody>
          <a:bodyPr wrap="square" lIns="0" rIns="0" tIns="0" bIns="0" anchor="t">
            <a:spAutoFit/>
          </a:bodyPr>
          <a:lstStyle/>
          <a:p>
            <a:pPr algn="l">
              <a:spcAft>
                <a:spcPts val="500"/>
              </a:spcAft>
            </a:pPr>
            <a:r>
              <a:rPr sz="1200" b="0">
                <a:solidFill>
                  <a:srgbClr val="5A4636"/>
                </a:solidFill>
                <a:latin typeface="Calibri"/>
              </a:rPr>
              <a:t>Mean CSAT 3.46 / 5 with trend over time</a:t>
            </a:r>
          </a:p>
          <a:p>
            <a:pPr algn="l">
              <a:spcAft>
                <a:spcPts val="500"/>
              </a:spcAft>
            </a:pPr>
            <a:r>
              <a:rPr sz="1200" b="0">
                <a:solidFill>
                  <a:srgbClr val="5A4636"/>
                </a:solidFill>
                <a:latin typeface="Calibri"/>
              </a:rPr>
              <a:t>Sentiment score distribution and regional satisfaction</a:t>
            </a:r>
          </a:p>
        </p:txBody>
      </p:sp>
      <p:sp>
        <p:nvSpPr>
          <p:cNvPr id="30" name="TextBox 29"/>
          <p:cNvSpPr txBox="1"/>
          <p:nvPr/>
        </p:nvSpPr>
        <p:spPr>
          <a:xfrm>
            <a:off x="8141208" y="2305104"/>
            <a:ext cx="3273552" cy="1051560"/>
          </a:xfrm>
          <a:prstGeom prst="rect">
            <a:avLst/>
          </a:prstGeom>
          <a:noFill/>
        </p:spPr>
        <p:txBody>
          <a:bodyPr wrap="square" lIns="0" rIns="0" tIns="0" bIns="0" anchor="t">
            <a:spAutoFit/>
          </a:bodyPr>
          <a:lstStyle/>
          <a:p>
            <a:pPr algn="l">
              <a:spcAft>
                <a:spcPts val="500"/>
              </a:spcAft>
            </a:pPr>
            <a:r>
              <a:rPr sz="1200" b="0">
                <a:solidFill>
                  <a:srgbClr val="5A4636"/>
                </a:solidFill>
                <a:latin typeface="Calibri"/>
              </a:rPr>
              <a:t>Escalation drivers by channel and department</a:t>
            </a:r>
          </a:p>
          <a:p>
            <a:pPr algn="l">
              <a:spcAft>
                <a:spcPts val="500"/>
              </a:spcAft>
            </a:pPr>
            <a:r>
              <a:rPr sz="1200" b="0">
                <a:solidFill>
                  <a:srgbClr val="5A4636"/>
                </a:solidFill>
                <a:latin typeface="Calibri"/>
              </a:rPr>
              <a:t>Predicted high-risk escalations (probability ≥ 0.50) and trend</a:t>
            </a:r>
          </a:p>
        </p:txBody>
      </p:sp>
      <p:sp>
        <p:nvSpPr>
          <p:cNvPr id="31" name="TextBox 30"/>
          <p:cNvSpPr txBox="1"/>
          <p:nvPr/>
        </p:nvSpPr>
        <p:spPr>
          <a:xfrm>
            <a:off x="777240" y="4179623"/>
            <a:ext cx="3273552" cy="1051560"/>
          </a:xfrm>
          <a:prstGeom prst="rect">
            <a:avLst/>
          </a:prstGeom>
          <a:noFill/>
        </p:spPr>
        <p:txBody>
          <a:bodyPr wrap="square" lIns="0" rIns="0" tIns="0" bIns="0" anchor="t">
            <a:spAutoFit/>
          </a:bodyPr>
          <a:lstStyle/>
          <a:p>
            <a:pPr algn="l">
              <a:spcAft>
                <a:spcPts val="500"/>
              </a:spcAft>
            </a:pPr>
            <a:r>
              <a:rPr sz="1200" b="0">
                <a:solidFill>
                  <a:srgbClr val="5A4636"/>
                </a:solidFill>
                <a:latin typeface="Calibri"/>
              </a:rPr>
              <a:t>Four K-Means personas: size and profile</a:t>
            </a:r>
          </a:p>
          <a:p>
            <a:pPr algn="l">
              <a:spcAft>
                <a:spcPts val="500"/>
              </a:spcAft>
            </a:pPr>
            <a:r>
              <a:rPr sz="1200" b="0">
                <a:solidFill>
                  <a:srgbClr val="5A4636"/>
                </a:solidFill>
                <a:latin typeface="Calibri"/>
              </a:rPr>
              <a:t>Escalation from 6.6% to 35.8% by segment, with actions</a:t>
            </a:r>
          </a:p>
        </p:txBody>
      </p:sp>
      <p:sp>
        <p:nvSpPr>
          <p:cNvPr id="32" name="TextBox 31"/>
          <p:cNvSpPr txBox="1"/>
          <p:nvPr/>
        </p:nvSpPr>
        <p:spPr>
          <a:xfrm>
            <a:off x="4459224" y="4179623"/>
            <a:ext cx="3273552" cy="1051560"/>
          </a:xfrm>
          <a:prstGeom prst="rect">
            <a:avLst/>
          </a:prstGeom>
          <a:noFill/>
        </p:spPr>
        <p:txBody>
          <a:bodyPr wrap="square" lIns="0" rIns="0" tIns="0" bIns="0" anchor="t">
            <a:spAutoFit/>
          </a:bodyPr>
          <a:lstStyle/>
          <a:p>
            <a:pPr algn="l">
              <a:spcAft>
                <a:spcPts val="500"/>
              </a:spcAft>
            </a:pPr>
            <a:r>
              <a:rPr sz="1200" b="0">
                <a:solidFill>
                  <a:srgbClr val="5A4636"/>
                </a:solidFill>
                <a:latin typeface="Calibri"/>
              </a:rPr>
              <a:t>Topic volumes: Pharmacy 23.8%, Provider Access 22.3%</a:t>
            </a:r>
          </a:p>
          <a:p>
            <a:pPr algn="l">
              <a:spcAft>
                <a:spcPts val="500"/>
              </a:spcAft>
            </a:pPr>
            <a:r>
              <a:rPr sz="1200" b="0">
                <a:solidFill>
                  <a:srgbClr val="5A4636"/>
                </a:solidFill>
                <a:latin typeface="Calibri"/>
              </a:rPr>
              <a:t>High-friction keywords and complaint themes</a:t>
            </a:r>
          </a:p>
        </p:txBody>
      </p:sp>
      <p:sp>
        <p:nvSpPr>
          <p:cNvPr id="33" name="TextBox 32"/>
          <p:cNvSpPr txBox="1"/>
          <p:nvPr/>
        </p:nvSpPr>
        <p:spPr>
          <a:xfrm>
            <a:off x="8141208" y="4179623"/>
            <a:ext cx="3273552" cy="1051560"/>
          </a:xfrm>
          <a:prstGeom prst="rect">
            <a:avLst/>
          </a:prstGeom>
          <a:noFill/>
        </p:spPr>
        <p:txBody>
          <a:bodyPr wrap="square" lIns="0" rIns="0" tIns="0" bIns="0" anchor="t">
            <a:spAutoFit/>
          </a:bodyPr>
          <a:lstStyle/>
          <a:p>
            <a:pPr algn="l">
              <a:spcAft>
                <a:spcPts val="500"/>
              </a:spcAft>
            </a:pPr>
            <a:r>
              <a:rPr sz="1200" b="0">
                <a:solidFill>
                  <a:srgbClr val="5A4636"/>
                </a:solidFill>
                <a:latin typeface="Calibri"/>
              </a:rPr>
              <a:t>AI opportunity matrix of automatable queries</a:t>
            </a:r>
          </a:p>
          <a:p>
            <a:pPr algn="l">
              <a:spcAft>
                <a:spcPts val="500"/>
              </a:spcAft>
            </a:pPr>
            <a:r>
              <a:rPr sz="1200" b="0">
                <a:solidFill>
                  <a:srgbClr val="5A4636"/>
                </a:solidFill>
                <a:latin typeface="Calibri"/>
              </a:rPr>
              <a:t>Deflection gauge against the 30% adoption target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691640"/>
          </a:xfrm>
          <a:prstGeom prst="rect">
            <a:avLst/>
          </a:prstGeom>
          <a:solidFill>
            <a:srgbClr val="FBE3C2"/>
          </a:solidFill>
          <a:ln/>
        </p:spPr>
        <p:txBody>
          <a:bodyPr/>
          <a:lstStyle/>
          <a:p>
            <a:endParaRPr lang="en-US"/>
          </a:p>
        </p:txBody>
      </p:sp>
      <p:sp>
        <p:nvSpPr>
          <p:cNvPr id="3" name="Shape 1"/>
          <p:cNvSpPr>
            <a:spLocks/>
          </p:cNvSpPr>
          <p:nvPr/>
        </p:nvSpPr>
        <p:spPr>
          <a:xfrm>
            <a:off x="0" y="1691640"/>
            <a:ext cx="12188952" cy="64008"/>
          </a:xfrm>
          <a:prstGeom prst="rect">
            <a:avLst/>
          </a:prstGeom>
          <a:solidFill>
            <a:srgbClr val="E8871E"/>
          </a:solidFill>
          <a:ln/>
        </p:spPr>
        <p:txBody>
          <a:bodyPr/>
          <a:lstStyle/>
          <a:p>
            <a:endParaRPr lang="en-US"/>
          </a:p>
        </p:txBody>
      </p:sp>
      <p:pic>
        <p:nvPicPr>
          <p:cNvPr id="4" name="Image 0" descr="/home/claude/capstone_template/eta_logo.png"/>
          <p:cNvPicPr>
            <a:picLocks noChangeAspect="1"/>
          </p:cNvPicPr>
          <p:nvPr/>
        </p:nvPicPr>
        <p:blipFill>
          <a:blip r:embed="rId3"/>
          <a:stretch>
            <a:fillRect/>
          </a:stretch>
        </p:blipFill>
        <p:spPr>
          <a:xfrm>
            <a:off x="548640" y="448056"/>
            <a:ext cx="1554480" cy="186423"/>
          </a:xfrm>
          <a:prstGeom prst="rect">
            <a:avLst/>
          </a:prstGeom>
        </p:spPr>
      </p:pic>
      <p:pic>
        <p:nvPicPr>
          <p:cNvPr id="5" name="Image 1" descr="/home/claude/capstone_template/wingspan_logo.png"/>
          <p:cNvPicPr>
            <a:picLocks noChangeAspect="1"/>
          </p:cNvPicPr>
          <p:nvPr/>
        </p:nvPicPr>
        <p:blipFill>
          <a:blip r:embed="rId4"/>
          <a:stretch>
            <a:fillRect/>
          </a:stretch>
        </p:blipFill>
        <p:spPr>
          <a:xfrm>
            <a:off x="11116818" y="349243"/>
            <a:ext cx="432054" cy="384048"/>
          </a:xfrm>
          <a:prstGeom prst="rect">
            <a:avLst/>
          </a:prstGeom>
        </p:spPr>
      </p:pic>
      <p:sp>
        <p:nvSpPr>
          <p:cNvPr id="6" name="Text 2"/>
          <p:cNvSpPr txBox="1"/>
          <p:nvPr/>
        </p:nvSpPr>
        <p:spPr>
          <a:xfrm>
            <a:off x="2606040" y="384048"/>
            <a:ext cx="7916418" cy="274320"/>
          </a:xfrm>
          <a:prstGeom prst="rect">
            <a:avLst/>
          </a:prstGeom>
          <a:noFill/>
          <a:ln/>
        </p:spPr>
        <p:txBody>
          <a:bodyPr wrap="square" lIns="0" tIns="0" rIns="0" bIns="0" rtlCol="0" anchor="ctr"/>
          <a:lstStyle/>
          <a:p>
            <a:pPr marL="0" indent="0" algn="l">
              <a:buNone/>
            </a:pPr>
            <a:r>
              <a:rPr lang="en-US" sz="1100" b="1" kern="0" spc="200" dirty="0">
                <a:solidFill>
                  <a:srgbClr val="E8871E"/>
                </a:solidFill>
                <a:latin typeface="Calibri" pitchFamily="34" charset="0"/>
                <a:ea typeface="Calibri" pitchFamily="34" charset="-122"/>
                <a:cs typeface="Calibri" pitchFamily="34" charset="-120"/>
              </a:rPr>
              <a:t>SECTION 13</a:t>
            </a:r>
            <a:endParaRPr lang="en-US" sz="1100" dirty="0"/>
          </a:p>
        </p:txBody>
      </p:sp>
      <p:sp>
        <p:nvSpPr>
          <p:cNvPr id="7" name="Text 3"/>
          <p:cNvSpPr txBox="1"/>
          <p:nvPr/>
        </p:nvSpPr>
        <p:spPr>
          <a:xfrm>
            <a:off x="2606040" y="685800"/>
            <a:ext cx="7916418" cy="914400"/>
          </a:xfrm>
          <a:prstGeom prst="rect">
            <a:avLst/>
          </a:prstGeom>
          <a:noFill/>
          <a:ln/>
        </p:spPr>
        <p:txBody>
          <a:bodyPr wrap="square" lIns="0" tIns="0" rIns="0" bIns="0" rtlCol="0" anchor="t"/>
          <a:lstStyle/>
          <a:p>
            <a:pPr marL="0" indent="0" algn="l">
              <a:buNone/>
            </a:pPr>
            <a:r>
              <a:rPr lang="en-US" sz="2600" b="1" dirty="0">
                <a:solidFill>
                  <a:srgbClr val="7A3E10"/>
                </a:solidFill>
                <a:latin typeface="Calibri" pitchFamily="34" charset="0"/>
                <a:ea typeface="Calibri" pitchFamily="34" charset="-122"/>
                <a:cs typeface="Calibri" pitchFamily="34" charset="-120"/>
              </a:rPr>
              <a:t>Operational Recommendations &amp; Business Impact</a:t>
            </a:r>
            <a:endParaRPr lang="en-US" sz="2600" dirty="0"/>
          </a:p>
        </p:txBody>
      </p:sp>
      <p:sp>
        <p:nvSpPr>
          <p:cNvPr id="8" name="Text 4"/>
          <p:cNvSpPr txBox="1"/>
          <p:nvPr/>
        </p:nvSpPr>
        <p:spPr>
          <a:xfrm>
            <a:off x="11274552" y="1307592"/>
            <a:ext cx="548640" cy="320040"/>
          </a:xfrm>
          <a:prstGeom prst="rect">
            <a:avLst/>
          </a:prstGeom>
          <a:noFill/>
          <a:ln/>
        </p:spPr>
        <p:txBody>
          <a:bodyPr wrap="square" lIns="0" tIns="0" rIns="0" bIns="0" rtlCol="0" anchor="ctr"/>
          <a:lstStyle/>
          <a:p>
            <a:pPr marL="0" indent="0" algn="r">
              <a:buNone/>
            </a:pPr>
            <a:r>
              <a:rPr lang="en-US" sz="1100" b="1" dirty="0">
                <a:solidFill>
                  <a:srgbClr val="9C7A4E"/>
                </a:solidFill>
                <a:latin typeface="Calibri" pitchFamily="34" charset="0"/>
                <a:ea typeface="Calibri" pitchFamily="34" charset="-122"/>
                <a:cs typeface="Calibri" pitchFamily="34" charset="-120"/>
              </a:rPr>
              <a:t>14</a:t>
            </a:r>
            <a:endParaRPr lang="en-US" sz="1100" dirty="0"/>
          </a:p>
        </p:txBody>
      </p:sp>
      <p:sp>
        <p:nvSpPr>
          <p:cNvPr id="9" name="Shape 9"/>
          <p:cNvSpPr/>
          <p:nvPr/>
        </p:nvSpPr>
        <p:spPr>
          <a:xfrm>
            <a:off x="640080" y="2194560"/>
            <a:ext cx="10908792" cy="1188720"/>
          </a:xfrm>
          <a:prstGeom prst="roundRect">
            <a:avLst>
              <a:gd name="adj" fmla="val 2273"/>
            </a:avLst>
          </a:prstGeom>
          <a:solidFill>
            <a:srgbClr val="FBE3C2"/>
          </a:solidFill>
          <a:ln/>
        </p:spPr>
        <p:txBody>
          <a:bodyPr/>
          <a:lstStyle/>
          <a:p>
            <a:endParaRPr lang="en-US"/>
          </a:p>
        </p:txBody>
      </p:sp>
      <p:sp>
        <p:nvSpPr>
          <p:cNvPr id="10" name="Label 10"/>
          <p:cNvSpPr txBox="1"/>
          <p:nvPr/>
        </p:nvSpPr>
        <p:spPr>
          <a:xfrm>
            <a:off x="960120" y="2331720"/>
            <a:ext cx="6000000" cy="228600"/>
          </a:xfrm>
          <a:prstGeom prst="rect">
            <a:avLst/>
          </a:prstGeom>
          <a:noFill/>
          <a:ln/>
        </p:spPr>
        <p:txBody>
          <a:bodyPr wrap="square" lIns="0" tIns="0" rIns="0" bIns="0" rtlCol="0" anchor="ctr"/>
          <a:lstStyle/>
          <a:p>
            <a:pPr marL="0" indent="0" algn="l">
              <a:spcAft>
                <a:spcPts val="0"/>
              </a:spcAft>
              <a:buNone/>
            </a:pPr>
            <a:r>
              <a:rPr lang="en-US" sz="1100" b="1" dirty="0">
                <a:solidFill>
                  <a:srgbClr val="7A3E10"/>
                </a:solidFill>
                <a:latin typeface="Calibri" pitchFamily="34" charset="0"/>
              </a:rPr>
              <a:t>THE QUESTION WE ANSWER</a:t>
            </a:r>
          </a:p>
        </p:txBody>
      </p:sp>
      <p:sp>
        <p:nvSpPr>
          <p:cNvPr id="11" name="Text 11"/>
          <p:cNvSpPr txBox="1"/>
          <p:nvPr/>
        </p:nvSpPr>
        <p:spPr>
          <a:xfrm>
            <a:off x="960120" y="2606040"/>
            <a:ext cx="10268712" cy="685800"/>
          </a:xfrm>
          <a:prstGeom prst="rect">
            <a:avLst/>
          </a:prstGeom>
          <a:noFill/>
          <a:ln/>
        </p:spPr>
        <p:txBody>
          <a:bodyPr wrap="square" lIns="0" tIns="0" rIns="0" bIns="0" rtlCol="0" anchor="t"/>
          <a:lstStyle/>
          <a:p>
            <a:pPr marL="0" indent="0" algn="l">
              <a:spcAft>
                <a:spcPts val="0"/>
              </a:spcAft>
              <a:buNone/>
            </a:pPr>
            <a:r>
              <a:rPr lang="en-US" sz="1500" b="1" dirty="0">
                <a:solidFill>
                  <a:srgbClr val="7A3E10"/>
                </a:solidFill>
                <a:latin typeface="Calibri" pitchFamily="34" charset="0"/>
              </a:rPr>
              <a:t>Which operational improvements and AI-enabled capabilities will most improve member satisfaction while reducing service costs and escalations?</a:t>
            </a:r>
          </a:p>
        </p:txBody>
      </p:sp>
      <p:sp>
        <p:nvSpPr>
          <p:cNvPr id="12" name="Shape 12"/>
          <p:cNvSpPr/>
          <p:nvPr/>
        </p:nvSpPr>
        <p:spPr>
          <a:xfrm>
            <a:off x="640080" y="3733800"/>
            <a:ext cx="128016" cy="128016"/>
          </a:xfrm>
          <a:prstGeom prst="ellipse">
            <a:avLst/>
          </a:prstGeom>
          <a:solidFill>
            <a:srgbClr val="E8871E"/>
          </a:solidFill>
          <a:ln/>
        </p:spPr>
      </p:sp>
      <p:sp>
        <p:nvSpPr>
          <p:cNvPr id="13" name="Text 13"/>
          <p:cNvSpPr txBox="1"/>
          <p:nvPr/>
        </p:nvSpPr>
        <p:spPr>
          <a:xfrm>
            <a:off x="960120" y="3657600"/>
            <a:ext cx="10588752" cy="640080"/>
          </a:xfrm>
          <a:prstGeom prst="rect">
            <a:avLst/>
          </a:prstGeom>
          <a:noFill/>
          <a:ln/>
        </p:spPr>
        <p:txBody>
          <a:bodyPr wrap="square" lIns="0" tIns="0" rIns="0" bIns="0" rtlCol="0" anchor="t"/>
          <a:lstStyle/>
          <a:p>
            <a:pPr marL="0" indent="0" algn="l">
              <a:spcAft>
                <a:spcPts val="0"/>
              </a:spcAft>
              <a:buNone/>
            </a:pPr>
            <a:r>
              <a:rPr lang="en-US" sz="1500" b="1" dirty="0">
                <a:solidFill>
                  <a:srgbClr val="7A3E10"/>
                </a:solidFill>
                <a:latin typeface="Calibri" pitchFamily="34" charset="0"/>
              </a:rPr>
              <a:t>Recommendation 1 - </a:t>
            </a:r>
            <a:r>
              <a:rPr lang="en-US" sz="1500" b="0" dirty="0">
                <a:solidFill>
                  <a:srgbClr val="5A4636"/>
                </a:solidFill>
                <a:latin typeface="Calibri" pitchFamily="34" charset="0"/>
              </a:rPr>
              <a:t>route by risk: send interactions with predicted escalation probability of 0.50 or more to senior specialists (the model catches 66% of escalations).</a:t>
            </a:r>
          </a:p>
        </p:txBody>
      </p:sp>
      <p:sp>
        <p:nvSpPr>
          <p:cNvPr id="14" name="Shape 14"/>
          <p:cNvSpPr/>
          <p:nvPr/>
        </p:nvSpPr>
        <p:spPr>
          <a:xfrm>
            <a:off x="640080" y="4373880"/>
            <a:ext cx="128016" cy="128016"/>
          </a:xfrm>
          <a:prstGeom prst="ellipse">
            <a:avLst/>
          </a:prstGeom>
          <a:solidFill>
            <a:srgbClr val="E8871E"/>
          </a:solidFill>
          <a:ln/>
        </p:spPr>
      </p:sp>
      <p:sp>
        <p:nvSpPr>
          <p:cNvPr id="15" name="Text 15"/>
          <p:cNvSpPr txBox="1"/>
          <p:nvPr/>
        </p:nvSpPr>
        <p:spPr>
          <a:xfrm>
            <a:off x="960120" y="4297680"/>
            <a:ext cx="10588752" cy="640080"/>
          </a:xfrm>
          <a:prstGeom prst="rect">
            <a:avLst/>
          </a:prstGeom>
          <a:noFill/>
          <a:ln/>
        </p:spPr>
        <p:txBody>
          <a:bodyPr wrap="square" lIns="0" tIns="0" rIns="0" bIns="0" rtlCol="0" anchor="t"/>
          <a:lstStyle/>
          <a:p>
            <a:pPr marL="0" indent="0" algn="l">
              <a:spcAft>
                <a:spcPts val="0"/>
              </a:spcAft>
              <a:buNone/>
            </a:pPr>
            <a:r>
              <a:rPr lang="en-US" sz="1500" b="1" dirty="0">
                <a:solidFill>
                  <a:srgbClr val="7A3E10"/>
                </a:solidFill>
                <a:latin typeface="Calibri" pitchFamily="34" charset="0"/>
              </a:rPr>
              <a:t>Recommendation 2 - </a:t>
            </a:r>
            <a:r>
              <a:rPr lang="en-US" sz="1500" b="0" dirty="0">
                <a:solidFill>
                  <a:srgbClr val="5A4636"/>
                </a:solidFill>
                <a:latin typeface="Calibri" pitchFamily="34" charset="0"/>
              </a:rPr>
              <a:t>shift routine phone demand to chat and app: phone escalates at 25.2% vs 10.7% and costs $15.50 vs $1.20 per contact.</a:t>
            </a:r>
          </a:p>
        </p:txBody>
      </p:sp>
      <p:sp>
        <p:nvSpPr>
          <p:cNvPr id="16" name="Shape 16"/>
          <p:cNvSpPr/>
          <p:nvPr/>
        </p:nvSpPr>
        <p:spPr>
          <a:xfrm>
            <a:off x="640080" y="5013960"/>
            <a:ext cx="128016" cy="128016"/>
          </a:xfrm>
          <a:prstGeom prst="ellipse">
            <a:avLst/>
          </a:prstGeom>
          <a:solidFill>
            <a:srgbClr val="E8871E"/>
          </a:solidFill>
          <a:ln/>
        </p:spPr>
      </p:sp>
      <p:sp>
        <p:nvSpPr>
          <p:cNvPr id="17" name="Text 17"/>
          <p:cNvSpPr txBox="1"/>
          <p:nvPr/>
        </p:nvSpPr>
        <p:spPr>
          <a:xfrm>
            <a:off x="960120" y="4937760"/>
            <a:ext cx="10588752" cy="640080"/>
          </a:xfrm>
          <a:prstGeom prst="rect">
            <a:avLst/>
          </a:prstGeom>
          <a:noFill/>
          <a:ln/>
        </p:spPr>
        <p:txBody>
          <a:bodyPr wrap="square" lIns="0" tIns="0" rIns="0" bIns="0" rtlCol="0" anchor="t"/>
          <a:lstStyle/>
          <a:p>
            <a:pPr marL="0" indent="0" algn="l">
              <a:spcAft>
                <a:spcPts val="0"/>
              </a:spcAft>
              <a:buNone/>
            </a:pPr>
            <a:r>
              <a:rPr lang="en-US" sz="1500" b="1" dirty="0">
                <a:solidFill>
                  <a:srgbClr val="7A3E10"/>
                </a:solidFill>
                <a:latin typeface="Calibri" pitchFamily="34" charset="0"/>
              </a:rPr>
              <a:t>Recommendation 3 - </a:t>
            </a:r>
            <a:r>
              <a:rPr lang="en-US" sz="1500" b="0" dirty="0">
                <a:solidFill>
                  <a:srgbClr val="5A4636"/>
                </a:solidFill>
                <a:latin typeface="Calibri" pitchFamily="34" charset="0"/>
              </a:rPr>
              <a:t>launch the Care Navigation Assistant for Pharmacy, Appointments and Provider Access; low-confidence answers transfer warm to an agent.</a:t>
            </a:r>
          </a:p>
        </p:txBody>
      </p:sp>
      <p:sp>
        <p:nvSpPr>
          <p:cNvPr id="18" name="Shape 18"/>
          <p:cNvSpPr/>
          <p:nvPr/>
        </p:nvSpPr>
        <p:spPr>
          <a:xfrm>
            <a:off x="640080" y="5654040"/>
            <a:ext cx="128016" cy="128016"/>
          </a:xfrm>
          <a:prstGeom prst="ellipse">
            <a:avLst/>
          </a:prstGeom>
          <a:solidFill>
            <a:srgbClr val="E8871E"/>
          </a:solidFill>
          <a:ln/>
        </p:spPr>
      </p:sp>
      <p:sp>
        <p:nvSpPr>
          <p:cNvPr id="19" name="Text 19"/>
          <p:cNvSpPr txBox="1"/>
          <p:nvPr/>
        </p:nvSpPr>
        <p:spPr>
          <a:xfrm>
            <a:off x="960120" y="5577840"/>
            <a:ext cx="10588752" cy="640080"/>
          </a:xfrm>
          <a:prstGeom prst="rect">
            <a:avLst/>
          </a:prstGeom>
          <a:noFill/>
          <a:ln/>
        </p:spPr>
        <p:txBody>
          <a:bodyPr wrap="square" lIns="0" tIns="0" rIns="0" bIns="0" rtlCol="0" anchor="t"/>
          <a:lstStyle/>
          <a:p>
            <a:pPr marL="0" indent="0" algn="l">
              <a:spcAft>
                <a:spcPts val="0"/>
              </a:spcAft>
              <a:buNone/>
            </a:pPr>
            <a:r>
              <a:rPr lang="en-US" sz="1500" b="1" dirty="0">
                <a:solidFill>
                  <a:srgbClr val="7A3E10"/>
                </a:solidFill>
                <a:latin typeface="Calibri" pitchFamily="34" charset="0"/>
              </a:rPr>
              <a:t>Business impact - </a:t>
            </a:r>
            <a:r>
              <a:rPr lang="en-US" sz="1500" b="0" dirty="0">
                <a:solidFill>
                  <a:srgbClr val="5A4636"/>
                </a:solidFill>
                <a:latin typeface="Calibri" pitchFamily="34" charset="0"/>
              </a:rPr>
              <a:t>30% deflection of 27,000 calls saves $115,830; with avoided grievances and supervisor time, $405,830 a year against a $120,000 build (payback under 4.5 months).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BE3C2"/>
          </a:solidFill>
          <a:ln/>
        </p:spPr>
        <p:txBody>
          <a:bodyPr/>
          <a:lstStyle/>
          <a:p>
            <a:endParaRPr lang="en-US"/>
          </a:p>
        </p:txBody>
      </p:sp>
      <p:sp>
        <p:nvSpPr>
          <p:cNvPr id="3" name="Shape 1"/>
          <p:cNvSpPr>
            <a:spLocks/>
          </p:cNvSpPr>
          <p:nvPr/>
        </p:nvSpPr>
        <p:spPr>
          <a:xfrm>
            <a:off x="0" y="6775704"/>
            <a:ext cx="12188952" cy="82296"/>
          </a:xfrm>
          <a:prstGeom prst="rect">
            <a:avLst/>
          </a:prstGeom>
          <a:solidFill>
            <a:srgbClr val="E8871E"/>
          </a:solidFill>
          <a:ln/>
        </p:spPr>
        <p:txBody>
          <a:bodyPr/>
          <a:lstStyle/>
          <a:p>
            <a:endParaRPr lang="en-US"/>
          </a:p>
        </p:txBody>
      </p:sp>
      <p:pic>
        <p:nvPicPr>
          <p:cNvPr id="4" name="Image 0" descr="/home/claude/capstone_template/eta_logo.png"/>
          <p:cNvPicPr>
            <a:picLocks noChangeAspect="1"/>
          </p:cNvPicPr>
          <p:nvPr/>
        </p:nvPicPr>
        <p:blipFill>
          <a:blip r:embed="rId3"/>
          <a:stretch>
            <a:fillRect/>
          </a:stretch>
        </p:blipFill>
        <p:spPr>
          <a:xfrm>
            <a:off x="777240" y="667512"/>
            <a:ext cx="1554480" cy="186423"/>
          </a:xfrm>
          <a:prstGeom prst="rect">
            <a:avLst/>
          </a:prstGeom>
        </p:spPr>
      </p:pic>
      <p:pic>
        <p:nvPicPr>
          <p:cNvPr id="5" name="Image 1" descr="/home/claude/capstone_template/wingspan_logo.png"/>
          <p:cNvPicPr>
            <a:picLocks noChangeAspect="1"/>
          </p:cNvPicPr>
          <p:nvPr/>
        </p:nvPicPr>
        <p:blipFill>
          <a:blip r:embed="rId4"/>
          <a:stretch>
            <a:fillRect/>
          </a:stretch>
        </p:blipFill>
        <p:spPr>
          <a:xfrm>
            <a:off x="10888218" y="568699"/>
            <a:ext cx="432054" cy="384048"/>
          </a:xfrm>
          <a:prstGeom prst="rect">
            <a:avLst/>
          </a:prstGeom>
        </p:spPr>
      </p:pic>
      <p:sp>
        <p:nvSpPr>
          <p:cNvPr id="6" name="Text 2"/>
          <p:cNvSpPr txBox="1"/>
          <p:nvPr/>
        </p:nvSpPr>
        <p:spPr>
          <a:xfrm>
            <a:off x="822960" y="2926080"/>
            <a:ext cx="10515600" cy="822960"/>
          </a:xfrm>
          <a:prstGeom prst="rect">
            <a:avLst/>
          </a:prstGeom>
          <a:noFill/>
          <a:ln/>
        </p:spPr>
        <p:txBody>
          <a:bodyPr wrap="square" lIns="0" tIns="0" rIns="0" bIns="0" rtlCol="0" anchor="ctr"/>
          <a:lstStyle/>
          <a:p>
            <a:pPr marL="0" indent="0" algn="l">
              <a:buNone/>
            </a:pPr>
            <a:r>
              <a:rPr lang="en-US" sz="4400" b="1" dirty="0">
                <a:solidFill>
                  <a:srgbClr val="7A3E10"/>
                </a:solidFill>
                <a:latin typeface="Calibri" pitchFamily="34" charset="0"/>
                <a:ea typeface="Calibri" pitchFamily="34" charset="-122"/>
                <a:cs typeface="Calibri" pitchFamily="34" charset="-120"/>
              </a:rPr>
              <a:t>Thank You</a:t>
            </a:r>
            <a:endParaRPr lang="en-US" sz="4400" dirty="0"/>
          </a:p>
        </p:txBody>
      </p:sp>
      <p:sp>
        <p:nvSpPr>
          <p:cNvPr id="7" name="Text 3"/>
          <p:cNvSpPr txBox="1"/>
          <p:nvPr/>
        </p:nvSpPr>
        <p:spPr>
          <a:xfrm>
            <a:off x="822960" y="3794760"/>
            <a:ext cx="10515600" cy="457200"/>
          </a:xfrm>
          <a:prstGeom prst="rect">
            <a:avLst/>
          </a:prstGeom>
          <a:noFill/>
          <a:ln/>
        </p:spPr>
        <p:txBody>
          <a:bodyPr wrap="square" lIns="0" tIns="0" rIns="0" bIns="0" rtlCol="0" anchor="ctr"/>
          <a:lstStyle/>
          <a:p>
            <a:pPr marL="0" indent="0" algn="l">
              <a:buNone/>
            </a:pPr>
            <a:r>
              <a:rPr lang="en-US" sz="1700" dirty="0">
                <a:solidFill>
                  <a:srgbClr val="9C7A4E"/>
                </a:solidFill>
                <a:latin typeface="Calibri" pitchFamily="34" charset="0"/>
                <a:ea typeface="Calibri" pitchFamily="34" charset="-122"/>
                <a:cs typeface="Calibri" pitchFamily="34" charset="-120"/>
              </a:rPr>
              <a:t>Questions &amp; Discussion</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BE3C2"/>
          </a:solidFill>
          <a:ln/>
        </p:spPr>
        <p:txBody>
          <a:bodyPr/>
          <a:lstStyle/>
          <a:p>
            <a:endParaRPr lang="en-US"/>
          </a:p>
        </p:txBody>
      </p:sp>
      <p:sp>
        <p:nvSpPr>
          <p:cNvPr id="3" name="Shape 1"/>
          <p:cNvSpPr>
            <a:spLocks/>
          </p:cNvSpPr>
          <p:nvPr/>
        </p:nvSpPr>
        <p:spPr>
          <a:xfrm>
            <a:off x="0" y="6775704"/>
            <a:ext cx="12188952" cy="82296"/>
          </a:xfrm>
          <a:prstGeom prst="rect">
            <a:avLst/>
          </a:prstGeom>
          <a:solidFill>
            <a:srgbClr val="E8871E"/>
          </a:solidFill>
          <a:ln/>
        </p:spPr>
        <p:txBody>
          <a:bodyPr/>
          <a:lstStyle/>
          <a:p>
            <a:endParaRPr lang="en-US"/>
          </a:p>
        </p:txBody>
      </p:sp>
      <p:pic>
        <p:nvPicPr>
          <p:cNvPr id="4" name="Image 0" descr="/home/claude/capstone_template/eta_logo.png"/>
          <p:cNvPicPr>
            <a:picLocks noChangeAspect="1"/>
          </p:cNvPicPr>
          <p:nvPr/>
        </p:nvPicPr>
        <p:blipFill>
          <a:blip r:embed="rId3"/>
          <a:stretch>
            <a:fillRect/>
          </a:stretch>
        </p:blipFill>
        <p:spPr>
          <a:xfrm>
            <a:off x="777240" y="667512"/>
            <a:ext cx="1554480" cy="186423"/>
          </a:xfrm>
          <a:prstGeom prst="rect">
            <a:avLst/>
          </a:prstGeom>
        </p:spPr>
      </p:pic>
      <p:pic>
        <p:nvPicPr>
          <p:cNvPr id="5" name="Image 1" descr="/home/claude/capstone_template/wingspan_logo.png"/>
          <p:cNvPicPr>
            <a:picLocks noChangeAspect="1"/>
          </p:cNvPicPr>
          <p:nvPr/>
        </p:nvPicPr>
        <p:blipFill>
          <a:blip r:embed="rId4"/>
          <a:stretch>
            <a:fillRect/>
          </a:stretch>
        </p:blipFill>
        <p:spPr>
          <a:xfrm>
            <a:off x="10888218" y="568699"/>
            <a:ext cx="432054" cy="384048"/>
          </a:xfrm>
          <a:prstGeom prst="rect">
            <a:avLst/>
          </a:prstGeom>
        </p:spPr>
      </p:pic>
      <p:sp>
        <p:nvSpPr>
          <p:cNvPr id="6" name="Text 2"/>
          <p:cNvSpPr txBox="1"/>
          <p:nvPr/>
        </p:nvSpPr>
        <p:spPr>
          <a:xfrm>
            <a:off x="822960" y="2286000"/>
            <a:ext cx="7498079" cy="1097280"/>
          </a:xfrm>
          <a:prstGeom prst="rect">
            <a:avLst/>
          </a:prstGeom>
          <a:noFill/>
          <a:ln/>
        </p:spPr>
        <p:txBody>
          <a:bodyPr wrap="square" lIns="0" tIns="0" rIns="0" bIns="0" rtlCol="0" anchor="ctr"/>
          <a:lstStyle/>
          <a:p>
            <a:pPr marL="0" indent="0" algn="l">
              <a:buNone/>
            </a:pPr>
            <a:r>
              <a:rPr lang="en-US" sz="3400" b="1" dirty="0">
                <a:solidFill>
                  <a:srgbClr val="7A3E10"/>
                </a:solidFill>
                <a:latin typeface="Calibri" pitchFamily="34" charset="0"/>
                <a:ea typeface="Calibri" pitchFamily="34" charset="-122"/>
                <a:cs typeface="Calibri" pitchFamily="34" charset="-120"/>
              </a:rPr>
              <a:t>Questions? Feedback? Thought so.</a:t>
            </a:r>
            <a:endParaRPr lang="en-US" sz="4400" dirty="0"/>
          </a:p>
        </p:txBody>
      </p:sp>
      <p:sp>
        <p:nvSpPr>
          <p:cNvPr id="7" name="Text 3"/>
          <p:cNvSpPr txBox="1"/>
          <p:nvPr/>
        </p:nvSpPr>
        <p:spPr>
          <a:xfrm>
            <a:off x="822960" y="3566160"/>
            <a:ext cx="6949440" cy="1737360"/>
          </a:xfrm>
          <a:prstGeom prst="rect">
            <a:avLst/>
          </a:prstGeom>
          <a:noFill/>
          <a:ln/>
        </p:spPr>
        <p:txBody>
          <a:bodyPr wrap="square" lIns="0" tIns="0" rIns="0" bIns="0" rtlCol="0" anchor="ctr"/>
          <a:lstStyle/>
          <a:p>
            <a:pPr marL="0" indent="0" algn="l">
              <a:buNone/>
            </a:pPr>
            <a:r>
              <a:rPr lang="en-US" sz="1800" dirty="0">
                <a:solidFill>
                  <a:srgbClr val="9C7A4E"/>
                </a:solidFill>
                <a:latin typeface="Calibri" pitchFamily="34" charset="0"/>
                <a:ea typeface="Calibri" pitchFamily="34" charset="-122"/>
                <a:cs typeface="Calibri" pitchFamily="34" charset="-120"/>
              </a:rPr>
              <a:t>If you are an intelligent species with an uncontrollable itch to ask questions or give feedback, please scan the QR code and fill in the form. We will get back to you in 3 to 5 working days.</a:t>
            </a:r>
            <a:endParaRPr lang="en-US" sz="1700" dirty="0"/>
          </a:p>
          <a:p>
            <a:pPr marL="0" indent="0" algn="l">
              <a:spcBef>
                <a:spcPts val="1000"/>
              </a:spcBef>
              <a:buNone/>
            </a:pPr>
            <a:r>
              <a:rPr lang="en-US" sz="1500" dirty="0" i="1">
                <a:solidFill>
                  <a:srgbClr val="9C7A4E"/>
                </a:solidFill>
                <a:latin typeface="Calibri" pitchFamily="34" charset="0"/>
                <a:ea typeface="Calibri" pitchFamily="34" charset="-122"/>
                <a:cs typeface="Calibri" pitchFamily="34" charset="-120"/>
              </a:rPr>
              <a:t>Humans, aliens and dashboard enthusiasts are all welcome.</a:t>
            </a:r>
            <a:endParaRPr lang="en-US" sz="1700" dirty="0"/>
          </a:p>
        </p:txBody>
      </p:sp>
      <p:sp>
        <p:nvSpPr>
          <p:cNvPr id="8" name="QR code slot"/>
          <p:cNvSpPr/>
          <p:nvPr/>
        </p:nvSpPr>
        <p:spPr>
          <a:xfrm>
            <a:off x="8412480" y="2103120"/>
            <a:ext cx="3017520" cy="3017520"/>
          </a:xfrm>
          <a:prstGeom prst="roundRect">
            <a:avLst>
              <a:gd name="adj" fmla="val 5000"/>
            </a:avLst>
          </a:prstGeom>
          <a:solidFill>
            <a:srgbClr val="FFFFFF"/>
          </a:solidFill>
          <a:ln w="25400">
            <a:solidFill>
              <a:srgbClr val="E887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a:solidFill>
                  <a:srgbClr val="A38A6D"/>
                </a:solidFill>
                <a:latin typeface="Calibri"/>
              </a:rPr>
              <a:t>Place feedback QR code here</a:t>
            </a:r>
          </a:p>
        </p:txBody>
      </p:sp>
      <p:sp>
        <p:nvSpPr>
          <p:cNvPr id="9" name="QR caption"/>
          <p:cNvSpPr txBox="1"/>
          <p:nvPr/>
        </p:nvSpPr>
        <p:spPr>
          <a:xfrm>
            <a:off x="8412480" y="5257800"/>
            <a:ext cx="3017520" cy="365760"/>
          </a:xfrm>
          <a:prstGeom prst="rect">
            <a:avLst/>
          </a:prstGeom>
          <a:noFill/>
        </p:spPr>
        <p:txBody>
          <a:bodyPr wrap="square" lIns="0" rIns="0" tIns="0" bIns="0">
            <a:spAutoFit/>
          </a:bodyPr>
          <a:lstStyle/>
          <a:p>
            <a:pPr algn="ctr"/>
            <a:r>
              <a:rPr sz="1500" b="1">
                <a:solidFill>
                  <a:srgbClr val="7A3E10"/>
                </a:solidFill>
                <a:latin typeface="Calibri"/>
              </a:rPr>
              <a:t>Scan to share your feedback</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691640"/>
          </a:xfrm>
          <a:prstGeom prst="rect">
            <a:avLst/>
          </a:prstGeom>
          <a:solidFill>
            <a:srgbClr val="FBE3C2"/>
          </a:solidFill>
          <a:ln/>
        </p:spPr>
        <p:txBody>
          <a:bodyPr/>
          <a:lstStyle/>
          <a:p>
            <a:endParaRPr lang="en-US"/>
          </a:p>
        </p:txBody>
      </p:sp>
      <p:sp>
        <p:nvSpPr>
          <p:cNvPr id="3" name="Shape 1"/>
          <p:cNvSpPr>
            <a:spLocks/>
          </p:cNvSpPr>
          <p:nvPr/>
        </p:nvSpPr>
        <p:spPr>
          <a:xfrm>
            <a:off x="0" y="1691640"/>
            <a:ext cx="12188952" cy="64008"/>
          </a:xfrm>
          <a:prstGeom prst="rect">
            <a:avLst/>
          </a:prstGeom>
          <a:solidFill>
            <a:srgbClr val="E8871E"/>
          </a:solidFill>
          <a:ln/>
        </p:spPr>
        <p:txBody>
          <a:bodyPr/>
          <a:lstStyle/>
          <a:p>
            <a:endParaRPr lang="en-US"/>
          </a:p>
        </p:txBody>
      </p:sp>
      <p:pic>
        <p:nvPicPr>
          <p:cNvPr id="4" name="Image 0" descr="/home/claude/capstone_template/eta_logo.png"/>
          <p:cNvPicPr>
            <a:picLocks noChangeAspect="1"/>
          </p:cNvPicPr>
          <p:nvPr/>
        </p:nvPicPr>
        <p:blipFill>
          <a:blip r:embed="rId3"/>
          <a:stretch>
            <a:fillRect/>
          </a:stretch>
        </p:blipFill>
        <p:spPr>
          <a:xfrm>
            <a:off x="548640" y="448056"/>
            <a:ext cx="1554480" cy="186423"/>
          </a:xfrm>
          <a:prstGeom prst="rect">
            <a:avLst/>
          </a:prstGeom>
        </p:spPr>
      </p:pic>
      <p:pic>
        <p:nvPicPr>
          <p:cNvPr id="5" name="Image 1" descr="/home/claude/capstone_template/wingspan_logo.png"/>
          <p:cNvPicPr>
            <a:picLocks noChangeAspect="1"/>
          </p:cNvPicPr>
          <p:nvPr/>
        </p:nvPicPr>
        <p:blipFill>
          <a:blip r:embed="rId4"/>
          <a:stretch>
            <a:fillRect/>
          </a:stretch>
        </p:blipFill>
        <p:spPr>
          <a:xfrm>
            <a:off x="11116818" y="349243"/>
            <a:ext cx="432054" cy="384048"/>
          </a:xfrm>
          <a:prstGeom prst="rect">
            <a:avLst/>
          </a:prstGeom>
        </p:spPr>
      </p:pic>
      <p:sp>
        <p:nvSpPr>
          <p:cNvPr id="6" name="Text 2"/>
          <p:cNvSpPr txBox="1"/>
          <p:nvPr/>
        </p:nvSpPr>
        <p:spPr>
          <a:xfrm>
            <a:off x="2606040" y="384048"/>
            <a:ext cx="7916418" cy="274320"/>
          </a:xfrm>
          <a:prstGeom prst="rect">
            <a:avLst/>
          </a:prstGeom>
          <a:noFill/>
          <a:ln/>
        </p:spPr>
        <p:txBody>
          <a:bodyPr wrap="square" lIns="0" tIns="0" rIns="0" bIns="0" rtlCol="0" anchor="ctr"/>
          <a:lstStyle/>
          <a:p>
            <a:pPr marL="0" indent="0" algn="l">
              <a:buNone/>
            </a:pPr>
            <a:r>
              <a:rPr lang="en-US" sz="1100" b="1" kern="0" spc="200" dirty="0">
                <a:solidFill>
                  <a:srgbClr val="E8871E"/>
                </a:solidFill>
                <a:latin typeface="Calibri" pitchFamily="34" charset="0"/>
                <a:ea typeface="Calibri" pitchFamily="34" charset="-122"/>
                <a:cs typeface="Calibri" pitchFamily="34" charset="-120"/>
              </a:rPr>
              <a:t>SECTION 02</a:t>
            </a:r>
            <a:endParaRPr lang="en-US" sz="1100" dirty="0"/>
          </a:p>
        </p:txBody>
      </p:sp>
      <p:sp>
        <p:nvSpPr>
          <p:cNvPr id="7" name="Text 3"/>
          <p:cNvSpPr txBox="1"/>
          <p:nvPr/>
        </p:nvSpPr>
        <p:spPr>
          <a:xfrm>
            <a:off x="2606040" y="685800"/>
            <a:ext cx="7916418" cy="914400"/>
          </a:xfrm>
          <a:prstGeom prst="rect">
            <a:avLst/>
          </a:prstGeom>
          <a:noFill/>
          <a:ln/>
        </p:spPr>
        <p:txBody>
          <a:bodyPr wrap="square" lIns="0" tIns="0" rIns="0" bIns="0" rtlCol="0" anchor="t"/>
          <a:lstStyle/>
          <a:p>
            <a:pPr marL="0" indent="0" algn="l">
              <a:buNone/>
            </a:pPr>
            <a:r>
              <a:rPr lang="en-US" sz="2600" b="1" dirty="0">
                <a:solidFill>
                  <a:srgbClr val="7A3E10"/>
                </a:solidFill>
                <a:latin typeface="Calibri" pitchFamily="34" charset="0"/>
                <a:ea typeface="Calibri" pitchFamily="34" charset="-122"/>
                <a:cs typeface="Calibri" pitchFamily="34" charset="-120"/>
              </a:rPr>
              <a:t>Hypotheses &amp; Statistical Tests</a:t>
            </a:r>
            <a:endParaRPr lang="en-US" sz="2600" dirty="0"/>
          </a:p>
        </p:txBody>
      </p:sp>
      <p:sp>
        <p:nvSpPr>
          <p:cNvPr id="8" name="Text 4"/>
          <p:cNvSpPr txBox="1"/>
          <p:nvPr/>
        </p:nvSpPr>
        <p:spPr>
          <a:xfrm>
            <a:off x="11274552" y="1307592"/>
            <a:ext cx="548640" cy="320040"/>
          </a:xfrm>
          <a:prstGeom prst="rect">
            <a:avLst/>
          </a:prstGeom>
          <a:noFill/>
          <a:ln/>
        </p:spPr>
        <p:txBody>
          <a:bodyPr wrap="square" lIns="0" tIns="0" rIns="0" bIns="0" rtlCol="0" anchor="ctr"/>
          <a:lstStyle/>
          <a:p>
            <a:pPr marL="0" indent="0" algn="r">
              <a:buNone/>
            </a:pPr>
            <a:r>
              <a:rPr lang="en-US" sz="1100" b="1" dirty="0">
                <a:solidFill>
                  <a:srgbClr val="9C7A4E"/>
                </a:solidFill>
                <a:latin typeface="Calibri" pitchFamily="34" charset="0"/>
                <a:ea typeface="Calibri" pitchFamily="34" charset="-122"/>
                <a:cs typeface="Calibri" pitchFamily="34" charset="-120"/>
              </a:rPr>
              <a:t>03</a:t>
            </a:r>
            <a:endParaRPr lang="en-US" sz="1100" dirty="0"/>
          </a:p>
        </p:txBody>
      </p:sp>
      <p:sp>
        <p:nvSpPr>
          <p:cNvPr id="9" name="Shape 9"/>
          <p:cNvSpPr/>
          <p:nvPr/>
        </p:nvSpPr>
        <p:spPr>
          <a:xfrm>
            <a:off x="640080" y="2514600"/>
            <a:ext cx="3520440" cy="3246120"/>
          </a:xfrm>
          <a:prstGeom prst="roundRect">
            <a:avLst>
              <a:gd name="adj" fmla="val 2273"/>
            </a:avLst>
          </a:prstGeom>
          <a:solidFill>
            <a:srgbClr val="FFF6EA"/>
          </a:solidFill>
          <a:ln/>
        </p:spPr>
        <p:txBody>
          <a:bodyPr/>
          <a:lstStyle/>
          <a:p>
            <a:endParaRPr lang="en-US"/>
          </a:p>
        </p:txBody>
      </p:sp>
      <p:sp>
        <p:nvSpPr>
          <p:cNvPr id="13" name="Shape 13"/>
          <p:cNvSpPr/>
          <p:nvPr/>
        </p:nvSpPr>
        <p:spPr>
          <a:xfrm>
            <a:off x="4334256" y="2514600"/>
            <a:ext cx="3520440" cy="3246120"/>
          </a:xfrm>
          <a:prstGeom prst="roundRect">
            <a:avLst>
              <a:gd name="adj" fmla="val 2273"/>
            </a:avLst>
          </a:prstGeom>
          <a:solidFill>
            <a:srgbClr val="FFF6EA"/>
          </a:solidFill>
          <a:ln/>
        </p:spPr>
        <p:txBody>
          <a:bodyPr/>
          <a:lstStyle/>
          <a:p>
            <a:endParaRPr lang="en-US"/>
          </a:p>
        </p:txBody>
      </p:sp>
      <p:sp>
        <p:nvSpPr>
          <p:cNvPr id="17" name="Shape 17"/>
          <p:cNvSpPr/>
          <p:nvPr/>
        </p:nvSpPr>
        <p:spPr>
          <a:xfrm>
            <a:off x="8028431" y="2514600"/>
            <a:ext cx="3520440" cy="3246120"/>
          </a:xfrm>
          <a:prstGeom prst="roundRect">
            <a:avLst>
              <a:gd name="adj" fmla="val 2273"/>
            </a:avLst>
          </a:prstGeom>
          <a:solidFill>
            <a:srgbClr val="FFF6EA"/>
          </a:solidFill>
          <a:ln/>
        </p:spPr>
        <p:txBody>
          <a:bodyPr/>
          <a:lstStyle/>
          <a:p>
            <a:endParaRPr lang="en-US"/>
          </a:p>
        </p:txBody>
      </p:sp>
      <p:sp>
        <p:nvSpPr>
          <p:cNvPr id="18" name="Hypothesis 1"/>
          <p:cNvSpPr txBox="1"/>
          <p:nvPr/>
        </p:nvSpPr>
        <p:spPr>
          <a:xfrm>
            <a:off x="822959" y="2651760"/>
            <a:ext cx="3154680" cy="3017520"/>
          </a:xfrm>
          <a:prstGeom prst="rect">
            <a:avLst/>
          </a:prstGeom>
          <a:noFill/>
        </p:spPr>
        <p:txBody>
          <a:bodyPr wrap="square" lIns="0" rIns="0" tIns="0" bIns="0">
            <a:spAutoFit/>
          </a:bodyPr>
          <a:lstStyle/>
          <a:p>
            <a:pPr algn="l">
              <a:spcAft>
                <a:spcPts val="900"/>
              </a:spcAft>
            </a:pPr>
            <a:r>
              <a:rPr sz="1700" b="1">
                <a:solidFill>
                  <a:srgbClr val="7A3E10"/>
                </a:solidFill>
                <a:latin typeface="Calibri"/>
              </a:rPr>
              <a:t>H1 · Handle time vs satisfaction</a:t>
            </a:r>
          </a:p>
          <a:p>
            <a:pPr algn="l">
              <a:spcAft>
                <a:spcPts val="900"/>
              </a:spcAft>
            </a:pPr>
            <a:r>
              <a:rPr sz="1400" b="1">
                <a:solidFill>
                  <a:srgbClr val="E8871E"/>
                </a:solidFill>
                <a:latin typeface="Calibri"/>
              </a:rPr>
              <a:t>Test: </a:t>
            </a:r>
            <a:r>
              <a:rPr sz="1400" b="0">
                <a:solidFill>
                  <a:srgbClr val="5A4636"/>
                </a:solidFill>
                <a:latin typeface="Calibri"/>
              </a:rPr>
              <a:t>Spearman rank correlation</a:t>
            </a:r>
          </a:p>
          <a:p>
            <a:pPr algn="l">
              <a:spcAft>
                <a:spcPts val="900"/>
              </a:spcAft>
            </a:pPr>
            <a:r>
              <a:rPr sz="1400" b="1">
                <a:solidFill>
                  <a:srgbClr val="E8871E"/>
                </a:solidFill>
                <a:latin typeface="Calibri"/>
              </a:rPr>
              <a:t>Why: </a:t>
            </a:r>
            <a:r>
              <a:rPr sz="1400" b="0">
                <a:solidFill>
                  <a:srgbClr val="5A4636"/>
                </a:solidFill>
                <a:latin typeface="Calibri"/>
              </a:rPr>
              <a:t>Satisfaction is a 1-5 rating and call length is skewed, so a rank-based test is more reliable than Pearson.</a:t>
            </a:r>
          </a:p>
          <a:p>
            <a:pPr algn="l">
              <a:spcAft>
                <a:spcPts val="900"/>
              </a:spcAft>
            </a:pPr>
            <a:r>
              <a:rPr sz="1400" b="1">
                <a:solidFill>
                  <a:srgbClr val="E8871E"/>
                </a:solidFill>
                <a:latin typeface="Calibri"/>
              </a:rPr>
              <a:t>Result: </a:t>
            </a:r>
            <a:r>
              <a:rPr sz="1400" b="0">
                <a:solidFill>
                  <a:srgbClr val="5A4636"/>
                </a:solidFill>
                <a:latin typeface="Calibri"/>
              </a:rPr>
              <a:t>Confirmed. Longer calls mean lower satisfaction: every extra 10 minutes costs about 0.54 CSAT points.</a:t>
            </a:r>
          </a:p>
          <a:p>
            <a:pPr algn="l">
              <a:spcAft>
                <a:spcPts val="900"/>
              </a:spcAft>
            </a:pPr>
            <a:r>
              <a:rPr sz="1400" b="1">
                <a:solidFill>
                  <a:srgbClr val="E8871E"/>
                </a:solidFill>
                <a:latin typeface="Calibri"/>
              </a:rPr>
              <a:t>Example: </a:t>
            </a:r>
            <a:r>
              <a:rPr sz="1400" b="0">
                <a:solidFill>
                  <a:srgbClr val="5A4636"/>
                </a:solidFill>
                <a:latin typeface="Calibri"/>
              </a:rPr>
              <a:t>An 8-minute call typically earns a 4 or 5; a 35-minute call drops to a 1 or 2.</a:t>
            </a:r>
          </a:p>
        </p:txBody>
      </p:sp>
      <p:sp>
        <p:nvSpPr>
          <p:cNvPr id="19" name="Hypothesis 2"/>
          <p:cNvSpPr txBox="1"/>
          <p:nvPr/>
        </p:nvSpPr>
        <p:spPr>
          <a:xfrm>
            <a:off x="4517136" y="2651760"/>
            <a:ext cx="3154680" cy="3017520"/>
          </a:xfrm>
          <a:prstGeom prst="rect">
            <a:avLst/>
          </a:prstGeom>
          <a:noFill/>
        </p:spPr>
        <p:txBody>
          <a:bodyPr wrap="square" lIns="0" rIns="0" tIns="0" bIns="0">
            <a:spAutoFit/>
          </a:bodyPr>
          <a:lstStyle/>
          <a:p>
            <a:pPr algn="l">
              <a:spcAft>
                <a:spcPts val="900"/>
              </a:spcAft>
            </a:pPr>
            <a:r>
              <a:rPr sz="1700" b="1">
                <a:solidFill>
                  <a:srgbClr val="7A3E10"/>
                </a:solidFill>
                <a:latin typeface="Calibri"/>
              </a:rPr>
              <a:t>H2 · Repeat contacts vs escalation</a:t>
            </a:r>
          </a:p>
          <a:p>
            <a:pPr algn="l">
              <a:spcAft>
                <a:spcPts val="900"/>
              </a:spcAft>
            </a:pPr>
            <a:r>
              <a:rPr sz="1400" b="1">
                <a:solidFill>
                  <a:srgbClr val="E8871E"/>
                </a:solidFill>
                <a:latin typeface="Calibri"/>
              </a:rPr>
              <a:t>Test: </a:t>
            </a:r>
            <a:r>
              <a:rPr sz="1400" b="0">
                <a:solidFill>
                  <a:srgbClr val="5A4636"/>
                </a:solidFill>
                <a:latin typeface="Calibri"/>
              </a:rPr>
              <a:t>Welch's two-sample t-test</a:t>
            </a:r>
          </a:p>
          <a:p>
            <a:pPr algn="l">
              <a:spcAft>
                <a:spcPts val="900"/>
              </a:spcAft>
            </a:pPr>
            <a:r>
              <a:rPr sz="1400" b="1">
                <a:solidFill>
                  <a:srgbClr val="E8871E"/>
                </a:solidFill>
                <a:latin typeface="Calibri"/>
              </a:rPr>
              <a:t>Why: </a:t>
            </a:r>
            <a:r>
              <a:rPr sz="1400" b="0">
                <a:solidFill>
                  <a:srgbClr val="5A4636"/>
                </a:solidFill>
                <a:latin typeface="Calibri"/>
              </a:rPr>
              <a:t>The two groups differ in size (1,738 escalated vs 8,262 not) and in spread; Welch's test handles both.</a:t>
            </a:r>
          </a:p>
          <a:p>
            <a:pPr algn="l">
              <a:spcAft>
                <a:spcPts val="900"/>
              </a:spcAft>
            </a:pPr>
            <a:r>
              <a:rPr sz="1400" b="1">
                <a:solidFill>
                  <a:srgbClr val="E8871E"/>
                </a:solidFill>
                <a:latin typeface="Calibri"/>
              </a:rPr>
              <a:t>Result: </a:t>
            </a:r>
            <a:r>
              <a:rPr sz="1400" b="0">
                <a:solidFill>
                  <a:srgbClr val="5A4636"/>
                </a:solidFill>
                <a:latin typeface="Calibri"/>
              </a:rPr>
              <a:t>Confirmed. Escalated cases average 2.88 contacts against 1.60, a very large gap.</a:t>
            </a:r>
          </a:p>
          <a:p>
            <a:pPr algn="l">
              <a:spcAft>
                <a:spcPts val="900"/>
              </a:spcAft>
            </a:pPr>
            <a:r>
              <a:rPr sz="1400" b="1">
                <a:solidFill>
                  <a:srgbClr val="E8871E"/>
                </a:solidFill>
                <a:latin typeface="Calibri"/>
              </a:rPr>
              <a:t>Example: </a:t>
            </a:r>
            <a:r>
              <a:rPr sz="1400" b="0">
                <a:solidFill>
                  <a:srgbClr val="5A4636"/>
                </a:solidFill>
                <a:latin typeface="Calibri"/>
              </a:rPr>
              <a:t>Members who have to call back several times are far more likely to escalate.</a:t>
            </a:r>
          </a:p>
        </p:txBody>
      </p:sp>
      <p:sp>
        <p:nvSpPr>
          <p:cNvPr id="20" name="Hypothesis 3"/>
          <p:cNvSpPr txBox="1"/>
          <p:nvPr/>
        </p:nvSpPr>
        <p:spPr>
          <a:xfrm>
            <a:off x="8211311" y="2651760"/>
            <a:ext cx="3154680" cy="3017520"/>
          </a:xfrm>
          <a:prstGeom prst="rect">
            <a:avLst/>
          </a:prstGeom>
          <a:noFill/>
        </p:spPr>
        <p:txBody>
          <a:bodyPr wrap="square" lIns="0" rIns="0" tIns="0" bIns="0">
            <a:spAutoFit/>
          </a:bodyPr>
          <a:lstStyle/>
          <a:p>
            <a:pPr algn="l">
              <a:spcAft>
                <a:spcPts val="900"/>
              </a:spcAft>
            </a:pPr>
            <a:r>
              <a:rPr sz="1700" b="1">
                <a:solidFill>
                  <a:srgbClr val="7A3E10"/>
                </a:solidFill>
                <a:latin typeface="Calibri"/>
              </a:rPr>
              <a:t>H3 · Channel vs escalation</a:t>
            </a:r>
          </a:p>
          <a:p>
            <a:pPr algn="l">
              <a:spcAft>
                <a:spcPts val="900"/>
              </a:spcAft>
            </a:pPr>
            <a:r>
              <a:rPr sz="1400" b="1">
                <a:solidFill>
                  <a:srgbClr val="E8871E"/>
                </a:solidFill>
                <a:latin typeface="Calibri"/>
              </a:rPr>
              <a:t>Test: </a:t>
            </a:r>
            <a:r>
              <a:rPr sz="1400" b="0">
                <a:solidFill>
                  <a:srgbClr val="5A4636"/>
                </a:solidFill>
                <a:latin typeface="Calibri"/>
              </a:rPr>
              <a:t>Chi-square test of independence</a:t>
            </a:r>
          </a:p>
          <a:p>
            <a:pPr algn="l">
              <a:spcAft>
                <a:spcPts val="900"/>
              </a:spcAft>
            </a:pPr>
            <a:r>
              <a:rPr sz="1400" b="1">
                <a:solidFill>
                  <a:srgbClr val="E8871E"/>
                </a:solidFill>
                <a:latin typeface="Calibri"/>
              </a:rPr>
              <a:t>Why: </a:t>
            </a:r>
            <a:r>
              <a:rPr sz="1400" b="0">
                <a:solidFill>
                  <a:srgbClr val="5A4636"/>
                </a:solidFill>
                <a:latin typeface="Calibri"/>
              </a:rPr>
              <a:t>Channel and escalation are both categories; the test checks whether escalation depends on channel.</a:t>
            </a:r>
          </a:p>
          <a:p>
            <a:pPr algn="l">
              <a:spcAft>
                <a:spcPts val="900"/>
              </a:spcAft>
            </a:pPr>
            <a:r>
              <a:rPr sz="1400" b="1">
                <a:solidFill>
                  <a:srgbClr val="E8871E"/>
                </a:solidFill>
                <a:latin typeface="Calibri"/>
              </a:rPr>
              <a:t>Result: </a:t>
            </a:r>
            <a:r>
              <a:rPr sz="1400" b="0">
                <a:solidFill>
                  <a:srgbClr val="5A4636"/>
                </a:solidFill>
                <a:latin typeface="Calibri"/>
              </a:rPr>
              <a:t>Confirmed. Phone escalates at 25.2% vs 10.7% for digital, more than twice as often.</a:t>
            </a:r>
          </a:p>
          <a:p>
            <a:pPr algn="l">
              <a:spcAft>
                <a:spcPts val="900"/>
              </a:spcAft>
            </a:pPr>
            <a:r>
              <a:rPr sz="1400" b="1">
                <a:solidFill>
                  <a:srgbClr val="E8871E"/>
                </a:solidFill>
                <a:latin typeface="Calibri"/>
              </a:rPr>
              <a:t>Example: </a:t>
            </a:r>
            <a:r>
              <a:rPr sz="1400" b="0">
                <a:solidFill>
                  <a:srgbClr val="5A4636"/>
                </a:solidFill>
                <a:latin typeface="Calibri"/>
              </a:rPr>
              <a:t>Of 1,000 phone contacts about 252 escalate; of 1,000 digital chats about 107.</a:t>
            </a:r>
          </a:p>
        </p:txBody>
      </p:sp>
      <p:sp>
        <p:nvSpPr>
          <p:cNvPr id="21" name="Hypotheses intro"/>
          <p:cNvSpPr txBox="1"/>
          <p:nvPr/>
        </p:nvSpPr>
        <p:spPr>
          <a:xfrm>
            <a:off x="640080" y="2057400"/>
            <a:ext cx="10908792" cy="365760"/>
          </a:xfrm>
          <a:prstGeom prst="rect">
            <a:avLst/>
          </a:prstGeom>
          <a:noFill/>
        </p:spPr>
        <p:txBody>
          <a:bodyPr wrap="square" lIns="0" rIns="0" tIns="0" bIns="0">
            <a:spAutoFit/>
          </a:bodyPr>
          <a:lstStyle/>
          <a:p>
            <a:pPr algn="l"/>
            <a:r>
              <a:rPr sz="1500" b="0">
                <a:solidFill>
                  <a:srgbClr val="5A4636"/>
                </a:solidFill>
                <a:latin typeface="Calibri"/>
              </a:rPr>
              <a:t>Before building models, we tested three assumptions about what drives dissatisfaction and escalation.</a:t>
            </a:r>
          </a:p>
        </p:txBody>
      </p:sp>
      <p:sp>
        <p:nvSpPr>
          <p:cNvPr id="22" name="Hypotheses result"/>
          <p:cNvSpPr txBox="1"/>
          <p:nvPr/>
        </p:nvSpPr>
        <p:spPr>
          <a:xfrm>
            <a:off x="640080" y="5943600"/>
            <a:ext cx="10908792" cy="365760"/>
          </a:xfrm>
          <a:prstGeom prst="rect">
            <a:avLst/>
          </a:prstGeom>
          <a:noFill/>
        </p:spPr>
        <p:txBody>
          <a:bodyPr wrap="square" lIns="0" rIns="0" tIns="0" bIns="0">
            <a:spAutoFit/>
          </a:bodyPr>
          <a:lstStyle/>
          <a:p>
            <a:pPr algn="l"/>
            <a:r>
              <a:rPr sz="1400" b="1">
                <a:solidFill>
                  <a:srgbClr val="7A3E10"/>
                </a:solidFill>
                <a:latin typeface="Calibri"/>
              </a:rPr>
              <a:t>Result: </a:t>
            </a:r>
            <a:r>
              <a:rPr sz="1400" b="1">
                <a:solidFill>
                  <a:srgbClr val="5A4636"/>
                </a:solidFill>
                <a:latin typeface="Calibri"/>
              </a:rPr>
              <a:t>all three confirmed. Longer calls, repeat contacts and phone contacts each hurt the member experience.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a0819fa7-4367-4500-ba88-dd630d977609}" enabled="1" method="Standard" siteId="{63ce7d59-2f3e-42cd-a8cc-be764cff5eb6}" removed="0"/>
</clbl:labelList>
</file>

<file path=docProps/app.xml><?xml version="1.0" encoding="utf-8"?>
<Properties xmlns="http://schemas.openxmlformats.org/officeDocument/2006/extended-properties" xmlns:vt="http://schemas.openxmlformats.org/officeDocument/2006/docPropsVTypes">
  <Template/>
  <TotalTime>4</TotalTime>
  <Words>370</Words>
  <Application>Microsoft Office PowerPoint</Application>
  <PresentationFormat>Widescreen</PresentationFormat>
  <Paragraphs>86</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Simant Mishra</cp:lastModifiedBy>
  <cp:revision>1</cp:revision>
  <dcterms:created xsi:type="dcterms:W3CDTF">2026-09-30T17:45:00Z</dcterms:created>
  <dcterms:modified xsi:type="dcterms:W3CDTF">2026-09-30T17:47:35Z</dcterms:modified>
</cp:coreProperties>
</file>